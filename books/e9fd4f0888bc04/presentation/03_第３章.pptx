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DM Sans Semi Bold"/>
      <p:regular r:id="rId27"/>
    </p:embeddedFont>
    <p:embeddedFont>
      <p:font typeface="DM Sans Semi Bold"/>
      <p:regular r:id="rId28"/>
    </p:embeddedFont>
    <p:embeddedFont>
      <p:font typeface="DM Sans Semi Bold"/>
      <p:regular r:id="rId29"/>
    </p:embeddedFont>
    <p:embeddedFont>
      <p:font typeface="DM Sans Semi Bold"/>
      <p:regular r:id="rId30"/>
    </p:embeddedFont>
    <p:embeddedFont>
      <p:font typeface="Inter Medium"/>
      <p:regular r:id="rId31"/>
    </p:embeddedFont>
    <p:embeddedFont>
      <p:font typeface="Inter Medium"/>
      <p:regular r:id="rId32"/>
    </p:embeddedFont>
    <p:embeddedFont>
      <p:font typeface="Inter Medium"/>
      <p:regular r:id="rId33"/>
    </p:embeddedFont>
    <p:embeddedFont>
      <p:font typeface="Inter Medium"/>
      <p:regular r:id="rId3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0.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5.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7.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0.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28159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第3章: AI依存症を生む教育現場の構造的要因</a:t>
            </a:r>
            <a:endParaRPr lang="en-US" sz="3900" dirty="0"/>
          </a:p>
        </p:txBody>
      </p:sp>
      <p:sp>
        <p:nvSpPr>
          <p:cNvPr id="4" name="Text 1"/>
          <p:cNvSpPr/>
          <p:nvPr/>
        </p:nvSpPr>
        <p:spPr>
          <a:xfrm>
            <a:off x="793790" y="3819406"/>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第1章では日本の教育現場で「その使い方の教育的効果は？」という問いに答えられない現実を、第2章では世界規模で進行するAI依存症の深刻な実態を明らかにしました。</a:t>
            </a:r>
            <a:endParaRPr lang="en-US" sz="1550" dirty="0"/>
          </a:p>
        </p:txBody>
      </p:sp>
      <p:sp>
        <p:nvSpPr>
          <p:cNvPr id="5" name="Text 2"/>
          <p:cNvSpPr/>
          <p:nvPr/>
        </p:nvSpPr>
        <p:spPr>
          <a:xfrm>
            <a:off x="793790" y="4995267"/>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本章では、教育現場がAI依存症を無意識に量産している構造的要因を分析し、危機の根本原因を明らかにします。重要なことは、これらの問題は個々の教師の能力不足ではなく、</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教育システム全体の構造的欠陥</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から生まれているということです。</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25444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危機の根本原因</a:t>
            </a:r>
            <a:endParaRPr lang="en-US" sz="3900" dirty="0"/>
          </a:p>
        </p:txBody>
      </p:sp>
      <p:sp>
        <p:nvSpPr>
          <p:cNvPr id="4" name="Shape 1"/>
          <p:cNvSpPr/>
          <p:nvPr/>
        </p:nvSpPr>
        <p:spPr>
          <a:xfrm>
            <a:off x="793790" y="3172182"/>
            <a:ext cx="3679031" cy="1461016"/>
          </a:xfrm>
          <a:prstGeom prst="roundRect">
            <a:avLst>
              <a:gd name="adj" fmla="val 2038"/>
            </a:avLst>
          </a:prstGeom>
          <a:solidFill>
            <a:srgbClr val="F2EEEE"/>
          </a:solidFill>
          <a:ln/>
        </p:spPr>
      </p:sp>
      <p:sp>
        <p:nvSpPr>
          <p:cNvPr id="5" name="Text 2"/>
          <p:cNvSpPr/>
          <p:nvPr/>
        </p:nvSpPr>
        <p:spPr>
          <a:xfrm>
            <a:off x="992148" y="337054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構造的欠陥</a:t>
            </a:r>
            <a:endParaRPr lang="en-US" sz="1950" dirty="0"/>
          </a:p>
        </p:txBody>
      </p:sp>
      <p:sp>
        <p:nvSpPr>
          <p:cNvPr id="6" name="Text 3"/>
          <p:cNvSpPr/>
          <p:nvPr/>
        </p:nvSpPr>
        <p:spPr>
          <a:xfrm>
            <a:off x="992148" y="3799761"/>
            <a:ext cx="3282315"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個人の能力不足ではなく、教育システム全体の構造的問題が原因です。</a:t>
            </a:r>
            <a:endParaRPr lang="en-US" sz="1550" dirty="0"/>
          </a:p>
        </p:txBody>
      </p:sp>
      <p:sp>
        <p:nvSpPr>
          <p:cNvPr id="7" name="Shape 4"/>
          <p:cNvSpPr/>
          <p:nvPr/>
        </p:nvSpPr>
        <p:spPr>
          <a:xfrm>
            <a:off x="4671179" y="3172182"/>
            <a:ext cx="3679031" cy="1461016"/>
          </a:xfrm>
          <a:prstGeom prst="roundRect">
            <a:avLst>
              <a:gd name="adj" fmla="val 2038"/>
            </a:avLst>
          </a:prstGeom>
          <a:solidFill>
            <a:srgbClr val="F2EEEE"/>
          </a:solidFill>
          <a:ln/>
        </p:spPr>
      </p:sp>
      <p:sp>
        <p:nvSpPr>
          <p:cNvPr id="8" name="Text 5"/>
          <p:cNvSpPr/>
          <p:nvPr/>
        </p:nvSpPr>
        <p:spPr>
          <a:xfrm>
            <a:off x="4869537" y="337054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認知負債の蓄積</a:t>
            </a:r>
            <a:endParaRPr lang="en-US" sz="1950" dirty="0"/>
          </a:p>
        </p:txBody>
      </p:sp>
      <p:sp>
        <p:nvSpPr>
          <p:cNvPr id="9" name="Text 6"/>
          <p:cNvSpPr/>
          <p:nvPr/>
        </p:nvSpPr>
        <p:spPr>
          <a:xfrm>
            <a:off x="4869537" y="3799761"/>
            <a:ext cx="3282315"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MIT研究が警告する認知負債の蓄積を引き起こしています。</a:t>
            </a:r>
            <a:endParaRPr lang="en-US" sz="1550" dirty="0"/>
          </a:p>
        </p:txBody>
      </p:sp>
      <p:sp>
        <p:nvSpPr>
          <p:cNvPr id="10" name="Shape 7"/>
          <p:cNvSpPr/>
          <p:nvPr/>
        </p:nvSpPr>
        <p:spPr>
          <a:xfrm>
            <a:off x="793790" y="4831556"/>
            <a:ext cx="7556421" cy="1143476"/>
          </a:xfrm>
          <a:prstGeom prst="roundRect">
            <a:avLst>
              <a:gd name="adj" fmla="val 2604"/>
            </a:avLst>
          </a:prstGeom>
          <a:solidFill>
            <a:srgbClr val="F2EEEE"/>
          </a:solidFill>
          <a:ln/>
        </p:spPr>
      </p:sp>
      <p:sp>
        <p:nvSpPr>
          <p:cNvPr id="11" name="Text 8"/>
          <p:cNvSpPr/>
          <p:nvPr/>
        </p:nvSpPr>
        <p:spPr>
          <a:xfrm>
            <a:off x="992148" y="502991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依存症の大量発生</a:t>
            </a:r>
            <a:endParaRPr lang="en-US" sz="1950" dirty="0"/>
          </a:p>
        </p:txBody>
      </p:sp>
      <p:sp>
        <p:nvSpPr>
          <p:cNvPr id="12" name="Text 9"/>
          <p:cNvSpPr/>
          <p:nvPr/>
        </p:nvSpPr>
        <p:spPr>
          <a:xfrm>
            <a:off x="992148" y="5459135"/>
            <a:ext cx="715970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中国調査で明らかになった依存症の大量発生につながっています。</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782729"/>
            <a:ext cx="694598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教育政策レベルでの構造的欠陥</a:t>
            </a:r>
            <a:endParaRPr lang="en-US" sz="3900" dirty="0"/>
          </a:p>
        </p:txBody>
      </p:sp>
      <p:sp>
        <p:nvSpPr>
          <p:cNvPr id="4" name="Text 1"/>
          <p:cNvSpPr/>
          <p:nvPr/>
        </p:nvSpPr>
        <p:spPr>
          <a:xfrm>
            <a:off x="6280190" y="3700463"/>
            <a:ext cx="6349365" cy="496133"/>
          </a:xfrm>
          <a:prstGeom prst="rect">
            <a:avLst/>
          </a:prstGeom>
          <a:noFill/>
          <a:ln/>
        </p:spPr>
        <p:txBody>
          <a:bodyPr wrap="none" lIns="0" tIns="0" rIns="0" bIns="0" rtlCol="0" anchor="t"/>
          <a:lstStyle/>
          <a:p>
            <a:pPr algn="l" indent="0" marL="0">
              <a:lnSpc>
                <a:spcPts val="3900"/>
              </a:lnSpc>
              <a:buNone/>
            </a:pPr>
            <a:r>
              <a:rPr lang="en-US" sz="3100" dirty="0">
                <a:solidFill>
                  <a:srgbClr val="030303"/>
                </a:solidFill>
                <a:latin typeface="DM Sans Semi Bold" pitchFamily="34" charset="0"/>
                <a:ea typeface="DM Sans Semi Bold" pitchFamily="34" charset="-122"/>
                <a:cs typeface="DM Sans Semi Bold" pitchFamily="34" charset="-120"/>
              </a:rPr>
              <a:t>「導入ありき」の政策決定プロセス</a:t>
            </a:r>
            <a:endParaRPr lang="en-US" sz="3100" dirty="0"/>
          </a:p>
        </p:txBody>
      </p:sp>
      <p:sp>
        <p:nvSpPr>
          <p:cNvPr id="5" name="Text 2"/>
          <p:cNvSpPr/>
          <p:nvPr/>
        </p:nvSpPr>
        <p:spPr>
          <a:xfrm>
            <a:off x="6280190" y="4494252"/>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日本の教育政策における最大の構造的問題は、</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「科学的検証」を飛び越えた「導入ありき」の政策決定</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にあります。これは、第2章で見たMIT研究やスイス調査などの国際的な警告を無視した、極めて危険なアプローチです。</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23192"/>
            <a:ext cx="5928836"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典型的な政策決定パターン</a:t>
            </a:r>
            <a:endParaRPr lang="en-US" sz="3900" dirty="0"/>
          </a:p>
        </p:txBody>
      </p:sp>
      <p:sp>
        <p:nvSpPr>
          <p:cNvPr id="3" name="Text 1"/>
          <p:cNvSpPr/>
          <p:nvPr/>
        </p:nvSpPr>
        <p:spPr>
          <a:xfrm>
            <a:off x="793790" y="274010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01</a:t>
            </a:r>
            <a:endParaRPr lang="en-US" sz="1550" dirty="0"/>
          </a:p>
        </p:txBody>
      </p:sp>
      <p:sp>
        <p:nvSpPr>
          <p:cNvPr id="4" name="Shape 2"/>
          <p:cNvSpPr/>
          <p:nvPr/>
        </p:nvSpPr>
        <p:spPr>
          <a:xfrm>
            <a:off x="793790" y="3054429"/>
            <a:ext cx="4215289" cy="22860"/>
          </a:xfrm>
          <a:prstGeom prst="rect">
            <a:avLst/>
          </a:prstGeom>
          <a:solidFill>
            <a:srgbClr val="1C9770"/>
          </a:solidFill>
          <a:ln/>
        </p:spPr>
      </p:sp>
      <p:sp>
        <p:nvSpPr>
          <p:cNvPr id="5" name="Text 3"/>
          <p:cNvSpPr/>
          <p:nvPr/>
        </p:nvSpPr>
        <p:spPr>
          <a:xfrm>
            <a:off x="793790" y="31993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技術的可能性の発見</a:t>
            </a:r>
            <a:endParaRPr lang="en-US" sz="1950" dirty="0"/>
          </a:p>
        </p:txBody>
      </p:sp>
      <p:sp>
        <p:nvSpPr>
          <p:cNvPr id="6" name="Text 4"/>
          <p:cNvSpPr/>
          <p:nvPr/>
        </p:nvSpPr>
        <p:spPr>
          <a:xfrm>
            <a:off x="793790" y="3628549"/>
            <a:ext cx="4215289"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「生成AIが教育に活用できそうだ」</a:t>
            </a:r>
            <a:endParaRPr lang="en-US" sz="1550" dirty="0"/>
          </a:p>
        </p:txBody>
      </p:sp>
      <p:sp>
        <p:nvSpPr>
          <p:cNvPr id="7" name="Text 5"/>
          <p:cNvSpPr/>
          <p:nvPr/>
        </p:nvSpPr>
        <p:spPr>
          <a:xfrm>
            <a:off x="5207437" y="274010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02</a:t>
            </a:r>
            <a:endParaRPr lang="en-US" sz="1550" dirty="0"/>
          </a:p>
        </p:txBody>
      </p:sp>
      <p:sp>
        <p:nvSpPr>
          <p:cNvPr id="8" name="Shape 6"/>
          <p:cNvSpPr/>
          <p:nvPr/>
        </p:nvSpPr>
        <p:spPr>
          <a:xfrm>
            <a:off x="5207437" y="3054429"/>
            <a:ext cx="4215408" cy="22860"/>
          </a:xfrm>
          <a:prstGeom prst="rect">
            <a:avLst/>
          </a:prstGeom>
          <a:solidFill>
            <a:srgbClr val="1C9770"/>
          </a:solidFill>
          <a:ln/>
        </p:spPr>
      </p:sp>
      <p:sp>
        <p:nvSpPr>
          <p:cNvPr id="9" name="Text 7"/>
          <p:cNvSpPr/>
          <p:nvPr/>
        </p:nvSpPr>
        <p:spPr>
          <a:xfrm>
            <a:off x="5207437" y="31993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効率化期待の先行</a:t>
            </a:r>
            <a:endParaRPr lang="en-US" sz="1950" dirty="0"/>
          </a:p>
        </p:txBody>
      </p:sp>
      <p:sp>
        <p:nvSpPr>
          <p:cNvPr id="10" name="Text 8"/>
          <p:cNvSpPr/>
          <p:nvPr/>
        </p:nvSpPr>
        <p:spPr>
          <a:xfrm>
            <a:off x="5207437" y="3628549"/>
            <a:ext cx="4215408"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「作業が楽になる」「時間短縮できる」</a:t>
            </a:r>
            <a:endParaRPr lang="en-US" sz="1550" dirty="0"/>
          </a:p>
        </p:txBody>
      </p:sp>
      <p:sp>
        <p:nvSpPr>
          <p:cNvPr id="11" name="Text 9"/>
          <p:cNvSpPr/>
          <p:nvPr/>
        </p:nvSpPr>
        <p:spPr>
          <a:xfrm>
            <a:off x="9621203" y="2740104"/>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03</a:t>
            </a:r>
            <a:endParaRPr lang="en-US" sz="1550" dirty="0"/>
          </a:p>
        </p:txBody>
      </p:sp>
      <p:sp>
        <p:nvSpPr>
          <p:cNvPr id="12" name="Shape 10"/>
          <p:cNvSpPr/>
          <p:nvPr/>
        </p:nvSpPr>
        <p:spPr>
          <a:xfrm>
            <a:off x="9621203" y="3054429"/>
            <a:ext cx="4215289" cy="22860"/>
          </a:xfrm>
          <a:prstGeom prst="rect">
            <a:avLst/>
          </a:prstGeom>
          <a:solidFill>
            <a:srgbClr val="1C9770"/>
          </a:solidFill>
          <a:ln/>
        </p:spPr>
      </p:sp>
      <p:sp>
        <p:nvSpPr>
          <p:cNvPr id="13" name="Text 11"/>
          <p:cNvSpPr/>
          <p:nvPr/>
        </p:nvSpPr>
        <p:spPr>
          <a:xfrm>
            <a:off x="9621203" y="3199328"/>
            <a:ext cx="2968704"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横並び意識による導入圧力</a:t>
            </a:r>
            <a:endParaRPr lang="en-US" sz="1950" dirty="0"/>
          </a:p>
        </p:txBody>
      </p:sp>
      <p:sp>
        <p:nvSpPr>
          <p:cNvPr id="14" name="Text 12"/>
          <p:cNvSpPr/>
          <p:nvPr/>
        </p:nvSpPr>
        <p:spPr>
          <a:xfrm>
            <a:off x="9621203" y="3628549"/>
            <a:ext cx="4215289"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「他校もやっているから」</a:t>
            </a:r>
            <a:endParaRPr lang="en-US" sz="1550" dirty="0"/>
          </a:p>
        </p:txBody>
      </p:sp>
      <p:sp>
        <p:nvSpPr>
          <p:cNvPr id="15" name="Text 13"/>
          <p:cNvSpPr/>
          <p:nvPr/>
        </p:nvSpPr>
        <p:spPr>
          <a:xfrm>
            <a:off x="793790" y="4293275"/>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04</a:t>
            </a:r>
            <a:endParaRPr lang="en-US" sz="1550" dirty="0"/>
          </a:p>
        </p:txBody>
      </p:sp>
      <p:sp>
        <p:nvSpPr>
          <p:cNvPr id="16" name="Shape 14"/>
          <p:cNvSpPr/>
          <p:nvPr/>
        </p:nvSpPr>
        <p:spPr>
          <a:xfrm>
            <a:off x="793790" y="4607600"/>
            <a:ext cx="6422112" cy="22860"/>
          </a:xfrm>
          <a:prstGeom prst="rect">
            <a:avLst/>
          </a:prstGeom>
          <a:solidFill>
            <a:srgbClr val="1C9770"/>
          </a:solidFill>
          <a:ln/>
        </p:spPr>
      </p:sp>
      <p:sp>
        <p:nvSpPr>
          <p:cNvPr id="17" name="Text 15"/>
          <p:cNvSpPr/>
          <p:nvPr/>
        </p:nvSpPr>
        <p:spPr>
          <a:xfrm>
            <a:off x="793790" y="475249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実践開始</a:t>
            </a:r>
            <a:endParaRPr lang="en-US" sz="1950" dirty="0"/>
          </a:p>
        </p:txBody>
      </p:sp>
      <p:sp>
        <p:nvSpPr>
          <p:cNvPr id="18" name="Text 16"/>
          <p:cNvSpPr/>
          <p:nvPr/>
        </p:nvSpPr>
        <p:spPr>
          <a:xfrm>
            <a:off x="793790" y="5181719"/>
            <a:ext cx="642211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科学的検証なしで現場導入</a:t>
            </a:r>
            <a:endParaRPr lang="en-US" sz="1550" dirty="0"/>
          </a:p>
        </p:txBody>
      </p:sp>
      <p:sp>
        <p:nvSpPr>
          <p:cNvPr id="19" name="Text 17"/>
          <p:cNvSpPr/>
          <p:nvPr/>
        </p:nvSpPr>
        <p:spPr>
          <a:xfrm>
            <a:off x="7414260" y="4293275"/>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05</a:t>
            </a:r>
            <a:endParaRPr lang="en-US" sz="1550" dirty="0"/>
          </a:p>
        </p:txBody>
      </p:sp>
      <p:sp>
        <p:nvSpPr>
          <p:cNvPr id="20" name="Shape 18"/>
          <p:cNvSpPr/>
          <p:nvPr/>
        </p:nvSpPr>
        <p:spPr>
          <a:xfrm>
            <a:off x="7414260" y="4607600"/>
            <a:ext cx="6422231" cy="22860"/>
          </a:xfrm>
          <a:prstGeom prst="rect">
            <a:avLst/>
          </a:prstGeom>
          <a:solidFill>
            <a:srgbClr val="1C9770"/>
          </a:solidFill>
          <a:ln/>
        </p:spPr>
      </p:sp>
      <p:sp>
        <p:nvSpPr>
          <p:cNvPr id="21" name="Text 19"/>
          <p:cNvSpPr/>
          <p:nvPr/>
        </p:nvSpPr>
        <p:spPr>
          <a:xfrm>
            <a:off x="7414260" y="4752499"/>
            <a:ext cx="272807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問題発覚後の後付け対応</a:t>
            </a:r>
            <a:endParaRPr lang="en-US" sz="1950" dirty="0"/>
          </a:p>
        </p:txBody>
      </p:sp>
      <p:sp>
        <p:nvSpPr>
          <p:cNvPr id="22" name="Text 20"/>
          <p:cNvSpPr/>
          <p:nvPr/>
        </p:nvSpPr>
        <p:spPr>
          <a:xfrm>
            <a:off x="7414260" y="5181719"/>
            <a:ext cx="642223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依存症状が顕在化してから対策検討</a:t>
            </a:r>
            <a:endParaRPr lang="en-US" sz="1550" dirty="0"/>
          </a:p>
        </p:txBody>
      </p:sp>
      <p:sp>
        <p:nvSpPr>
          <p:cNvPr id="23" name="Text 21"/>
          <p:cNvSpPr/>
          <p:nvPr/>
        </p:nvSpPr>
        <p:spPr>
          <a:xfrm>
            <a:off x="793790" y="587132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順序は、医薬品であれば考えられない危険なプロセスです。新薬は効果と安全性の科学的検証なしには承認されませんが、認知能力に直接影響するAIツールが、検証なしで教育現場に大量導入されているのが現実です。</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75542"/>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GIGAスクール構想の失敗パターンの再現</a:t>
            </a:r>
            <a:endParaRPr lang="en-US" sz="3900" dirty="0"/>
          </a:p>
        </p:txBody>
      </p:sp>
      <p:sp>
        <p:nvSpPr>
          <p:cNvPr id="4" name="Text 1"/>
          <p:cNvSpPr/>
          <p:nvPr/>
        </p:nvSpPr>
        <p:spPr>
          <a:xfrm>
            <a:off x="6280190" y="3211711"/>
            <a:ext cx="3536156" cy="620316"/>
          </a:xfrm>
          <a:prstGeom prst="rect">
            <a:avLst/>
          </a:prstGeom>
          <a:noFill/>
          <a:ln/>
        </p:spPr>
        <p:txBody>
          <a:bodyPr wrap="squar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GIGAスクール構想での問題構造</a:t>
            </a:r>
            <a:endParaRPr lang="en-US" sz="1950" dirty="0"/>
          </a:p>
        </p:txBody>
      </p:sp>
      <p:sp>
        <p:nvSpPr>
          <p:cNvPr id="5" name="Text 2"/>
          <p:cNvSpPr/>
          <p:nvPr/>
        </p:nvSpPr>
        <p:spPr>
          <a:xfrm>
            <a:off x="6280190" y="4030385"/>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ハードウェア配備が目的化</a:t>
            </a:r>
            <a:endParaRPr lang="en-US" sz="1550" dirty="0"/>
          </a:p>
        </p:txBody>
      </p:sp>
      <p:sp>
        <p:nvSpPr>
          <p:cNvPr id="6" name="Text 3"/>
          <p:cNvSpPr/>
          <p:nvPr/>
        </p:nvSpPr>
        <p:spPr>
          <a:xfrm>
            <a:off x="6280190" y="4417338"/>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教育効果の検証なし</a:t>
            </a:r>
            <a:endParaRPr lang="en-US" sz="1550" dirty="0"/>
          </a:p>
        </p:txBody>
      </p:sp>
      <p:sp>
        <p:nvSpPr>
          <p:cNvPr id="7" name="Text 4"/>
          <p:cNvSpPr/>
          <p:nvPr/>
        </p:nvSpPr>
        <p:spPr>
          <a:xfrm>
            <a:off x="6280190" y="4804291"/>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使用することが成果とされる</a:t>
            </a:r>
            <a:endParaRPr lang="en-US" sz="1550" dirty="0"/>
          </a:p>
        </p:txBody>
      </p:sp>
      <p:sp>
        <p:nvSpPr>
          <p:cNvPr id="8" name="Text 5"/>
          <p:cNvSpPr/>
          <p:nvPr/>
        </p:nvSpPr>
        <p:spPr>
          <a:xfrm>
            <a:off x="6280190" y="5191244"/>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本質的な学習改善への寄与は測定されず</a:t>
            </a:r>
            <a:endParaRPr lang="en-US" sz="1550" dirty="0"/>
          </a:p>
        </p:txBody>
      </p:sp>
      <p:sp>
        <p:nvSpPr>
          <p:cNvPr id="9" name="Text 6"/>
          <p:cNvSpPr/>
          <p:nvPr/>
        </p:nvSpPr>
        <p:spPr>
          <a:xfrm>
            <a:off x="10308074" y="3211711"/>
            <a:ext cx="2717483"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AI導入での同じ問題構造</a:t>
            </a:r>
            <a:endParaRPr lang="en-US" sz="1950" dirty="0"/>
          </a:p>
        </p:txBody>
      </p:sp>
      <p:sp>
        <p:nvSpPr>
          <p:cNvPr id="10" name="Text 7"/>
          <p:cNvSpPr/>
          <p:nvPr/>
        </p:nvSpPr>
        <p:spPr>
          <a:xfrm>
            <a:off x="10308074" y="3720227"/>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AI活用事例の量産が目的化</a:t>
            </a:r>
            <a:endParaRPr lang="en-US" sz="1550" dirty="0"/>
          </a:p>
        </p:txBody>
      </p:sp>
      <p:sp>
        <p:nvSpPr>
          <p:cNvPr id="11" name="Text 8"/>
          <p:cNvSpPr/>
          <p:nvPr/>
        </p:nvSpPr>
        <p:spPr>
          <a:xfrm>
            <a:off x="10308074" y="4107180"/>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認知機能への影響評価なし</a:t>
            </a:r>
            <a:endParaRPr lang="en-US" sz="1550" dirty="0"/>
          </a:p>
        </p:txBody>
      </p:sp>
      <p:sp>
        <p:nvSpPr>
          <p:cNvPr id="12" name="Text 9"/>
          <p:cNvSpPr/>
          <p:nvPr/>
        </p:nvSpPr>
        <p:spPr>
          <a:xfrm>
            <a:off x="10308074" y="4494133"/>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AIを使えることが成果とされる</a:t>
            </a:r>
            <a:endParaRPr lang="en-US" sz="1550" dirty="0"/>
          </a:p>
        </p:txBody>
      </p:sp>
      <p:sp>
        <p:nvSpPr>
          <p:cNvPr id="13" name="Text 10"/>
          <p:cNvSpPr/>
          <p:nvPr/>
        </p:nvSpPr>
        <p:spPr>
          <a:xfrm>
            <a:off x="10308074" y="4881086"/>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依存症リスクは完全に無視</a:t>
            </a:r>
            <a:endParaRPr lang="en-US" sz="1550" dirty="0"/>
          </a:p>
        </p:txBody>
      </p:sp>
      <p:sp>
        <p:nvSpPr>
          <p:cNvPr id="14" name="Text 11"/>
          <p:cNvSpPr/>
          <p:nvPr/>
        </p:nvSpPr>
        <p:spPr>
          <a:xfrm>
            <a:off x="6280190" y="6118979"/>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しかし、AI導入はタブレット配備よりもはるかに危険です。タブレットは「道具」ですが、AIは「思考プロセスそのもの」を代替するからです。</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808678"/>
            <a:ext cx="94266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調査会社レベルでの測定指標の深刻な問題</a:t>
            </a:r>
            <a:endParaRPr lang="en-US" sz="3900" dirty="0"/>
          </a:p>
        </p:txBody>
      </p:sp>
      <p:sp>
        <p:nvSpPr>
          <p:cNvPr id="3" name="Shape 1"/>
          <p:cNvSpPr/>
          <p:nvPr/>
        </p:nvSpPr>
        <p:spPr>
          <a:xfrm>
            <a:off x="793790" y="2825591"/>
            <a:ext cx="6422231" cy="2737009"/>
          </a:xfrm>
          <a:prstGeom prst="roundRect">
            <a:avLst>
              <a:gd name="adj" fmla="val 1088"/>
            </a:avLst>
          </a:prstGeom>
          <a:solidFill>
            <a:srgbClr val="FFFFFF"/>
          </a:solidFill>
          <a:ln w="22860">
            <a:solidFill>
              <a:srgbClr val="D8D4D4"/>
            </a:solidFill>
            <a:prstDash val="solid"/>
          </a:ln>
        </p:spPr>
      </p:sp>
      <p:sp>
        <p:nvSpPr>
          <p:cNvPr id="4" name="Text 2"/>
          <p:cNvSpPr/>
          <p:nvPr/>
        </p:nvSpPr>
        <p:spPr>
          <a:xfrm>
            <a:off x="1015008" y="3046809"/>
            <a:ext cx="3657124"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実際の測定指標（MM総研調査）</a:t>
            </a:r>
            <a:endParaRPr lang="en-US" sz="1950" dirty="0"/>
          </a:p>
        </p:txBody>
      </p:sp>
      <p:sp>
        <p:nvSpPr>
          <p:cNvPr id="5" name="Text 3"/>
          <p:cNvSpPr/>
          <p:nvPr/>
        </p:nvSpPr>
        <p:spPr>
          <a:xfrm>
            <a:off x="1015008" y="3476030"/>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使用頻度：77%の自治体が毎日端末を使用</a:t>
            </a:r>
            <a:endParaRPr lang="en-US" sz="1550" dirty="0"/>
          </a:p>
        </p:txBody>
      </p:sp>
      <p:sp>
        <p:nvSpPr>
          <p:cNvPr id="6" name="Text 4"/>
          <p:cNvSpPr/>
          <p:nvPr/>
        </p:nvSpPr>
        <p:spPr>
          <a:xfrm>
            <a:off x="1015008" y="3862983"/>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活用範囲：平均利用用途数が3.8から4.9に増加</a:t>
            </a:r>
            <a:endParaRPr lang="en-US" sz="1550" dirty="0"/>
          </a:p>
        </p:txBody>
      </p:sp>
      <p:sp>
        <p:nvSpPr>
          <p:cNvPr id="7" name="Text 5"/>
          <p:cNvSpPr/>
          <p:nvPr/>
        </p:nvSpPr>
        <p:spPr>
          <a:xfrm>
            <a:off x="1015008" y="4249936"/>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利用環境：24%の自治体が端末の持ち帰りを実施</a:t>
            </a:r>
            <a:endParaRPr lang="en-US" sz="1550" dirty="0"/>
          </a:p>
        </p:txBody>
      </p:sp>
      <p:sp>
        <p:nvSpPr>
          <p:cNvPr id="8" name="Shape 6"/>
          <p:cNvSpPr/>
          <p:nvPr/>
        </p:nvSpPr>
        <p:spPr>
          <a:xfrm>
            <a:off x="7414379" y="2825591"/>
            <a:ext cx="6422231" cy="2737009"/>
          </a:xfrm>
          <a:prstGeom prst="roundRect">
            <a:avLst>
              <a:gd name="adj" fmla="val 1088"/>
            </a:avLst>
          </a:prstGeom>
          <a:solidFill>
            <a:srgbClr val="FFFFFF"/>
          </a:solidFill>
          <a:ln w="22860">
            <a:solidFill>
              <a:srgbClr val="D8D4D4"/>
            </a:solidFill>
            <a:prstDash val="solid"/>
          </a:ln>
        </p:spPr>
      </p:sp>
      <p:sp>
        <p:nvSpPr>
          <p:cNvPr id="9" name="Text 7"/>
          <p:cNvSpPr/>
          <p:nvPr/>
        </p:nvSpPr>
        <p:spPr>
          <a:xfrm>
            <a:off x="7635597" y="3046809"/>
            <a:ext cx="346471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完全に欠如している本質的指標</a:t>
            </a:r>
            <a:endParaRPr lang="en-US" sz="1950" dirty="0"/>
          </a:p>
        </p:txBody>
      </p:sp>
      <p:sp>
        <p:nvSpPr>
          <p:cNvPr id="10" name="Text 8"/>
          <p:cNvSpPr/>
          <p:nvPr/>
        </p:nvSpPr>
        <p:spPr>
          <a:xfrm>
            <a:off x="7635597" y="3476030"/>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学習効果や認知能力への影響</a:t>
            </a:r>
            <a:endParaRPr lang="en-US" sz="1550" dirty="0"/>
          </a:p>
        </p:txBody>
      </p:sp>
      <p:sp>
        <p:nvSpPr>
          <p:cNvPr id="11" name="Text 9"/>
          <p:cNvSpPr/>
          <p:nvPr/>
        </p:nvSpPr>
        <p:spPr>
          <a:xfrm>
            <a:off x="7635597" y="3862983"/>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批判的思考力の変化</a:t>
            </a:r>
            <a:endParaRPr lang="en-US" sz="1550" dirty="0"/>
          </a:p>
        </p:txBody>
      </p:sp>
      <p:sp>
        <p:nvSpPr>
          <p:cNvPr id="12" name="Text 10"/>
          <p:cNvSpPr/>
          <p:nvPr/>
        </p:nvSpPr>
        <p:spPr>
          <a:xfrm>
            <a:off x="7635597" y="4249936"/>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問題解決能力の発達</a:t>
            </a:r>
            <a:endParaRPr lang="en-US" sz="1550" dirty="0"/>
          </a:p>
        </p:txBody>
      </p:sp>
      <p:sp>
        <p:nvSpPr>
          <p:cNvPr id="13" name="Text 11"/>
          <p:cNvSpPr/>
          <p:nvPr/>
        </p:nvSpPr>
        <p:spPr>
          <a:xfrm>
            <a:off x="7635597" y="4636889"/>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自立的学習能力の変化</a:t>
            </a:r>
            <a:endParaRPr lang="en-US" sz="1550" dirty="0"/>
          </a:p>
        </p:txBody>
      </p:sp>
      <p:sp>
        <p:nvSpPr>
          <p:cNvPr id="14" name="Text 12"/>
          <p:cNvSpPr/>
          <p:nvPr/>
        </p:nvSpPr>
        <p:spPr>
          <a:xfrm>
            <a:off x="7635597" y="5023842"/>
            <a:ext cx="5979795"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長期的な学習成果への寄与</a:t>
            </a:r>
            <a:endParaRPr lang="en-US" sz="1550" dirty="0"/>
          </a:p>
        </p:txBody>
      </p:sp>
      <p:sp>
        <p:nvSpPr>
          <p:cNvPr id="15" name="Text 13"/>
          <p:cNvSpPr/>
          <p:nvPr/>
        </p:nvSpPr>
        <p:spPr>
          <a:xfrm>
            <a:off x="793790" y="5785842"/>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専門調査会社ですら「使っているかどうか」という量的指標の測定に留まり、「教育的にどんな効果があったか」という本質的評価は完全に放棄している</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のが現実です。</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52726"/>
            <a:ext cx="6449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「効率化」至上主義の教育観</a:t>
            </a:r>
            <a:endParaRPr lang="en-US" sz="3900" dirty="0"/>
          </a:p>
        </p:txBody>
      </p:sp>
      <p:sp>
        <p:nvSpPr>
          <p:cNvPr id="4" name="Text 1"/>
          <p:cNvSpPr/>
          <p:nvPr/>
        </p:nvSpPr>
        <p:spPr>
          <a:xfrm>
            <a:off x="793790" y="1770459"/>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現在の教育政策を支配している「効率化至上主義」は、AI依存症を促進する最も危険な要因の一つです。</a:t>
            </a:r>
            <a:endParaRPr lang="en-US" sz="1550" dirty="0"/>
          </a:p>
        </p:txBody>
      </p:sp>
      <p:pic>
        <p:nvPicPr>
          <p:cNvPr id="5" name="Image 1" descr="preencoded.png">    </p:cNvPr>
          <p:cNvPicPr>
            <a:picLocks noChangeAspect="1"/>
          </p:cNvPicPr>
          <p:nvPr/>
        </p:nvPicPr>
        <p:blipFill>
          <a:blip r:embed="rId2"/>
          <a:stretch>
            <a:fillRect/>
          </a:stretch>
        </p:blipFill>
        <p:spPr>
          <a:xfrm>
            <a:off x="793790" y="2628781"/>
            <a:ext cx="992267" cy="1190744"/>
          </a:xfrm>
          <a:prstGeom prst="rect">
            <a:avLst/>
          </a:prstGeom>
        </p:spPr>
      </p:pic>
      <p:sp>
        <p:nvSpPr>
          <p:cNvPr id="6" name="Text 2"/>
          <p:cNvSpPr/>
          <p:nvPr/>
        </p:nvSpPr>
        <p:spPr>
          <a:xfrm>
            <a:off x="1984415" y="2827139"/>
            <a:ext cx="3459718"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効率化至上主義の思考パターン</a:t>
            </a:r>
            <a:endParaRPr lang="en-US" sz="1950" dirty="0"/>
          </a:p>
        </p:txBody>
      </p:sp>
      <p:sp>
        <p:nvSpPr>
          <p:cNvPr id="7" name="Text 3"/>
          <p:cNvSpPr/>
          <p:nvPr/>
        </p:nvSpPr>
        <p:spPr>
          <a:xfrm>
            <a:off x="1984415" y="3256359"/>
            <a:ext cx="63657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作業時間の短縮 = 教育的価値の向上</a:t>
            </a:r>
            <a:endParaRPr lang="en-US" sz="1550" dirty="0"/>
          </a:p>
        </p:txBody>
      </p:sp>
      <p:pic>
        <p:nvPicPr>
          <p:cNvPr id="8" name="Image 2" descr="preencoded.png">    </p:cNvPr>
          <p:cNvPicPr>
            <a:picLocks noChangeAspect="1"/>
          </p:cNvPicPr>
          <p:nvPr/>
        </p:nvPicPr>
        <p:blipFill>
          <a:blip r:embed="rId3"/>
          <a:stretch>
            <a:fillRect/>
          </a:stretch>
        </p:blipFill>
        <p:spPr>
          <a:xfrm>
            <a:off x="793790" y="3819525"/>
            <a:ext cx="992267" cy="1190744"/>
          </a:xfrm>
          <a:prstGeom prst="rect">
            <a:avLst/>
          </a:prstGeom>
        </p:spPr>
      </p:pic>
      <p:sp>
        <p:nvSpPr>
          <p:cNvPr id="9" name="Text 4"/>
          <p:cNvSpPr/>
          <p:nvPr/>
        </p:nvSpPr>
        <p:spPr>
          <a:xfrm>
            <a:off x="1984415" y="401788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労力削減の誤解</a:t>
            </a:r>
            <a:endParaRPr lang="en-US" sz="1950" dirty="0"/>
          </a:p>
        </p:txBody>
      </p:sp>
      <p:sp>
        <p:nvSpPr>
          <p:cNvPr id="10" name="Text 5"/>
          <p:cNvSpPr/>
          <p:nvPr/>
        </p:nvSpPr>
        <p:spPr>
          <a:xfrm>
            <a:off x="1984415" y="4447103"/>
            <a:ext cx="63657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労力の削減 = 学習の改善</a:t>
            </a:r>
            <a:endParaRPr lang="en-US" sz="1550" dirty="0"/>
          </a:p>
        </p:txBody>
      </p:sp>
      <p:pic>
        <p:nvPicPr>
          <p:cNvPr id="11" name="Image 3" descr="preencoded.png">    </p:cNvPr>
          <p:cNvPicPr>
            <a:picLocks noChangeAspect="1"/>
          </p:cNvPicPr>
          <p:nvPr/>
        </p:nvPicPr>
        <p:blipFill>
          <a:blip r:embed="rId4"/>
          <a:stretch>
            <a:fillRect/>
          </a:stretch>
        </p:blipFill>
        <p:spPr>
          <a:xfrm>
            <a:off x="793790" y="5010269"/>
            <a:ext cx="992267" cy="1190744"/>
          </a:xfrm>
          <a:prstGeom prst="rect">
            <a:avLst/>
          </a:prstGeom>
        </p:spPr>
      </p:pic>
      <p:sp>
        <p:nvSpPr>
          <p:cNvPr id="12" name="Text 6"/>
          <p:cNvSpPr/>
          <p:nvPr/>
        </p:nvSpPr>
        <p:spPr>
          <a:xfrm>
            <a:off x="1984415" y="520862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便利さの追求</a:t>
            </a:r>
            <a:endParaRPr lang="en-US" sz="1950" dirty="0"/>
          </a:p>
        </p:txBody>
      </p:sp>
      <p:sp>
        <p:nvSpPr>
          <p:cNvPr id="13" name="Text 7"/>
          <p:cNvSpPr/>
          <p:nvPr/>
        </p:nvSpPr>
        <p:spPr>
          <a:xfrm>
            <a:off x="1984415" y="5637848"/>
            <a:ext cx="636579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便利さの追求 = イノベーション</a:t>
            </a:r>
            <a:endParaRPr lang="en-US" sz="1550" dirty="0"/>
          </a:p>
        </p:txBody>
      </p:sp>
      <p:sp>
        <p:nvSpPr>
          <p:cNvPr id="14" name="Text 8"/>
          <p:cNvSpPr/>
          <p:nvPr/>
        </p:nvSpPr>
        <p:spPr>
          <a:xfrm>
            <a:off x="793790" y="6424255"/>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しかし、教育における「効率化」は、しばしば学習の本質的価値と対立します。第2章のMIT研究が明確に示したように、</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認知的負荷の軽減は認知能力の劣化を招く</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のです。</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65327"/>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「認知負荷」の教育的価値への無理解</a:t>
            </a:r>
            <a:endParaRPr lang="en-US" sz="3900" dirty="0"/>
          </a:p>
        </p:txBody>
      </p:sp>
      <p:sp>
        <p:nvSpPr>
          <p:cNvPr id="4" name="Text 1"/>
          <p:cNvSpPr/>
          <p:nvPr/>
        </p:nvSpPr>
        <p:spPr>
          <a:xfrm>
            <a:off x="6280190" y="340149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正しい認知科学の理解</a:t>
            </a:r>
            <a:endParaRPr lang="en-US" sz="1950" dirty="0"/>
          </a:p>
        </p:txBody>
      </p:sp>
      <p:sp>
        <p:nvSpPr>
          <p:cNvPr id="5" name="Text 2"/>
          <p:cNvSpPr/>
          <p:nvPr/>
        </p:nvSpPr>
        <p:spPr>
          <a:xfrm>
            <a:off x="6280190" y="3910013"/>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適切な認知負荷は脳の成長に必要</a:t>
            </a:r>
            <a:endParaRPr lang="en-US" sz="1550" dirty="0"/>
          </a:p>
        </p:txBody>
      </p:sp>
      <p:sp>
        <p:nvSpPr>
          <p:cNvPr id="6" name="Text 3"/>
          <p:cNvSpPr/>
          <p:nvPr/>
        </p:nvSpPr>
        <p:spPr>
          <a:xfrm>
            <a:off x="6280190" y="4296966"/>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思考プロセスの体験こそが能力発達の源泉</a:t>
            </a:r>
            <a:endParaRPr lang="en-US" sz="1550" dirty="0"/>
          </a:p>
        </p:txBody>
      </p:sp>
      <p:sp>
        <p:nvSpPr>
          <p:cNvPr id="7" name="Text 4"/>
          <p:cNvSpPr/>
          <p:nvPr/>
        </p:nvSpPr>
        <p:spPr>
          <a:xfrm>
            <a:off x="6280190" y="5001458"/>
            <a:ext cx="35361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困難な問題に取り組むことで神経回路が強化される</a:t>
            </a:r>
            <a:endParaRPr lang="en-US" sz="1550" dirty="0"/>
          </a:p>
        </p:txBody>
      </p:sp>
      <p:sp>
        <p:nvSpPr>
          <p:cNvPr id="8" name="Text 5"/>
          <p:cNvSpPr/>
          <p:nvPr/>
        </p:nvSpPr>
        <p:spPr>
          <a:xfrm>
            <a:off x="10308074" y="340149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現在の教育現場の誤解</a:t>
            </a:r>
            <a:endParaRPr lang="en-US" sz="1950" dirty="0"/>
          </a:p>
        </p:txBody>
      </p:sp>
      <p:sp>
        <p:nvSpPr>
          <p:cNvPr id="9" name="Text 6"/>
          <p:cNvSpPr/>
          <p:nvPr/>
        </p:nvSpPr>
        <p:spPr>
          <a:xfrm>
            <a:off x="10308074" y="3910013"/>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認知負荷 = 非効率で避けるべきもの</a:t>
            </a:r>
            <a:endParaRPr lang="en-US" sz="1550" dirty="0"/>
          </a:p>
        </p:txBody>
      </p:sp>
      <p:sp>
        <p:nvSpPr>
          <p:cNvPr id="10" name="Text 7"/>
          <p:cNvSpPr/>
          <p:nvPr/>
        </p:nvSpPr>
        <p:spPr>
          <a:xfrm>
            <a:off x="10308074" y="4296966"/>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思考時間の短縮 = 改善</a:t>
            </a:r>
            <a:endParaRPr lang="en-US" sz="1550" dirty="0"/>
          </a:p>
        </p:txBody>
      </p:sp>
      <p:sp>
        <p:nvSpPr>
          <p:cNvPr id="11" name="Text 8"/>
          <p:cNvSpPr/>
          <p:nvPr/>
        </p:nvSpPr>
        <p:spPr>
          <a:xfrm>
            <a:off x="10308074" y="4683919"/>
            <a:ext cx="35361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困難の排除 = 学習環境の改善</a:t>
            </a:r>
            <a:endParaRPr lang="en-US" sz="1550" dirty="0"/>
          </a:p>
        </p:txBody>
      </p:sp>
      <p:sp>
        <p:nvSpPr>
          <p:cNvPr id="12" name="Text 9"/>
          <p:cNvSpPr/>
          <p:nvPr/>
        </p:nvSpPr>
        <p:spPr>
          <a:xfrm>
            <a:off x="6280190" y="5929193"/>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この誤解が、第2章で見たような「脳の神経ネットワーク結合の弱化」を意図的に促進する教育活動につながっているのです。</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90913"/>
            <a:ext cx="5953720"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教師レベルでの構造的要因</a:t>
            </a:r>
            <a:endParaRPr lang="en-US" sz="3900" dirty="0"/>
          </a:p>
        </p:txBody>
      </p:sp>
      <p:sp>
        <p:nvSpPr>
          <p:cNvPr id="3" name="Text 1"/>
          <p:cNvSpPr/>
          <p:nvPr/>
        </p:nvSpPr>
        <p:spPr>
          <a:xfrm>
            <a:off x="793790" y="2508647"/>
            <a:ext cx="3969425" cy="496133"/>
          </a:xfrm>
          <a:prstGeom prst="rect">
            <a:avLst/>
          </a:prstGeom>
          <a:noFill/>
          <a:ln/>
        </p:spPr>
        <p:txBody>
          <a:bodyPr wrap="none" lIns="0" tIns="0" rIns="0" bIns="0" rtlCol="0" anchor="t"/>
          <a:lstStyle/>
          <a:p>
            <a:pPr algn="l" indent="0" marL="0">
              <a:lnSpc>
                <a:spcPts val="3900"/>
              </a:lnSpc>
              <a:buNone/>
            </a:pPr>
            <a:r>
              <a:rPr lang="en-US" sz="3100" dirty="0">
                <a:solidFill>
                  <a:srgbClr val="030303"/>
                </a:solidFill>
                <a:latin typeface="DM Sans Semi Bold" pitchFamily="34" charset="0"/>
                <a:ea typeface="DM Sans Semi Bold" pitchFamily="34" charset="-122"/>
                <a:cs typeface="DM Sans Semi Bold" pitchFamily="34" charset="-120"/>
              </a:rPr>
              <a:t>教育理論と実践の断絶</a:t>
            </a:r>
            <a:endParaRPr lang="en-US" sz="3100" dirty="0"/>
          </a:p>
        </p:txBody>
      </p:sp>
      <p:sp>
        <p:nvSpPr>
          <p:cNvPr id="4" name="Text 2"/>
          <p:cNvSpPr/>
          <p:nvPr/>
        </p:nvSpPr>
        <p:spPr>
          <a:xfrm>
            <a:off x="793790" y="330243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多くの教師がAI活用の「教育的効果」を説明できない根本原因は、</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基礎的な学習理論への理解不足</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にあります。</a:t>
            </a:r>
            <a:endParaRPr lang="en-US" sz="1550" dirty="0"/>
          </a:p>
        </p:txBody>
      </p:sp>
      <p:sp>
        <p:nvSpPr>
          <p:cNvPr id="5" name="Shape 3"/>
          <p:cNvSpPr/>
          <p:nvPr/>
        </p:nvSpPr>
        <p:spPr>
          <a:xfrm>
            <a:off x="793790" y="3843218"/>
            <a:ext cx="4215289" cy="2254687"/>
          </a:xfrm>
          <a:prstGeom prst="roundRect">
            <a:avLst>
              <a:gd name="adj" fmla="val 1320"/>
            </a:avLst>
          </a:prstGeom>
          <a:solidFill>
            <a:srgbClr val="F2EEEE"/>
          </a:solidFill>
          <a:ln/>
        </p:spPr>
      </p:sp>
      <p:sp>
        <p:nvSpPr>
          <p:cNvPr id="6" name="Shape 4"/>
          <p:cNvSpPr/>
          <p:nvPr/>
        </p:nvSpPr>
        <p:spPr>
          <a:xfrm>
            <a:off x="992148" y="4041577"/>
            <a:ext cx="595313" cy="595313"/>
          </a:xfrm>
          <a:prstGeom prst="roundRect">
            <a:avLst>
              <a:gd name="adj" fmla="val 15358451"/>
            </a:avLst>
          </a:prstGeom>
          <a:solidFill>
            <a:srgbClr val="1C9770"/>
          </a:solidFill>
          <a:ln/>
        </p:spPr>
      </p:sp>
      <p:pic>
        <p:nvPicPr>
          <p:cNvPr id="7" name="Image 0" descr="preencoded.png">    </p:cNvPr>
          <p:cNvPicPr>
            <a:picLocks noChangeAspect="1"/>
          </p:cNvPicPr>
          <p:nvPr/>
        </p:nvPicPr>
        <p:blipFill>
          <a:blip r:embed="rId1"/>
          <a:stretch>
            <a:fillRect/>
          </a:stretch>
        </p:blipFill>
        <p:spPr>
          <a:xfrm>
            <a:off x="1155859" y="4171712"/>
            <a:ext cx="267891" cy="334923"/>
          </a:xfrm>
          <a:prstGeom prst="rect">
            <a:avLst/>
          </a:prstGeom>
        </p:spPr>
      </p:pic>
      <p:sp>
        <p:nvSpPr>
          <p:cNvPr id="8" name="Text 5"/>
          <p:cNvSpPr/>
          <p:nvPr/>
        </p:nvSpPr>
        <p:spPr>
          <a:xfrm>
            <a:off x="992148" y="48352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構成主義学習理論</a:t>
            </a:r>
            <a:endParaRPr lang="en-US" sz="1950" dirty="0"/>
          </a:p>
        </p:txBody>
      </p:sp>
      <p:sp>
        <p:nvSpPr>
          <p:cNvPr id="9" name="Text 6"/>
          <p:cNvSpPr/>
          <p:nvPr/>
        </p:nvSpPr>
        <p:spPr>
          <a:xfrm>
            <a:off x="992148" y="5264467"/>
            <a:ext cx="3818573"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学習者が既存知識と新情報を統合して新しい理解を「構成」する過程</a:t>
            </a:r>
            <a:endParaRPr lang="en-US" sz="1550" dirty="0"/>
          </a:p>
        </p:txBody>
      </p:sp>
      <p:sp>
        <p:nvSpPr>
          <p:cNvPr id="10" name="Shape 7"/>
          <p:cNvSpPr/>
          <p:nvPr/>
        </p:nvSpPr>
        <p:spPr>
          <a:xfrm>
            <a:off x="5207437" y="3843218"/>
            <a:ext cx="4215408" cy="2254687"/>
          </a:xfrm>
          <a:prstGeom prst="roundRect">
            <a:avLst>
              <a:gd name="adj" fmla="val 1320"/>
            </a:avLst>
          </a:prstGeom>
          <a:solidFill>
            <a:srgbClr val="F2EEEE"/>
          </a:solidFill>
          <a:ln/>
        </p:spPr>
      </p:sp>
      <p:sp>
        <p:nvSpPr>
          <p:cNvPr id="11" name="Shape 8"/>
          <p:cNvSpPr/>
          <p:nvPr/>
        </p:nvSpPr>
        <p:spPr>
          <a:xfrm>
            <a:off x="5405795" y="4041577"/>
            <a:ext cx="595313" cy="595313"/>
          </a:xfrm>
          <a:prstGeom prst="roundRect">
            <a:avLst>
              <a:gd name="adj" fmla="val 15358451"/>
            </a:avLst>
          </a:prstGeom>
          <a:solidFill>
            <a:srgbClr val="1C9770"/>
          </a:solidFill>
          <a:ln/>
        </p:spPr>
      </p:sp>
      <p:pic>
        <p:nvPicPr>
          <p:cNvPr id="12" name="Image 1" descr="preencoded.png">    </p:cNvPr>
          <p:cNvPicPr>
            <a:picLocks noChangeAspect="1"/>
          </p:cNvPicPr>
          <p:nvPr/>
        </p:nvPicPr>
        <p:blipFill>
          <a:blip r:embed="rId2"/>
          <a:stretch>
            <a:fillRect/>
          </a:stretch>
        </p:blipFill>
        <p:spPr>
          <a:xfrm>
            <a:off x="5569506" y="4171712"/>
            <a:ext cx="267891" cy="334923"/>
          </a:xfrm>
          <a:prstGeom prst="rect">
            <a:avLst/>
          </a:prstGeom>
        </p:spPr>
      </p:pic>
      <p:sp>
        <p:nvSpPr>
          <p:cNvPr id="13" name="Text 9"/>
          <p:cNvSpPr/>
          <p:nvPr/>
        </p:nvSpPr>
        <p:spPr>
          <a:xfrm>
            <a:off x="5405795" y="48352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社会文化的学習理論</a:t>
            </a:r>
            <a:endParaRPr lang="en-US" sz="1950" dirty="0"/>
          </a:p>
        </p:txBody>
      </p:sp>
      <p:sp>
        <p:nvSpPr>
          <p:cNvPr id="14" name="Text 10"/>
          <p:cNvSpPr/>
          <p:nvPr/>
        </p:nvSpPr>
        <p:spPr>
          <a:xfrm>
            <a:off x="5405795" y="5264467"/>
            <a:ext cx="381869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他者との相互作用を通じた学習</a:t>
            </a:r>
            <a:endParaRPr lang="en-US" sz="1550" dirty="0"/>
          </a:p>
        </p:txBody>
      </p:sp>
      <p:sp>
        <p:nvSpPr>
          <p:cNvPr id="15" name="Shape 11"/>
          <p:cNvSpPr/>
          <p:nvPr/>
        </p:nvSpPr>
        <p:spPr>
          <a:xfrm>
            <a:off x="9621203" y="3843218"/>
            <a:ext cx="4215289" cy="2254687"/>
          </a:xfrm>
          <a:prstGeom prst="roundRect">
            <a:avLst>
              <a:gd name="adj" fmla="val 1320"/>
            </a:avLst>
          </a:prstGeom>
          <a:solidFill>
            <a:srgbClr val="F2EEEE"/>
          </a:solidFill>
          <a:ln/>
        </p:spPr>
      </p:sp>
      <p:sp>
        <p:nvSpPr>
          <p:cNvPr id="16" name="Shape 12"/>
          <p:cNvSpPr/>
          <p:nvPr/>
        </p:nvSpPr>
        <p:spPr>
          <a:xfrm>
            <a:off x="9819561" y="4041577"/>
            <a:ext cx="595313" cy="595313"/>
          </a:xfrm>
          <a:prstGeom prst="roundRect">
            <a:avLst>
              <a:gd name="adj" fmla="val 15358451"/>
            </a:avLst>
          </a:prstGeom>
          <a:solidFill>
            <a:srgbClr val="1C9770"/>
          </a:solidFill>
          <a:ln/>
        </p:spPr>
      </p:sp>
      <p:pic>
        <p:nvPicPr>
          <p:cNvPr id="17" name="Image 2" descr="preencoded.png">    </p:cNvPr>
          <p:cNvPicPr>
            <a:picLocks noChangeAspect="1"/>
          </p:cNvPicPr>
          <p:nvPr/>
        </p:nvPicPr>
        <p:blipFill>
          <a:blip r:embed="rId3"/>
          <a:stretch>
            <a:fillRect/>
          </a:stretch>
        </p:blipFill>
        <p:spPr>
          <a:xfrm>
            <a:off x="9983272" y="4171712"/>
            <a:ext cx="267891" cy="334923"/>
          </a:xfrm>
          <a:prstGeom prst="rect">
            <a:avLst/>
          </a:prstGeom>
        </p:spPr>
      </p:pic>
      <p:sp>
        <p:nvSpPr>
          <p:cNvPr id="18" name="Text 13"/>
          <p:cNvSpPr/>
          <p:nvPr/>
        </p:nvSpPr>
        <p:spPr>
          <a:xfrm>
            <a:off x="9819561" y="483524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メタ認知理論</a:t>
            </a:r>
            <a:endParaRPr lang="en-US" sz="1950" dirty="0"/>
          </a:p>
        </p:txBody>
      </p:sp>
      <p:sp>
        <p:nvSpPr>
          <p:cNvPr id="19" name="Text 14"/>
          <p:cNvSpPr/>
          <p:nvPr/>
        </p:nvSpPr>
        <p:spPr>
          <a:xfrm>
            <a:off x="9819561" y="5264467"/>
            <a:ext cx="3818573"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自分の学習プロセスを監視・制御する能力</a:t>
            </a:r>
            <a:endParaRPr lang="en-US" sz="1550" dirty="0"/>
          </a:p>
        </p:txBody>
      </p:sp>
      <p:sp>
        <p:nvSpPr>
          <p:cNvPr id="20" name="Text 15"/>
          <p:cNvSpPr/>
          <p:nvPr/>
        </p:nvSpPr>
        <p:spPr>
          <a:xfrm>
            <a:off x="793790" y="6321147"/>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現実の教師研修では、これらの理論とAI活用の関係について体系的な教育がなされていません。</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789759"/>
            <a:ext cx="8717637"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「便利=価値」という単純化された思考</a:t>
            </a:r>
            <a:endParaRPr lang="en-US" sz="3900" dirty="0"/>
          </a:p>
        </p:txBody>
      </p:sp>
      <p:sp>
        <p:nvSpPr>
          <p:cNvPr id="4" name="Text 1"/>
          <p:cNvSpPr/>
          <p:nvPr/>
        </p:nvSpPr>
        <p:spPr>
          <a:xfrm>
            <a:off x="793790" y="4707493"/>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01</a:t>
            </a:r>
            <a:endParaRPr lang="en-US" sz="1550" dirty="0"/>
          </a:p>
        </p:txBody>
      </p:sp>
      <p:sp>
        <p:nvSpPr>
          <p:cNvPr id="5" name="Shape 2"/>
          <p:cNvSpPr/>
          <p:nvPr/>
        </p:nvSpPr>
        <p:spPr>
          <a:xfrm>
            <a:off x="793790" y="5021818"/>
            <a:ext cx="4215289" cy="22860"/>
          </a:xfrm>
          <a:prstGeom prst="rect">
            <a:avLst/>
          </a:prstGeom>
          <a:solidFill>
            <a:srgbClr val="1C9770"/>
          </a:solidFill>
          <a:ln/>
        </p:spPr>
      </p:sp>
      <p:sp>
        <p:nvSpPr>
          <p:cNvPr id="6" name="Text 3"/>
          <p:cNvSpPr/>
          <p:nvPr/>
        </p:nvSpPr>
        <p:spPr>
          <a:xfrm>
            <a:off x="793790" y="516671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典型的な誤った推論</a:t>
            </a:r>
            <a:endParaRPr lang="en-US" sz="1950" dirty="0"/>
          </a:p>
        </p:txBody>
      </p:sp>
      <p:sp>
        <p:nvSpPr>
          <p:cNvPr id="7" name="Text 4"/>
          <p:cNvSpPr/>
          <p:nvPr/>
        </p:nvSpPr>
        <p:spPr>
          <a:xfrm>
            <a:off x="793790" y="5595938"/>
            <a:ext cx="4215289"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AIを使うと作業が楽になった</a:t>
            </a:r>
            <a:endParaRPr lang="en-US" sz="1550" dirty="0"/>
          </a:p>
        </p:txBody>
      </p:sp>
      <p:sp>
        <p:nvSpPr>
          <p:cNvPr id="8" name="Text 5"/>
          <p:cNvSpPr/>
          <p:nvPr/>
        </p:nvSpPr>
        <p:spPr>
          <a:xfrm>
            <a:off x="5207437" y="4707493"/>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02</a:t>
            </a:r>
            <a:endParaRPr lang="en-US" sz="1550" dirty="0"/>
          </a:p>
        </p:txBody>
      </p:sp>
      <p:sp>
        <p:nvSpPr>
          <p:cNvPr id="9" name="Shape 6"/>
          <p:cNvSpPr/>
          <p:nvPr/>
        </p:nvSpPr>
        <p:spPr>
          <a:xfrm>
            <a:off x="5207437" y="5021818"/>
            <a:ext cx="4215408" cy="22860"/>
          </a:xfrm>
          <a:prstGeom prst="rect">
            <a:avLst/>
          </a:prstGeom>
          <a:solidFill>
            <a:srgbClr val="1C9770"/>
          </a:solidFill>
          <a:ln/>
        </p:spPr>
      </p:sp>
      <p:sp>
        <p:nvSpPr>
          <p:cNvPr id="10" name="Text 7"/>
          <p:cNvSpPr/>
          <p:nvPr/>
        </p:nvSpPr>
        <p:spPr>
          <a:xfrm>
            <a:off x="5207437" y="516671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単純な価値判断</a:t>
            </a:r>
            <a:endParaRPr lang="en-US" sz="1950" dirty="0"/>
          </a:p>
        </p:txBody>
      </p:sp>
      <p:sp>
        <p:nvSpPr>
          <p:cNvPr id="11" name="Text 8"/>
          <p:cNvSpPr/>
          <p:nvPr/>
        </p:nvSpPr>
        <p:spPr>
          <a:xfrm>
            <a:off x="5207437" y="5595938"/>
            <a:ext cx="4215408"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楽になることは良いことだ</a:t>
            </a:r>
            <a:endParaRPr lang="en-US" sz="1550" dirty="0"/>
          </a:p>
        </p:txBody>
      </p:sp>
      <p:sp>
        <p:nvSpPr>
          <p:cNvPr id="12" name="Text 9"/>
          <p:cNvSpPr/>
          <p:nvPr/>
        </p:nvSpPr>
        <p:spPr>
          <a:xfrm>
            <a:off x="9621203" y="4707493"/>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DM Sans Light" pitchFamily="34" charset="0"/>
                <a:ea typeface="DM Sans Light" pitchFamily="34" charset="-122"/>
                <a:cs typeface="DM Sans Light" pitchFamily="34" charset="-120"/>
              </a:rPr>
              <a:t>03</a:t>
            </a:r>
            <a:endParaRPr lang="en-US" sz="1550" dirty="0"/>
          </a:p>
        </p:txBody>
      </p:sp>
      <p:sp>
        <p:nvSpPr>
          <p:cNvPr id="13" name="Shape 10"/>
          <p:cNvSpPr/>
          <p:nvPr/>
        </p:nvSpPr>
        <p:spPr>
          <a:xfrm>
            <a:off x="9621203" y="5021818"/>
            <a:ext cx="4215289" cy="22860"/>
          </a:xfrm>
          <a:prstGeom prst="rect">
            <a:avLst/>
          </a:prstGeom>
          <a:solidFill>
            <a:srgbClr val="1C9770"/>
          </a:solidFill>
          <a:ln/>
        </p:spPr>
      </p:sp>
      <p:sp>
        <p:nvSpPr>
          <p:cNvPr id="14" name="Text 11"/>
          <p:cNvSpPr/>
          <p:nvPr/>
        </p:nvSpPr>
        <p:spPr>
          <a:xfrm>
            <a:off x="9621203" y="516671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誤った結論</a:t>
            </a:r>
            <a:endParaRPr lang="en-US" sz="1950" dirty="0"/>
          </a:p>
        </p:txBody>
      </p:sp>
      <p:sp>
        <p:nvSpPr>
          <p:cNvPr id="15" name="Text 12"/>
          <p:cNvSpPr/>
          <p:nvPr/>
        </p:nvSpPr>
        <p:spPr>
          <a:xfrm>
            <a:off x="9621203" y="5595938"/>
            <a:ext cx="4215289"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よって、AI使用は教育的に価値がある</a:t>
            </a:r>
            <a:endParaRPr lang="en-US" sz="1550" dirty="0"/>
          </a:p>
        </p:txBody>
      </p:sp>
      <p:sp>
        <p:nvSpPr>
          <p:cNvPr id="16" name="Text 13"/>
          <p:cNvSpPr/>
          <p:nvPr/>
        </p:nvSpPr>
        <p:spPr>
          <a:xfrm>
            <a:off x="793790" y="6285548"/>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この推論の問題は、「楽になった」ことの教育的意味を全く検証していないことです。第2章のMIT研究が示したように、「楽になった」状態は、実際には</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認知機能の劣化プロセス</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である可能性が高いのです。</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258139"/>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評価能力の根本的不足</a:t>
            </a:r>
            <a:endParaRPr lang="en-US" sz="3900" dirty="0"/>
          </a:p>
        </p:txBody>
      </p:sp>
      <p:sp>
        <p:nvSpPr>
          <p:cNvPr id="3" name="Text 1"/>
          <p:cNvSpPr/>
          <p:nvPr/>
        </p:nvSpPr>
        <p:spPr>
          <a:xfrm>
            <a:off x="793790" y="3374231"/>
            <a:ext cx="3211711"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誤って「成果」とされる指標</a:t>
            </a:r>
            <a:endParaRPr lang="en-US" sz="1950" dirty="0"/>
          </a:p>
        </p:txBody>
      </p:sp>
      <p:sp>
        <p:nvSpPr>
          <p:cNvPr id="4" name="Text 2"/>
          <p:cNvSpPr/>
          <p:nvPr/>
        </p:nvSpPr>
        <p:spPr>
          <a:xfrm>
            <a:off x="793790" y="388274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作業時間の短縮 → 実際は思考時間の削減による認知機能低下</a:t>
            </a:r>
            <a:endParaRPr lang="en-US" sz="1550" dirty="0"/>
          </a:p>
        </p:txBody>
      </p:sp>
      <p:sp>
        <p:nvSpPr>
          <p:cNvPr id="5" name="Text 3"/>
          <p:cNvSpPr/>
          <p:nvPr/>
        </p:nvSpPr>
        <p:spPr>
          <a:xfrm>
            <a:off x="793790" y="426970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資料作成の効率化 → 実際は創造的思考プロセスの外部委託</a:t>
            </a:r>
            <a:endParaRPr lang="en-US" sz="1550" dirty="0"/>
          </a:p>
        </p:txBody>
      </p:sp>
      <p:sp>
        <p:nvSpPr>
          <p:cNvPr id="6" name="Text 4"/>
          <p:cNvSpPr/>
          <p:nvPr/>
        </p:nvSpPr>
        <p:spPr>
          <a:xfrm>
            <a:off x="793790" y="4656653"/>
            <a:ext cx="6279356" cy="635079"/>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「質の高い」レポートの作成 → 実際はAI依存による自己能力の錯覚</a:t>
            </a:r>
            <a:endParaRPr lang="en-US" sz="1550" dirty="0"/>
          </a:p>
        </p:txBody>
      </p:sp>
      <p:sp>
        <p:nvSpPr>
          <p:cNvPr id="7" name="Text 5"/>
          <p:cNvSpPr/>
          <p:nvPr/>
        </p:nvSpPr>
        <p:spPr>
          <a:xfrm>
            <a:off x="7564874" y="3374231"/>
            <a:ext cx="3464719" cy="310158"/>
          </a:xfrm>
          <a:prstGeom prst="rect">
            <a:avLst/>
          </a:prstGeom>
          <a:noFill/>
          <a:ln/>
        </p:spPr>
        <p:txBody>
          <a:bodyPr wrap="none" lIns="0" tIns="0" rIns="0" bIns="0" rtlCol="0" anchor="t"/>
          <a:lstStyle/>
          <a:p>
            <a:pPr algn="l" indent="0" marL="0">
              <a:lnSpc>
                <a:spcPts val="2400"/>
              </a:lnSpc>
              <a:buNone/>
            </a:pPr>
            <a:r>
              <a:rPr lang="en-US" sz="1950" dirty="0">
                <a:solidFill>
                  <a:srgbClr val="030303"/>
                </a:solidFill>
                <a:latin typeface="DM Sans Semi Bold" pitchFamily="34" charset="0"/>
                <a:ea typeface="DM Sans Semi Bold" pitchFamily="34" charset="-122"/>
                <a:cs typeface="DM Sans Semi Bold" pitchFamily="34" charset="-120"/>
              </a:rPr>
              <a:t>測定されていない真の教育成果</a:t>
            </a:r>
            <a:endParaRPr lang="en-US" sz="1950" dirty="0"/>
          </a:p>
        </p:txBody>
      </p:sp>
      <p:sp>
        <p:nvSpPr>
          <p:cNvPr id="8" name="Text 6"/>
          <p:cNvSpPr/>
          <p:nvPr/>
        </p:nvSpPr>
        <p:spPr>
          <a:xfrm>
            <a:off x="7564874" y="388274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独立した問題分析能力の発達</a:t>
            </a:r>
            <a:endParaRPr lang="en-US" sz="1550" dirty="0"/>
          </a:p>
        </p:txBody>
      </p:sp>
      <p:sp>
        <p:nvSpPr>
          <p:cNvPr id="9" name="Text 7"/>
          <p:cNvSpPr/>
          <p:nvPr/>
        </p:nvSpPr>
        <p:spPr>
          <a:xfrm>
            <a:off x="7564874" y="4269700"/>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批判的思考プロセスの習得</a:t>
            </a:r>
            <a:endParaRPr lang="en-US" sz="1550" dirty="0"/>
          </a:p>
        </p:txBody>
      </p:sp>
      <p:sp>
        <p:nvSpPr>
          <p:cNvPr id="10" name="Text 8"/>
          <p:cNvSpPr/>
          <p:nvPr/>
        </p:nvSpPr>
        <p:spPr>
          <a:xfrm>
            <a:off x="7564874" y="4656653"/>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創造的解決策の生成能力</a:t>
            </a:r>
            <a:endParaRPr lang="en-US" sz="1550" dirty="0"/>
          </a:p>
        </p:txBody>
      </p:sp>
      <p:sp>
        <p:nvSpPr>
          <p:cNvPr id="11" name="Text 9"/>
          <p:cNvSpPr/>
          <p:nvPr/>
        </p:nvSpPr>
        <p:spPr>
          <a:xfrm>
            <a:off x="7564874" y="5043607"/>
            <a:ext cx="6279356"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学習への内発的動機の維持</a:t>
            </a:r>
            <a:endParaRPr lang="en-US" sz="1550" dirty="0"/>
          </a:p>
        </p:txBody>
      </p:sp>
      <p:sp>
        <p:nvSpPr>
          <p:cNvPr id="12" name="Text 10"/>
          <p:cNvSpPr/>
          <p:nvPr/>
        </p:nvSpPr>
        <p:spPr>
          <a:xfrm>
            <a:off x="793790" y="5653802"/>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現在の教育現場で重視される「成果指標」の多くは、第2章で見たAI依存症の初期症状を「改善」として誤認するものです。</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80636"/>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長期的影響への無関心</a:t>
            </a:r>
            <a:endParaRPr lang="en-US" sz="3900" dirty="0"/>
          </a:p>
        </p:txBody>
      </p:sp>
      <p:sp>
        <p:nvSpPr>
          <p:cNvPr id="4" name="Shape 1"/>
          <p:cNvSpPr/>
          <p:nvPr/>
        </p:nvSpPr>
        <p:spPr>
          <a:xfrm>
            <a:off x="1017032" y="2198370"/>
            <a:ext cx="22860" cy="3574613"/>
          </a:xfrm>
          <a:prstGeom prst="roundRect">
            <a:avLst>
              <a:gd name="adj" fmla="val 130232"/>
            </a:avLst>
          </a:prstGeom>
          <a:solidFill>
            <a:srgbClr val="D8D4D4"/>
          </a:solidFill>
          <a:ln/>
        </p:spPr>
      </p:sp>
      <p:sp>
        <p:nvSpPr>
          <p:cNvPr id="5" name="Shape 2"/>
          <p:cNvSpPr/>
          <p:nvPr/>
        </p:nvSpPr>
        <p:spPr>
          <a:xfrm>
            <a:off x="1217414" y="2410182"/>
            <a:ext cx="595313" cy="22860"/>
          </a:xfrm>
          <a:prstGeom prst="roundRect">
            <a:avLst>
              <a:gd name="adj" fmla="val 130232"/>
            </a:avLst>
          </a:prstGeom>
          <a:solidFill>
            <a:srgbClr val="D8D4D4"/>
          </a:solidFill>
          <a:ln/>
        </p:spPr>
      </p:sp>
      <p:sp>
        <p:nvSpPr>
          <p:cNvPr id="6" name="Shape 3"/>
          <p:cNvSpPr/>
          <p:nvPr/>
        </p:nvSpPr>
        <p:spPr>
          <a:xfrm>
            <a:off x="793790" y="2198370"/>
            <a:ext cx="446484" cy="446484"/>
          </a:xfrm>
          <a:prstGeom prst="roundRect">
            <a:avLst>
              <a:gd name="adj" fmla="val 6668"/>
            </a:avLst>
          </a:prstGeom>
          <a:solidFill>
            <a:srgbClr val="F2EEEE"/>
          </a:solidFill>
          <a:ln/>
        </p:spPr>
      </p:sp>
      <p:sp>
        <p:nvSpPr>
          <p:cNvPr id="7" name="Text 4"/>
          <p:cNvSpPr/>
          <p:nvPr/>
        </p:nvSpPr>
        <p:spPr>
          <a:xfrm>
            <a:off x="868204" y="2235577"/>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1</a:t>
            </a:r>
            <a:endParaRPr lang="en-US" sz="2300" dirty="0"/>
          </a:p>
        </p:txBody>
      </p:sp>
      <p:sp>
        <p:nvSpPr>
          <p:cNvPr id="8" name="Text 5"/>
          <p:cNvSpPr/>
          <p:nvPr/>
        </p:nvSpPr>
        <p:spPr>
          <a:xfrm>
            <a:off x="2009418" y="2266593"/>
            <a:ext cx="4456748"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短期的視点（現在重視されているもの）</a:t>
            </a:r>
            <a:endParaRPr lang="en-US" sz="1950" dirty="0"/>
          </a:p>
        </p:txBody>
      </p:sp>
      <p:sp>
        <p:nvSpPr>
          <p:cNvPr id="9" name="Text 6"/>
          <p:cNvSpPr/>
          <p:nvPr/>
        </p:nvSpPr>
        <p:spPr>
          <a:xfrm>
            <a:off x="2009418" y="2695813"/>
            <a:ext cx="634079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今日のレポートがうまく書けた</a:t>
            </a:r>
            <a:endParaRPr lang="en-US" sz="1550" dirty="0"/>
          </a:p>
        </p:txBody>
      </p:sp>
      <p:sp>
        <p:nvSpPr>
          <p:cNvPr id="10" name="Text 7"/>
          <p:cNvSpPr/>
          <p:nvPr/>
        </p:nvSpPr>
        <p:spPr>
          <a:xfrm>
            <a:off x="2009418" y="3082766"/>
            <a:ext cx="634079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今回の授業準備が楽だった</a:t>
            </a:r>
            <a:endParaRPr lang="en-US" sz="1550" dirty="0"/>
          </a:p>
        </p:txBody>
      </p:sp>
      <p:sp>
        <p:nvSpPr>
          <p:cNvPr id="11" name="Text 8"/>
          <p:cNvSpPr/>
          <p:nvPr/>
        </p:nvSpPr>
        <p:spPr>
          <a:xfrm>
            <a:off x="2009418" y="3469719"/>
            <a:ext cx="634079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この問題がすぐ解決した</a:t>
            </a:r>
            <a:endParaRPr lang="en-US" sz="1550" dirty="0"/>
          </a:p>
        </p:txBody>
      </p:sp>
      <p:sp>
        <p:nvSpPr>
          <p:cNvPr id="12" name="Shape 9"/>
          <p:cNvSpPr/>
          <p:nvPr/>
        </p:nvSpPr>
        <p:spPr>
          <a:xfrm>
            <a:off x="1217414" y="4395907"/>
            <a:ext cx="595313" cy="22860"/>
          </a:xfrm>
          <a:prstGeom prst="roundRect">
            <a:avLst>
              <a:gd name="adj" fmla="val 130232"/>
            </a:avLst>
          </a:prstGeom>
          <a:solidFill>
            <a:srgbClr val="D8D4D4"/>
          </a:solidFill>
          <a:ln/>
        </p:spPr>
      </p:sp>
      <p:sp>
        <p:nvSpPr>
          <p:cNvPr id="13" name="Shape 10"/>
          <p:cNvSpPr/>
          <p:nvPr/>
        </p:nvSpPr>
        <p:spPr>
          <a:xfrm>
            <a:off x="793790" y="4184094"/>
            <a:ext cx="446484" cy="446484"/>
          </a:xfrm>
          <a:prstGeom prst="roundRect">
            <a:avLst>
              <a:gd name="adj" fmla="val 6668"/>
            </a:avLst>
          </a:prstGeom>
          <a:solidFill>
            <a:srgbClr val="F2EEEE"/>
          </a:solidFill>
          <a:ln/>
        </p:spPr>
      </p:sp>
      <p:sp>
        <p:nvSpPr>
          <p:cNvPr id="14" name="Text 11"/>
          <p:cNvSpPr/>
          <p:nvPr/>
        </p:nvSpPr>
        <p:spPr>
          <a:xfrm>
            <a:off x="868204" y="4221301"/>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464646"/>
                </a:solidFill>
                <a:latin typeface="DM Sans Semi Bold" pitchFamily="34" charset="0"/>
                <a:ea typeface="DM Sans Semi Bold" pitchFamily="34" charset="-122"/>
                <a:cs typeface="DM Sans Semi Bold" pitchFamily="34" charset="-120"/>
              </a:rPr>
              <a:t>2</a:t>
            </a:r>
            <a:endParaRPr lang="en-US" sz="2300" dirty="0"/>
          </a:p>
        </p:txBody>
      </p:sp>
      <p:sp>
        <p:nvSpPr>
          <p:cNvPr id="15" name="Text 12"/>
          <p:cNvSpPr/>
          <p:nvPr/>
        </p:nvSpPr>
        <p:spPr>
          <a:xfrm>
            <a:off x="2009418" y="4252317"/>
            <a:ext cx="3960733"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長期的視点（無視されているもの）</a:t>
            </a:r>
            <a:endParaRPr lang="en-US" sz="1950" dirty="0"/>
          </a:p>
        </p:txBody>
      </p:sp>
      <p:sp>
        <p:nvSpPr>
          <p:cNvPr id="16" name="Text 13"/>
          <p:cNvSpPr/>
          <p:nvPr/>
        </p:nvSpPr>
        <p:spPr>
          <a:xfrm>
            <a:off x="2009418" y="4681538"/>
            <a:ext cx="634079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6ヶ月後の自力思考能力はどうなるか</a:t>
            </a:r>
            <a:endParaRPr lang="en-US" sz="1550" dirty="0"/>
          </a:p>
        </p:txBody>
      </p:sp>
      <p:sp>
        <p:nvSpPr>
          <p:cNvPr id="17" name="Text 14"/>
          <p:cNvSpPr/>
          <p:nvPr/>
        </p:nvSpPr>
        <p:spPr>
          <a:xfrm>
            <a:off x="2009418" y="5068491"/>
            <a:ext cx="634079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1年後も創造的問題解決ができるか</a:t>
            </a:r>
            <a:endParaRPr lang="en-US" sz="1550" dirty="0"/>
          </a:p>
        </p:txBody>
      </p:sp>
      <p:sp>
        <p:nvSpPr>
          <p:cNvPr id="18" name="Text 15"/>
          <p:cNvSpPr/>
          <p:nvPr/>
        </p:nvSpPr>
        <p:spPr>
          <a:xfrm>
            <a:off x="2009418" y="5455444"/>
            <a:ext cx="6340793"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将来の学習意欲は維持されるか</a:t>
            </a:r>
            <a:endParaRPr lang="en-US" sz="1550" dirty="0"/>
          </a:p>
        </p:txBody>
      </p:sp>
      <p:sp>
        <p:nvSpPr>
          <p:cNvPr id="19" name="Text 16"/>
          <p:cNvSpPr/>
          <p:nvPr/>
        </p:nvSpPr>
        <p:spPr>
          <a:xfrm>
            <a:off x="793790" y="5996226"/>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第2章のMIT研究は、</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4ヶ月間の追跡調査</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で認知機能の系統的劣化を実証しました。しかし、日本の教育現場では、このような長期的影響を測定する取り組みがほとんどありません。</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547330"/>
            <a:ext cx="5953720"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学習者レベルでの要因分析</a:t>
            </a:r>
            <a:endParaRPr lang="en-US" sz="3900" dirty="0"/>
          </a:p>
        </p:txBody>
      </p:sp>
      <p:sp>
        <p:nvSpPr>
          <p:cNvPr id="3" name="Text 1"/>
          <p:cNvSpPr/>
          <p:nvPr/>
        </p:nvSpPr>
        <p:spPr>
          <a:xfrm>
            <a:off x="793790" y="1465064"/>
            <a:ext cx="6573679" cy="496133"/>
          </a:xfrm>
          <a:prstGeom prst="rect">
            <a:avLst/>
          </a:prstGeom>
          <a:noFill/>
          <a:ln/>
        </p:spPr>
        <p:txBody>
          <a:bodyPr wrap="none" lIns="0" tIns="0" rIns="0" bIns="0" rtlCol="0" anchor="t"/>
          <a:lstStyle/>
          <a:p>
            <a:pPr algn="l" indent="0" marL="0">
              <a:lnSpc>
                <a:spcPts val="3900"/>
              </a:lnSpc>
              <a:buNone/>
            </a:pPr>
            <a:r>
              <a:rPr lang="en-US" sz="3100" dirty="0">
                <a:solidFill>
                  <a:srgbClr val="030303"/>
                </a:solidFill>
                <a:latin typeface="DM Sans Semi Bold" pitchFamily="34" charset="0"/>
                <a:ea typeface="DM Sans Semi Bold" pitchFamily="34" charset="-122"/>
                <a:cs typeface="DM Sans Semi Bold" pitchFamily="34" charset="-120"/>
              </a:rPr>
              <a:t>「理解-行動ギャップ」の教育的背景</a:t>
            </a:r>
            <a:endParaRPr lang="en-US" sz="3100" dirty="0"/>
          </a:p>
        </p:txBody>
      </p:sp>
      <p:sp>
        <p:nvSpPr>
          <p:cNvPr id="4" name="Text 2"/>
          <p:cNvSpPr/>
          <p:nvPr/>
        </p:nvSpPr>
        <p:spPr>
          <a:xfrm>
            <a:off x="793790" y="2258854"/>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第2章で見た中国調査における「理解-行動ギャップ」—危険性を理解しながらも使用を止められない状況—は、単なる個人の意志力の問題ではありません。教育システムが作り出している構造的問題です。</a:t>
            </a:r>
            <a:endParaRPr lang="en-US" sz="1550" dirty="0"/>
          </a:p>
        </p:txBody>
      </p:sp>
      <p:sp>
        <p:nvSpPr>
          <p:cNvPr id="5" name="Text 3"/>
          <p:cNvSpPr/>
          <p:nvPr/>
        </p:nvSpPr>
        <p:spPr>
          <a:xfrm>
            <a:off x="2254091" y="3810595"/>
            <a:ext cx="2480905"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AI使用の推奨・奨励</a:t>
            </a:r>
            <a:endParaRPr lang="en-US" sz="1950" dirty="0"/>
          </a:p>
        </p:txBody>
      </p:sp>
      <p:sp>
        <p:nvSpPr>
          <p:cNvPr id="6" name="Text 4"/>
          <p:cNvSpPr/>
          <p:nvPr/>
        </p:nvSpPr>
        <p:spPr>
          <a:xfrm>
            <a:off x="793790" y="4239816"/>
            <a:ext cx="3941207" cy="317540"/>
          </a:xfrm>
          <a:prstGeom prst="rect">
            <a:avLst/>
          </a:prstGeom>
          <a:noFill/>
          <a:ln/>
        </p:spPr>
        <p:txBody>
          <a:bodyPr wrap="non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教師がAI活用を積極的に勧める</a:t>
            </a:r>
            <a:endParaRPr lang="en-US" sz="1550" dirty="0"/>
          </a:p>
        </p:txBody>
      </p:sp>
      <p:pic>
        <p:nvPicPr>
          <p:cNvPr id="7" name="Image 0" descr="preencoded.png">    </p:cNvPr>
          <p:cNvPicPr>
            <a:picLocks noChangeAspect="1"/>
          </p:cNvPicPr>
          <p:nvPr/>
        </p:nvPicPr>
        <p:blipFill>
          <a:blip r:embed="rId1"/>
          <a:stretch>
            <a:fillRect/>
          </a:stretch>
        </p:blipFill>
        <p:spPr>
          <a:xfrm>
            <a:off x="5032653" y="3117175"/>
            <a:ext cx="4564975" cy="4564975"/>
          </a:xfrm>
          <a:prstGeom prst="rect">
            <a:avLst/>
          </a:prstGeom>
        </p:spPr>
      </p:pic>
      <p:pic>
        <p:nvPicPr>
          <p:cNvPr id="8" name="Image 1" descr="preencoded.png">    </p:cNvPr>
          <p:cNvPicPr>
            <a:picLocks noChangeAspect="1"/>
          </p:cNvPicPr>
          <p:nvPr/>
        </p:nvPicPr>
        <p:blipFill>
          <a:blip r:embed="rId2"/>
          <a:stretch>
            <a:fillRect/>
          </a:stretch>
        </p:blipFill>
        <p:spPr>
          <a:xfrm>
            <a:off x="6247864" y="3906857"/>
            <a:ext cx="296942" cy="371118"/>
          </a:xfrm>
          <a:prstGeom prst="rect">
            <a:avLst/>
          </a:prstGeom>
        </p:spPr>
      </p:pic>
      <p:sp>
        <p:nvSpPr>
          <p:cNvPr id="9" name="Text 5"/>
          <p:cNvSpPr/>
          <p:nvPr/>
        </p:nvSpPr>
        <p:spPr>
          <a:xfrm>
            <a:off x="9895284" y="381059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自力思考の時間削減</a:t>
            </a:r>
            <a:endParaRPr lang="en-US" sz="1950" dirty="0"/>
          </a:p>
        </p:txBody>
      </p:sp>
      <p:sp>
        <p:nvSpPr>
          <p:cNvPr id="10" name="Text 6"/>
          <p:cNvSpPr/>
          <p:nvPr/>
        </p:nvSpPr>
        <p:spPr>
          <a:xfrm>
            <a:off x="9895284" y="4239816"/>
            <a:ext cx="394132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「効率化」の名目で考える時間を短縮</a:t>
            </a:r>
            <a:endParaRPr lang="en-US" sz="1550" dirty="0"/>
          </a:p>
        </p:txBody>
      </p:sp>
      <p:pic>
        <p:nvPicPr>
          <p:cNvPr id="11" name="Image 2" descr="preencoded.png">    </p:cNvPr>
          <p:cNvPicPr>
            <a:picLocks noChangeAspect="1"/>
          </p:cNvPicPr>
          <p:nvPr/>
        </p:nvPicPr>
        <p:blipFill>
          <a:blip r:embed="rId3"/>
          <a:stretch>
            <a:fillRect/>
          </a:stretch>
        </p:blipFill>
        <p:spPr>
          <a:xfrm>
            <a:off x="5032653" y="3117175"/>
            <a:ext cx="4564975" cy="4564975"/>
          </a:xfrm>
          <a:prstGeom prst="rect">
            <a:avLst/>
          </a:prstGeom>
        </p:spPr>
      </p:pic>
      <p:pic>
        <p:nvPicPr>
          <p:cNvPr id="12" name="Image 3" descr="preencoded.png">    </p:cNvPr>
          <p:cNvPicPr>
            <a:picLocks noChangeAspect="1"/>
          </p:cNvPicPr>
          <p:nvPr/>
        </p:nvPicPr>
        <p:blipFill>
          <a:blip r:embed="rId4"/>
          <a:stretch>
            <a:fillRect/>
          </a:stretch>
        </p:blipFill>
        <p:spPr>
          <a:xfrm>
            <a:off x="8473738" y="4295358"/>
            <a:ext cx="296942" cy="371118"/>
          </a:xfrm>
          <a:prstGeom prst="rect">
            <a:avLst/>
          </a:prstGeom>
        </p:spPr>
      </p:pic>
      <p:sp>
        <p:nvSpPr>
          <p:cNvPr id="13" name="Text 7"/>
          <p:cNvSpPr/>
          <p:nvPr/>
        </p:nvSpPr>
        <p:spPr>
          <a:xfrm>
            <a:off x="9895284" y="6241852"/>
            <a:ext cx="2717483"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AI非使用への心理的圧力</a:t>
            </a:r>
            <a:endParaRPr lang="en-US" sz="1950" dirty="0"/>
          </a:p>
        </p:txBody>
      </p:sp>
      <p:sp>
        <p:nvSpPr>
          <p:cNvPr id="14" name="Text 8"/>
          <p:cNvSpPr/>
          <p:nvPr/>
        </p:nvSpPr>
        <p:spPr>
          <a:xfrm>
            <a:off x="9895284" y="6671072"/>
            <a:ext cx="3941326"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「時代遅れ」「非効率」としてのラベリング</a:t>
            </a:r>
            <a:endParaRPr lang="en-US" sz="1550" dirty="0"/>
          </a:p>
        </p:txBody>
      </p:sp>
      <p:pic>
        <p:nvPicPr>
          <p:cNvPr id="15" name="Image 4" descr="preencoded.png">    </p:cNvPr>
          <p:cNvPicPr>
            <a:picLocks noChangeAspect="1"/>
          </p:cNvPicPr>
          <p:nvPr/>
        </p:nvPicPr>
        <p:blipFill>
          <a:blip r:embed="rId5"/>
          <a:stretch>
            <a:fillRect/>
          </a:stretch>
        </p:blipFill>
        <p:spPr>
          <a:xfrm>
            <a:off x="5032653" y="3117175"/>
            <a:ext cx="4564975" cy="4564975"/>
          </a:xfrm>
          <a:prstGeom prst="rect">
            <a:avLst/>
          </a:prstGeom>
        </p:spPr>
      </p:pic>
      <p:pic>
        <p:nvPicPr>
          <p:cNvPr id="16" name="Image 5" descr="preencoded.png">    </p:cNvPr>
          <p:cNvPicPr>
            <a:picLocks noChangeAspect="1"/>
          </p:cNvPicPr>
          <p:nvPr/>
        </p:nvPicPr>
        <p:blipFill>
          <a:blip r:embed="rId6"/>
          <a:stretch>
            <a:fillRect/>
          </a:stretch>
        </p:blipFill>
        <p:spPr>
          <a:xfrm>
            <a:off x="8085237" y="6521232"/>
            <a:ext cx="296942" cy="371118"/>
          </a:xfrm>
          <a:prstGeom prst="rect">
            <a:avLst/>
          </a:prstGeom>
        </p:spPr>
      </p:pic>
      <p:sp>
        <p:nvSpPr>
          <p:cNvPr id="17" name="Text 9"/>
          <p:cNvSpPr/>
          <p:nvPr/>
        </p:nvSpPr>
        <p:spPr>
          <a:xfrm>
            <a:off x="1510903" y="6241852"/>
            <a:ext cx="3224093"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依存症状の「成長」への誤認</a:t>
            </a:r>
            <a:endParaRPr lang="en-US" sz="1950" dirty="0"/>
          </a:p>
        </p:txBody>
      </p:sp>
      <p:sp>
        <p:nvSpPr>
          <p:cNvPr id="18" name="Text 10"/>
          <p:cNvSpPr/>
          <p:nvPr/>
        </p:nvSpPr>
        <p:spPr>
          <a:xfrm>
            <a:off x="793790" y="6671072"/>
            <a:ext cx="3941207" cy="317540"/>
          </a:xfrm>
          <a:prstGeom prst="rect">
            <a:avLst/>
          </a:prstGeom>
          <a:noFill/>
          <a:ln/>
        </p:spPr>
        <p:txBody>
          <a:bodyPr wrap="none" lIns="0" tIns="0" rIns="0" bIns="0" rtlCol="0" anchor="t"/>
          <a:lstStyle/>
          <a:p>
            <a:pPr algn="r"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依存深化を「AI活用能力の向上」と評価</a:t>
            </a:r>
            <a:endParaRPr lang="en-US" sz="1550" dirty="0"/>
          </a:p>
        </p:txBody>
      </p:sp>
      <p:pic>
        <p:nvPicPr>
          <p:cNvPr id="19" name="Image 6" descr="preencoded.png">    </p:cNvPr>
          <p:cNvPicPr>
            <a:picLocks noChangeAspect="1"/>
          </p:cNvPicPr>
          <p:nvPr/>
        </p:nvPicPr>
        <p:blipFill>
          <a:blip r:embed="rId7"/>
          <a:stretch>
            <a:fillRect/>
          </a:stretch>
        </p:blipFill>
        <p:spPr>
          <a:xfrm>
            <a:off x="5032653" y="3117175"/>
            <a:ext cx="4564975" cy="4564975"/>
          </a:xfrm>
          <a:prstGeom prst="rect">
            <a:avLst/>
          </a:prstGeom>
        </p:spPr>
      </p:pic>
      <p:pic>
        <p:nvPicPr>
          <p:cNvPr id="20" name="Image 7" descr="preencoded.png">    </p:cNvPr>
          <p:cNvPicPr>
            <a:picLocks noChangeAspect="1"/>
          </p:cNvPicPr>
          <p:nvPr/>
        </p:nvPicPr>
        <p:blipFill>
          <a:blip r:embed="rId8"/>
          <a:stretch>
            <a:fillRect/>
          </a:stretch>
        </p:blipFill>
        <p:spPr>
          <a:xfrm>
            <a:off x="5859363" y="6132731"/>
            <a:ext cx="296942" cy="37111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547688"/>
            <a:ext cx="6449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自己効力感の錯覚メカニズム</a:t>
            </a:r>
            <a:endParaRPr lang="en-US" sz="3900" dirty="0"/>
          </a:p>
        </p:txBody>
      </p:sp>
      <p:pic>
        <p:nvPicPr>
          <p:cNvPr id="4" name="Image 1" descr="preencoded.png">    </p:cNvPr>
          <p:cNvPicPr>
            <a:picLocks noChangeAspect="1"/>
          </p:cNvPicPr>
          <p:nvPr/>
        </p:nvPicPr>
        <p:blipFill>
          <a:blip r:embed="rId2"/>
          <a:stretch>
            <a:fillRect/>
          </a:stretch>
        </p:blipFill>
        <p:spPr>
          <a:xfrm>
            <a:off x="793790" y="1465421"/>
            <a:ext cx="595313" cy="1143000"/>
          </a:xfrm>
          <a:prstGeom prst="rect">
            <a:avLst/>
          </a:prstGeom>
        </p:spPr>
      </p:pic>
      <p:sp>
        <p:nvSpPr>
          <p:cNvPr id="5" name="Text 1"/>
          <p:cNvSpPr/>
          <p:nvPr/>
        </p:nvSpPr>
        <p:spPr>
          <a:xfrm>
            <a:off x="1587460" y="166377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表面的成果の創出</a:t>
            </a:r>
            <a:endParaRPr lang="en-US" sz="1950" dirty="0"/>
          </a:p>
        </p:txBody>
      </p:sp>
      <p:sp>
        <p:nvSpPr>
          <p:cNvPr id="6" name="Text 2"/>
          <p:cNvSpPr/>
          <p:nvPr/>
        </p:nvSpPr>
        <p:spPr>
          <a:xfrm>
            <a:off x="1587460" y="2093000"/>
            <a:ext cx="676275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AI使用により表面的に「高品質」な成果物が作成される</a:t>
            </a:r>
            <a:endParaRPr lang="en-US" sz="1550" dirty="0"/>
          </a:p>
        </p:txBody>
      </p:sp>
      <p:pic>
        <p:nvPicPr>
          <p:cNvPr id="7" name="Image 2" descr="preencoded.png">    </p:cNvPr>
          <p:cNvPicPr>
            <a:picLocks noChangeAspect="1"/>
          </p:cNvPicPr>
          <p:nvPr/>
        </p:nvPicPr>
        <p:blipFill>
          <a:blip r:embed="rId3"/>
          <a:stretch>
            <a:fillRect/>
          </a:stretch>
        </p:blipFill>
        <p:spPr>
          <a:xfrm>
            <a:off x="1091446" y="2854523"/>
            <a:ext cx="595313" cy="1143000"/>
          </a:xfrm>
          <a:prstGeom prst="rect">
            <a:avLst/>
          </a:prstGeom>
        </p:spPr>
      </p:pic>
      <p:sp>
        <p:nvSpPr>
          <p:cNvPr id="8" name="Text 3"/>
          <p:cNvSpPr/>
          <p:nvPr/>
        </p:nvSpPr>
        <p:spPr>
          <a:xfrm>
            <a:off x="1885117" y="3052882"/>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教師による評価・称賛</a:t>
            </a:r>
            <a:endParaRPr lang="en-US" sz="1950" dirty="0"/>
          </a:p>
        </p:txBody>
      </p:sp>
      <p:sp>
        <p:nvSpPr>
          <p:cNvPr id="9" name="Text 4"/>
          <p:cNvSpPr/>
          <p:nvPr/>
        </p:nvSpPr>
        <p:spPr>
          <a:xfrm>
            <a:off x="1885117" y="3482102"/>
            <a:ext cx="646509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教師がその成果を評価・称賛する</a:t>
            </a:r>
            <a:endParaRPr lang="en-US" sz="1550" dirty="0"/>
          </a:p>
        </p:txBody>
      </p:sp>
      <p:pic>
        <p:nvPicPr>
          <p:cNvPr id="10" name="Image 3" descr="preencoded.png">    </p:cNvPr>
          <p:cNvPicPr>
            <a:picLocks noChangeAspect="1"/>
          </p:cNvPicPr>
          <p:nvPr/>
        </p:nvPicPr>
        <p:blipFill>
          <a:blip r:embed="rId4"/>
          <a:stretch>
            <a:fillRect/>
          </a:stretch>
        </p:blipFill>
        <p:spPr>
          <a:xfrm>
            <a:off x="1389102" y="4243626"/>
            <a:ext cx="595313" cy="1143000"/>
          </a:xfrm>
          <a:prstGeom prst="rect">
            <a:avLst/>
          </a:prstGeom>
        </p:spPr>
      </p:pic>
      <p:sp>
        <p:nvSpPr>
          <p:cNvPr id="11" name="Text 5"/>
          <p:cNvSpPr/>
          <p:nvPr/>
        </p:nvSpPr>
        <p:spPr>
          <a:xfrm>
            <a:off x="2182773" y="44419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能力向上の錯覚</a:t>
            </a:r>
            <a:endParaRPr lang="en-US" sz="1950" dirty="0"/>
          </a:p>
        </p:txBody>
      </p:sp>
      <p:sp>
        <p:nvSpPr>
          <p:cNvPr id="12" name="Text 6"/>
          <p:cNvSpPr/>
          <p:nvPr/>
        </p:nvSpPr>
        <p:spPr>
          <a:xfrm>
            <a:off x="2182773" y="4871204"/>
            <a:ext cx="6167437"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学習者が「自分の能力が向上した」と錯覚する</a:t>
            </a:r>
            <a:endParaRPr lang="en-US" sz="1550" dirty="0"/>
          </a:p>
        </p:txBody>
      </p:sp>
      <p:pic>
        <p:nvPicPr>
          <p:cNvPr id="13" name="Image 4" descr="preencoded.png">    </p:cNvPr>
          <p:cNvPicPr>
            <a:picLocks noChangeAspect="1"/>
          </p:cNvPicPr>
          <p:nvPr/>
        </p:nvPicPr>
        <p:blipFill>
          <a:blip r:embed="rId5"/>
          <a:stretch>
            <a:fillRect/>
          </a:stretch>
        </p:blipFill>
        <p:spPr>
          <a:xfrm>
            <a:off x="1686878" y="5632728"/>
            <a:ext cx="595313" cy="1143000"/>
          </a:xfrm>
          <a:prstGeom prst="rect">
            <a:avLst/>
          </a:prstGeom>
        </p:spPr>
      </p:pic>
      <p:sp>
        <p:nvSpPr>
          <p:cNvPr id="14" name="Text 7"/>
          <p:cNvSpPr/>
          <p:nvPr/>
        </p:nvSpPr>
        <p:spPr>
          <a:xfrm>
            <a:off x="2480548" y="5831086"/>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依存の深化</a:t>
            </a:r>
            <a:endParaRPr lang="en-US" sz="1950" dirty="0"/>
          </a:p>
        </p:txBody>
      </p:sp>
      <p:sp>
        <p:nvSpPr>
          <p:cNvPr id="15" name="Text 8"/>
          <p:cNvSpPr/>
          <p:nvPr/>
        </p:nvSpPr>
        <p:spPr>
          <a:xfrm>
            <a:off x="2480548" y="6260306"/>
            <a:ext cx="586966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実際の自力能力は低下しているため、AI依存がさらに深化する</a:t>
            </a:r>
            <a:endParaRPr lang="en-US" sz="1550" dirty="0"/>
          </a:p>
        </p:txBody>
      </p:sp>
      <p:sp>
        <p:nvSpPr>
          <p:cNvPr id="16" name="Text 9"/>
          <p:cNvSpPr/>
          <p:nvPr/>
        </p:nvSpPr>
        <p:spPr>
          <a:xfrm>
            <a:off x="793790" y="7046714"/>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この錯覚メカニズムにより、学習者は自分の認知能力劣化に気づくことなく、依存を深めていくのです。</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463754"/>
            <a:ext cx="6449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「困難回避」学習文化の定着</a:t>
            </a:r>
            <a:endParaRPr lang="en-US" sz="3900" dirty="0"/>
          </a:p>
        </p:txBody>
      </p:sp>
      <p:sp>
        <p:nvSpPr>
          <p:cNvPr id="4" name="Text 1"/>
          <p:cNvSpPr/>
          <p:nvPr/>
        </p:nvSpPr>
        <p:spPr>
          <a:xfrm>
            <a:off x="793790" y="2381488"/>
            <a:ext cx="75564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現在の教育現場では、</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困難や認知負荷を積極的に回避する文化</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が定着しつつあります。これは、第2章で見た認知負債理論と真逆の方向性です。</a:t>
            </a:r>
            <a:endParaRPr lang="en-US" sz="1550" dirty="0"/>
          </a:p>
        </p:txBody>
      </p:sp>
      <p:sp>
        <p:nvSpPr>
          <p:cNvPr id="5" name="Shape 2"/>
          <p:cNvSpPr/>
          <p:nvPr/>
        </p:nvSpPr>
        <p:spPr>
          <a:xfrm>
            <a:off x="793790" y="3239810"/>
            <a:ext cx="7556421" cy="2350056"/>
          </a:xfrm>
          <a:prstGeom prst="roundRect">
            <a:avLst>
              <a:gd name="adj" fmla="val 4669"/>
            </a:avLst>
          </a:prstGeom>
          <a:solidFill>
            <a:srgbClr val="FFFFFF"/>
          </a:solidFill>
          <a:ln w="22860">
            <a:solidFill>
              <a:srgbClr val="D8D4D4"/>
            </a:solidFill>
            <a:prstDash val="solid"/>
          </a:ln>
        </p:spPr>
      </p:sp>
      <p:sp>
        <p:nvSpPr>
          <p:cNvPr id="6" name="Shape 3"/>
          <p:cNvSpPr/>
          <p:nvPr/>
        </p:nvSpPr>
        <p:spPr>
          <a:xfrm>
            <a:off x="770930" y="3239810"/>
            <a:ext cx="91440" cy="2350056"/>
          </a:xfrm>
          <a:prstGeom prst="roundRect">
            <a:avLst>
              <a:gd name="adj" fmla="val 32558"/>
            </a:avLst>
          </a:prstGeom>
          <a:solidFill>
            <a:srgbClr val="1C9770"/>
          </a:solidFill>
          <a:ln/>
        </p:spPr>
      </p:sp>
      <p:sp>
        <p:nvSpPr>
          <p:cNvPr id="7" name="Text 4"/>
          <p:cNvSpPr/>
          <p:nvPr/>
        </p:nvSpPr>
        <p:spPr>
          <a:xfrm>
            <a:off x="1083588" y="3461028"/>
            <a:ext cx="2976086"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困難回避文化の具体的特徴</a:t>
            </a:r>
            <a:endParaRPr lang="en-US" sz="1950" dirty="0"/>
          </a:p>
        </p:txBody>
      </p:sp>
      <p:sp>
        <p:nvSpPr>
          <p:cNvPr id="8" name="Text 5"/>
          <p:cNvSpPr/>
          <p:nvPr/>
        </p:nvSpPr>
        <p:spPr>
          <a:xfrm>
            <a:off x="1083588" y="3890248"/>
            <a:ext cx="704540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分からない問題に出会うとすぐにAIに質問</a:t>
            </a:r>
            <a:endParaRPr lang="en-US" sz="1550" dirty="0"/>
          </a:p>
        </p:txBody>
      </p:sp>
      <p:sp>
        <p:nvSpPr>
          <p:cNvPr id="9" name="Text 6"/>
          <p:cNvSpPr/>
          <p:nvPr/>
        </p:nvSpPr>
        <p:spPr>
          <a:xfrm>
            <a:off x="1083588" y="4277201"/>
            <a:ext cx="704540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自分で考える時間を「無駄な時間」として認識</a:t>
            </a:r>
            <a:endParaRPr lang="en-US" sz="1550" dirty="0"/>
          </a:p>
        </p:txBody>
      </p:sp>
      <p:sp>
        <p:nvSpPr>
          <p:cNvPr id="10" name="Text 7"/>
          <p:cNvSpPr/>
          <p:nvPr/>
        </p:nvSpPr>
        <p:spPr>
          <a:xfrm>
            <a:off x="1083588" y="4664154"/>
            <a:ext cx="704540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試行錯誤を「非効率的」として忌避</a:t>
            </a:r>
            <a:endParaRPr lang="en-US" sz="1550" dirty="0"/>
          </a:p>
        </p:txBody>
      </p:sp>
      <p:sp>
        <p:nvSpPr>
          <p:cNvPr id="11" name="Text 8"/>
          <p:cNvSpPr/>
          <p:nvPr/>
        </p:nvSpPr>
        <p:spPr>
          <a:xfrm>
            <a:off x="1083588" y="5051108"/>
            <a:ext cx="704540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即座の正解取得を「優秀さ」として認識</a:t>
            </a:r>
            <a:endParaRPr lang="en-US" sz="1550" dirty="0"/>
          </a:p>
        </p:txBody>
      </p:sp>
      <p:sp>
        <p:nvSpPr>
          <p:cNvPr id="12" name="Text 9"/>
          <p:cNvSpPr/>
          <p:nvPr/>
        </p:nvSpPr>
        <p:spPr>
          <a:xfrm>
            <a:off x="793790" y="581310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しかし、認知科学の知見では、</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適切な困難さと認知負荷こそが脳の発達を促進する</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ことが明らかになっています。困難回避文化は、まさに脳の発達機会を組織的に奪っているのです。</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741402"/>
            <a:ext cx="6449854"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思考プロセスの外部委託習慣</a:t>
            </a:r>
            <a:endParaRPr lang="en-US" sz="3900" dirty="0"/>
          </a:p>
        </p:txBody>
      </p:sp>
      <p:sp>
        <p:nvSpPr>
          <p:cNvPr id="3" name="Shape 1"/>
          <p:cNvSpPr/>
          <p:nvPr/>
        </p:nvSpPr>
        <p:spPr>
          <a:xfrm>
            <a:off x="793790" y="1758315"/>
            <a:ext cx="1630323" cy="1143476"/>
          </a:xfrm>
          <a:prstGeom prst="roundRect">
            <a:avLst>
              <a:gd name="adj" fmla="val 2604"/>
            </a:avLst>
          </a:prstGeom>
          <a:solidFill>
            <a:srgbClr val="F2EEEE"/>
          </a:solidFill>
          <a:ln/>
        </p:spPr>
      </p:sp>
      <p:pic>
        <p:nvPicPr>
          <p:cNvPr id="4" name="Image 0" descr="preencoded.png">    </p:cNvPr>
          <p:cNvPicPr>
            <a:picLocks noChangeAspect="1"/>
          </p:cNvPicPr>
          <p:nvPr/>
        </p:nvPicPr>
        <p:blipFill>
          <a:blip r:embed="rId1"/>
          <a:stretch>
            <a:fillRect/>
          </a:stretch>
        </p:blipFill>
        <p:spPr>
          <a:xfrm>
            <a:off x="1469350" y="2155627"/>
            <a:ext cx="279083" cy="348853"/>
          </a:xfrm>
          <a:prstGeom prst="rect">
            <a:avLst/>
          </a:prstGeom>
        </p:spPr>
      </p:pic>
      <p:sp>
        <p:nvSpPr>
          <p:cNvPr id="5" name="Text 2"/>
          <p:cNvSpPr/>
          <p:nvPr/>
        </p:nvSpPr>
        <p:spPr>
          <a:xfrm>
            <a:off x="2622471" y="1956673"/>
            <a:ext cx="2814399"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第1段階：情報収集の委託</a:t>
            </a:r>
            <a:endParaRPr lang="en-US" sz="1950" dirty="0"/>
          </a:p>
        </p:txBody>
      </p:sp>
      <p:sp>
        <p:nvSpPr>
          <p:cNvPr id="6" name="Text 3"/>
          <p:cNvSpPr/>
          <p:nvPr/>
        </p:nvSpPr>
        <p:spPr>
          <a:xfrm>
            <a:off x="2622471" y="2385893"/>
            <a:ext cx="5947172"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「調べる」プロセスをAIに委託。検索・比較・整理能力の退化開始</a:t>
            </a:r>
            <a:endParaRPr lang="en-US" sz="1550" dirty="0"/>
          </a:p>
        </p:txBody>
      </p:sp>
      <p:sp>
        <p:nvSpPr>
          <p:cNvPr id="7" name="Shape 4"/>
          <p:cNvSpPr/>
          <p:nvPr/>
        </p:nvSpPr>
        <p:spPr>
          <a:xfrm>
            <a:off x="2523292" y="2892266"/>
            <a:ext cx="11214140" cy="11430"/>
          </a:xfrm>
          <a:prstGeom prst="roundRect">
            <a:avLst>
              <a:gd name="adj" fmla="val 260465"/>
            </a:avLst>
          </a:prstGeom>
          <a:solidFill>
            <a:srgbClr val="D8D4D4"/>
          </a:solidFill>
          <a:ln/>
        </p:spPr>
      </p:sp>
      <p:sp>
        <p:nvSpPr>
          <p:cNvPr id="8" name="Shape 5"/>
          <p:cNvSpPr/>
          <p:nvPr/>
        </p:nvSpPr>
        <p:spPr>
          <a:xfrm>
            <a:off x="793790" y="3000970"/>
            <a:ext cx="3260646" cy="1143476"/>
          </a:xfrm>
          <a:prstGeom prst="roundRect">
            <a:avLst>
              <a:gd name="adj" fmla="val 2604"/>
            </a:avLst>
          </a:prstGeom>
          <a:solidFill>
            <a:srgbClr val="F2EEEE"/>
          </a:solidFill>
          <a:ln/>
        </p:spPr>
      </p:sp>
      <p:pic>
        <p:nvPicPr>
          <p:cNvPr id="9" name="Image 1" descr="preencoded.png">    </p:cNvPr>
          <p:cNvPicPr>
            <a:picLocks noChangeAspect="1"/>
          </p:cNvPicPr>
          <p:nvPr/>
        </p:nvPicPr>
        <p:blipFill>
          <a:blip r:embed="rId2"/>
          <a:stretch>
            <a:fillRect/>
          </a:stretch>
        </p:blipFill>
        <p:spPr>
          <a:xfrm>
            <a:off x="2284571" y="3398282"/>
            <a:ext cx="279083" cy="348853"/>
          </a:xfrm>
          <a:prstGeom prst="rect">
            <a:avLst/>
          </a:prstGeom>
        </p:spPr>
      </p:pic>
      <p:sp>
        <p:nvSpPr>
          <p:cNvPr id="10" name="Text 6"/>
          <p:cNvSpPr/>
          <p:nvPr/>
        </p:nvSpPr>
        <p:spPr>
          <a:xfrm>
            <a:off x="4252793" y="319932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第2段階：分析の委託</a:t>
            </a:r>
            <a:endParaRPr lang="en-US" sz="1950" dirty="0"/>
          </a:p>
        </p:txBody>
      </p:sp>
      <p:sp>
        <p:nvSpPr>
          <p:cNvPr id="11" name="Text 7"/>
          <p:cNvSpPr/>
          <p:nvPr/>
        </p:nvSpPr>
        <p:spPr>
          <a:xfrm>
            <a:off x="4252793" y="3628549"/>
            <a:ext cx="6139577"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「考える」プロセスをAIに委託。批判的思考・論理的推論能力の退化</a:t>
            </a:r>
            <a:endParaRPr lang="en-US" sz="1550" dirty="0"/>
          </a:p>
        </p:txBody>
      </p:sp>
      <p:sp>
        <p:nvSpPr>
          <p:cNvPr id="12" name="Shape 8"/>
          <p:cNvSpPr/>
          <p:nvPr/>
        </p:nvSpPr>
        <p:spPr>
          <a:xfrm>
            <a:off x="4153614" y="4134922"/>
            <a:ext cx="9583817" cy="11430"/>
          </a:xfrm>
          <a:prstGeom prst="roundRect">
            <a:avLst>
              <a:gd name="adj" fmla="val 260465"/>
            </a:avLst>
          </a:prstGeom>
          <a:solidFill>
            <a:srgbClr val="D8D4D4"/>
          </a:solidFill>
          <a:ln/>
        </p:spPr>
      </p:sp>
      <p:sp>
        <p:nvSpPr>
          <p:cNvPr id="13" name="Shape 9"/>
          <p:cNvSpPr/>
          <p:nvPr/>
        </p:nvSpPr>
        <p:spPr>
          <a:xfrm>
            <a:off x="793790" y="4243626"/>
            <a:ext cx="4890968" cy="1143476"/>
          </a:xfrm>
          <a:prstGeom prst="roundRect">
            <a:avLst>
              <a:gd name="adj" fmla="val 2604"/>
            </a:avLst>
          </a:prstGeom>
          <a:solidFill>
            <a:srgbClr val="F2EEEE"/>
          </a:solidFill>
          <a:ln/>
        </p:spPr>
      </p:sp>
      <p:pic>
        <p:nvPicPr>
          <p:cNvPr id="14" name="Image 2" descr="preencoded.png">    </p:cNvPr>
          <p:cNvPicPr>
            <a:picLocks noChangeAspect="1"/>
          </p:cNvPicPr>
          <p:nvPr/>
        </p:nvPicPr>
        <p:blipFill>
          <a:blip r:embed="rId3"/>
          <a:stretch>
            <a:fillRect/>
          </a:stretch>
        </p:blipFill>
        <p:spPr>
          <a:xfrm>
            <a:off x="3099673" y="4640937"/>
            <a:ext cx="279083" cy="348853"/>
          </a:xfrm>
          <a:prstGeom prst="rect">
            <a:avLst/>
          </a:prstGeom>
        </p:spPr>
      </p:pic>
      <p:sp>
        <p:nvSpPr>
          <p:cNvPr id="15" name="Text 10"/>
          <p:cNvSpPr/>
          <p:nvPr/>
        </p:nvSpPr>
        <p:spPr>
          <a:xfrm>
            <a:off x="5883116" y="444198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第3段階：判断の委託</a:t>
            </a:r>
            <a:endParaRPr lang="en-US" sz="1950" dirty="0"/>
          </a:p>
        </p:txBody>
      </p:sp>
      <p:sp>
        <p:nvSpPr>
          <p:cNvPr id="16" name="Text 11"/>
          <p:cNvSpPr/>
          <p:nvPr/>
        </p:nvSpPr>
        <p:spPr>
          <a:xfrm>
            <a:off x="5883116" y="4871204"/>
            <a:ext cx="574881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「決める」プロセスをAIに委託。価値判断・意思決定能力の退化</a:t>
            </a:r>
            <a:endParaRPr lang="en-US" sz="1550" dirty="0"/>
          </a:p>
        </p:txBody>
      </p:sp>
      <p:sp>
        <p:nvSpPr>
          <p:cNvPr id="17" name="Shape 12"/>
          <p:cNvSpPr/>
          <p:nvPr/>
        </p:nvSpPr>
        <p:spPr>
          <a:xfrm>
            <a:off x="5783937" y="5377577"/>
            <a:ext cx="7953494" cy="11430"/>
          </a:xfrm>
          <a:prstGeom prst="roundRect">
            <a:avLst>
              <a:gd name="adj" fmla="val 260465"/>
            </a:avLst>
          </a:prstGeom>
          <a:solidFill>
            <a:srgbClr val="D8D4D4"/>
          </a:solidFill>
          <a:ln/>
        </p:spPr>
      </p:sp>
      <p:sp>
        <p:nvSpPr>
          <p:cNvPr id="18" name="Shape 13"/>
          <p:cNvSpPr/>
          <p:nvPr/>
        </p:nvSpPr>
        <p:spPr>
          <a:xfrm>
            <a:off x="793790" y="5486281"/>
            <a:ext cx="6521410" cy="1143476"/>
          </a:xfrm>
          <a:prstGeom prst="roundRect">
            <a:avLst>
              <a:gd name="adj" fmla="val 2604"/>
            </a:avLst>
          </a:prstGeom>
          <a:solidFill>
            <a:srgbClr val="F2EEEE"/>
          </a:solidFill>
          <a:ln/>
        </p:spPr>
      </p:sp>
      <p:pic>
        <p:nvPicPr>
          <p:cNvPr id="19" name="Image 3" descr="preencoded.png">    </p:cNvPr>
          <p:cNvPicPr>
            <a:picLocks noChangeAspect="1"/>
          </p:cNvPicPr>
          <p:nvPr/>
        </p:nvPicPr>
        <p:blipFill>
          <a:blip r:embed="rId4"/>
          <a:stretch>
            <a:fillRect/>
          </a:stretch>
        </p:blipFill>
        <p:spPr>
          <a:xfrm>
            <a:off x="3914894" y="5883593"/>
            <a:ext cx="279083" cy="348853"/>
          </a:xfrm>
          <a:prstGeom prst="rect">
            <a:avLst/>
          </a:prstGeom>
        </p:spPr>
      </p:pic>
      <p:sp>
        <p:nvSpPr>
          <p:cNvPr id="20" name="Text 14"/>
          <p:cNvSpPr/>
          <p:nvPr/>
        </p:nvSpPr>
        <p:spPr>
          <a:xfrm>
            <a:off x="7513558" y="568463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第4段階：創造の委託</a:t>
            </a:r>
            <a:endParaRPr lang="en-US" sz="1950" dirty="0"/>
          </a:p>
        </p:txBody>
      </p:sp>
      <p:sp>
        <p:nvSpPr>
          <p:cNvPr id="21" name="Text 15"/>
          <p:cNvSpPr/>
          <p:nvPr/>
        </p:nvSpPr>
        <p:spPr>
          <a:xfrm>
            <a:off x="7513558" y="6113859"/>
            <a:ext cx="574881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「生み出す」プロセスをAIに委託。創造性・独創性の根本的消失</a:t>
            </a:r>
            <a:endParaRPr lang="en-US" sz="1550" dirty="0"/>
          </a:p>
        </p:txBody>
      </p:sp>
      <p:sp>
        <p:nvSpPr>
          <p:cNvPr id="22" name="Text 16"/>
          <p:cNvSpPr/>
          <p:nvPr/>
        </p:nvSpPr>
        <p:spPr>
          <a:xfrm>
            <a:off x="793790" y="685299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現在の教育現場では、この委託プロセスが「学習の高度化」として肯定的に捉えられているケースが多く、これが依存症進行を加速させています。</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87956" y="541734"/>
            <a:ext cx="7077194" cy="553998"/>
          </a:xfrm>
          <a:prstGeom prst="rect">
            <a:avLst/>
          </a:prstGeom>
          <a:noFill/>
          <a:ln/>
        </p:spPr>
        <p:txBody>
          <a:bodyPr wrap="none" lIns="0" tIns="0" rIns="0" bIns="0" rtlCol="0" anchor="t"/>
          <a:lstStyle/>
          <a:p>
            <a:pPr algn="l" indent="0" marL="0">
              <a:lnSpc>
                <a:spcPts val="4350"/>
              </a:lnSpc>
              <a:buNone/>
            </a:pPr>
            <a:r>
              <a:rPr lang="en-US" sz="3450" dirty="0">
                <a:solidFill>
                  <a:srgbClr val="030303"/>
                </a:solidFill>
                <a:latin typeface="DM Sans Semi Bold" pitchFamily="34" charset="0"/>
                <a:ea typeface="DM Sans Semi Bold" pitchFamily="34" charset="-122"/>
                <a:cs typeface="DM Sans Semi Bold" pitchFamily="34" charset="-120"/>
              </a:rPr>
              <a:t>システム全体の自己強化メカニズム</a:t>
            </a:r>
            <a:endParaRPr lang="en-US" sz="3450" dirty="0"/>
          </a:p>
        </p:txBody>
      </p:sp>
      <p:sp>
        <p:nvSpPr>
          <p:cNvPr id="3" name="Text 1"/>
          <p:cNvSpPr/>
          <p:nvPr/>
        </p:nvSpPr>
        <p:spPr>
          <a:xfrm>
            <a:off x="787956" y="1361599"/>
            <a:ext cx="7758946" cy="443151"/>
          </a:xfrm>
          <a:prstGeom prst="rect">
            <a:avLst/>
          </a:prstGeom>
          <a:noFill/>
          <a:ln/>
        </p:spPr>
        <p:txBody>
          <a:bodyPr wrap="none" lIns="0" tIns="0" rIns="0" bIns="0" rtlCol="0" anchor="t"/>
          <a:lstStyle/>
          <a:p>
            <a:pPr algn="l" indent="0" marL="0">
              <a:lnSpc>
                <a:spcPts val="3450"/>
              </a:lnSpc>
              <a:buNone/>
            </a:pPr>
            <a:r>
              <a:rPr lang="en-US" sz="2750" dirty="0">
                <a:solidFill>
                  <a:srgbClr val="030303"/>
                </a:solidFill>
                <a:latin typeface="DM Sans Semi Bold" pitchFamily="34" charset="0"/>
                <a:ea typeface="DM Sans Semi Bold" pitchFamily="34" charset="-122"/>
                <a:cs typeface="DM Sans Semi Bold" pitchFamily="34" charset="-120"/>
              </a:rPr>
              <a:t>教育現場での「依存促進フィードバックループ」</a:t>
            </a:r>
            <a:endParaRPr lang="en-US" sz="2750" dirty="0"/>
          </a:p>
        </p:txBody>
      </p:sp>
      <p:sp>
        <p:nvSpPr>
          <p:cNvPr id="4" name="Text 2"/>
          <p:cNvSpPr/>
          <p:nvPr/>
        </p:nvSpPr>
        <p:spPr>
          <a:xfrm>
            <a:off x="787956" y="2070616"/>
            <a:ext cx="13054489" cy="283607"/>
          </a:xfrm>
          <a:prstGeom prst="rect">
            <a:avLst/>
          </a:prstGeom>
          <a:noFill/>
          <a:ln/>
        </p:spPr>
        <p:txBody>
          <a:bodyPr wrap="non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現在の教育システムは、意図せずしてAI依存を強化する</a:t>
            </a:r>
            <a:pPr algn="l" indent="0" marL="0">
              <a:lnSpc>
                <a:spcPts val="2200"/>
              </a:lnSpc>
              <a:buNone/>
            </a:pPr>
            <a:r>
              <a:rPr lang="en-US" sz="1350" dirty="0">
                <a:solidFill>
                  <a:srgbClr val="1C9770"/>
                </a:solidFill>
                <a:latin typeface="Inter Medium" pitchFamily="34" charset="0"/>
                <a:ea typeface="Inter Medium" pitchFamily="34" charset="-122"/>
                <a:cs typeface="Inter Medium" pitchFamily="34" charset="-120"/>
              </a:rPr>
              <a:t>悪循環構造</a:t>
            </a:r>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を内包しています。</a:t>
            </a:r>
            <a:endParaRPr lang="en-US" sz="1350" dirty="0"/>
          </a:p>
        </p:txBody>
      </p:sp>
      <p:pic>
        <p:nvPicPr>
          <p:cNvPr id="5" name="Image 0" descr="preencoded.png">    </p:cNvPr>
          <p:cNvPicPr>
            <a:picLocks noChangeAspect="1"/>
          </p:cNvPicPr>
          <p:nvPr/>
        </p:nvPicPr>
        <p:blipFill>
          <a:blip r:embed="rId1"/>
          <a:stretch>
            <a:fillRect/>
          </a:stretch>
        </p:blipFill>
        <p:spPr>
          <a:xfrm>
            <a:off x="1699379" y="2553652"/>
            <a:ext cx="11231523" cy="4403050"/>
          </a:xfrm>
          <a:prstGeom prst="rect">
            <a:avLst/>
          </a:prstGeom>
        </p:spPr>
      </p:pic>
      <p:sp>
        <p:nvSpPr>
          <p:cNvPr id="6" name="Text 3"/>
          <p:cNvSpPr/>
          <p:nvPr/>
        </p:nvSpPr>
        <p:spPr>
          <a:xfrm>
            <a:off x="1968258" y="2769587"/>
            <a:ext cx="2056030" cy="330434"/>
          </a:xfrm>
          <a:prstGeom prst="rect">
            <a:avLst/>
          </a:prstGeom>
          <a:noFill/>
          <a:ln/>
        </p:spPr>
        <p:txBody>
          <a:bodyPr wrap="none" lIns="0" tIns="0" rIns="0" bIns="0" rtlCol="0" anchor="t"/>
          <a:lstStyle/>
          <a:p>
            <a:pPr algn="r" indent="0" marL="0">
              <a:lnSpc>
                <a:spcPts val="1650"/>
              </a:lnSpc>
              <a:buNone/>
            </a:pPr>
            <a:r>
              <a:rPr lang="en-US" sz="1350" dirty="0">
                <a:solidFill>
                  <a:srgbClr val="030303"/>
                </a:solidFill>
                <a:latin typeface="DM Sans Semi Bold" pitchFamily="34" charset="0"/>
                <a:ea typeface="DM Sans Semi Bold" pitchFamily="34" charset="-122"/>
                <a:cs typeface="DM Sans Semi Bold" pitchFamily="34" charset="-120"/>
              </a:rPr>
              <a:t>教師のAI推奨</a:t>
            </a:r>
            <a:endParaRPr lang="en-US" sz="1350" dirty="0"/>
          </a:p>
        </p:txBody>
      </p:sp>
      <p:sp>
        <p:nvSpPr>
          <p:cNvPr id="7" name="Text 4"/>
          <p:cNvSpPr/>
          <p:nvPr/>
        </p:nvSpPr>
        <p:spPr>
          <a:xfrm>
            <a:off x="10605789" y="2769587"/>
            <a:ext cx="2056030" cy="660867"/>
          </a:xfrm>
          <a:prstGeom prst="rect">
            <a:avLst/>
          </a:prstGeom>
          <a:noFill/>
          <a:ln/>
        </p:spPr>
        <p:txBody>
          <a:bodyPr wrap="square" lIns="0" tIns="0" rIns="0" bIns="0" rtlCol="0" anchor="t"/>
          <a:lstStyle/>
          <a:p>
            <a:pPr algn="l" indent="0" marL="0">
              <a:lnSpc>
                <a:spcPts val="1650"/>
              </a:lnSpc>
              <a:buNone/>
            </a:pPr>
            <a:r>
              <a:rPr lang="en-US" sz="1350" dirty="0">
                <a:solidFill>
                  <a:srgbClr val="030303"/>
                </a:solidFill>
                <a:latin typeface="DM Sans Semi Bold" pitchFamily="34" charset="0"/>
                <a:ea typeface="DM Sans Semi Bold" pitchFamily="34" charset="-122"/>
                <a:cs typeface="DM Sans Semi Bold" pitchFamily="34" charset="-120"/>
              </a:rPr>
              <a:t>学習者の依存形成</a:t>
            </a:r>
            <a:endParaRPr lang="en-US" sz="1350" dirty="0"/>
          </a:p>
        </p:txBody>
      </p:sp>
      <p:sp>
        <p:nvSpPr>
          <p:cNvPr id="8" name="Text 5"/>
          <p:cNvSpPr/>
          <p:nvPr/>
        </p:nvSpPr>
        <p:spPr>
          <a:xfrm>
            <a:off x="10605789" y="6410230"/>
            <a:ext cx="2056030" cy="330433"/>
          </a:xfrm>
          <a:prstGeom prst="rect">
            <a:avLst/>
          </a:prstGeom>
          <a:noFill/>
          <a:ln/>
        </p:spPr>
        <p:txBody>
          <a:bodyPr wrap="none" lIns="0" tIns="0" rIns="0" bIns="0" rtlCol="0" anchor="t"/>
          <a:lstStyle/>
          <a:p>
            <a:pPr algn="l" indent="0" marL="0">
              <a:lnSpc>
                <a:spcPts val="1650"/>
              </a:lnSpc>
              <a:buNone/>
            </a:pPr>
            <a:r>
              <a:rPr lang="en-US" sz="1350" dirty="0">
                <a:solidFill>
                  <a:srgbClr val="030303"/>
                </a:solidFill>
                <a:latin typeface="DM Sans Semi Bold" pitchFamily="34" charset="0"/>
                <a:ea typeface="DM Sans Semi Bold" pitchFamily="34" charset="-122"/>
                <a:cs typeface="DM Sans Semi Bold" pitchFamily="34" charset="-120"/>
              </a:rPr>
              <a:t>表面的成果向上</a:t>
            </a:r>
            <a:endParaRPr lang="en-US" sz="1350" dirty="0"/>
          </a:p>
        </p:txBody>
      </p:sp>
      <p:sp>
        <p:nvSpPr>
          <p:cNvPr id="9" name="Text 6"/>
          <p:cNvSpPr/>
          <p:nvPr/>
        </p:nvSpPr>
        <p:spPr>
          <a:xfrm>
            <a:off x="1968258" y="6410230"/>
            <a:ext cx="2056030" cy="330433"/>
          </a:xfrm>
          <a:prstGeom prst="rect">
            <a:avLst/>
          </a:prstGeom>
          <a:noFill/>
          <a:ln/>
        </p:spPr>
        <p:txBody>
          <a:bodyPr wrap="none" lIns="0" tIns="0" rIns="0" bIns="0" rtlCol="0" anchor="t"/>
          <a:lstStyle/>
          <a:p>
            <a:pPr algn="r" indent="0" marL="0">
              <a:lnSpc>
                <a:spcPts val="1650"/>
              </a:lnSpc>
              <a:buNone/>
            </a:pPr>
            <a:r>
              <a:rPr lang="en-US" sz="1350" dirty="0">
                <a:solidFill>
                  <a:srgbClr val="030303"/>
                </a:solidFill>
                <a:latin typeface="DM Sans Semi Bold" pitchFamily="34" charset="0"/>
                <a:ea typeface="DM Sans Semi Bold" pitchFamily="34" charset="-122"/>
                <a:cs typeface="DM Sans Semi Bold" pitchFamily="34" charset="-120"/>
              </a:rPr>
              <a:t>自力能力低下</a:t>
            </a:r>
            <a:endParaRPr lang="en-US" sz="1350" dirty="0"/>
          </a:p>
        </p:txBody>
      </p:sp>
      <p:sp>
        <p:nvSpPr>
          <p:cNvPr id="10" name="Text 7"/>
          <p:cNvSpPr/>
          <p:nvPr/>
        </p:nvSpPr>
        <p:spPr>
          <a:xfrm>
            <a:off x="787956" y="7156133"/>
            <a:ext cx="13054489" cy="567214"/>
          </a:xfrm>
          <a:prstGeom prst="rect">
            <a:avLst/>
          </a:prstGeom>
          <a:noFill/>
          <a:ln/>
        </p:spPr>
        <p:txBody>
          <a:bodyPr wrap="square" lIns="0" tIns="0" rIns="0" bIns="0" rtlCol="0" anchor="t"/>
          <a:lstStyle/>
          <a:p>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この循環構造において、</a:t>
            </a:r>
            <a:pPr algn="l" indent="0" marL="0">
              <a:lnSpc>
                <a:spcPts val="2200"/>
              </a:lnSpc>
              <a:buNone/>
            </a:pPr>
            <a:r>
              <a:rPr lang="en-US" sz="1350" dirty="0">
                <a:solidFill>
                  <a:srgbClr val="1C9770"/>
                </a:solidFill>
                <a:latin typeface="Inter Medium" pitchFamily="34" charset="0"/>
                <a:ea typeface="Inter Medium" pitchFamily="34" charset="-122"/>
                <a:cs typeface="Inter Medium" pitchFamily="34" charset="-120"/>
              </a:rPr>
              <a:t>誰も依存症の進行に気づかない</a:t>
            </a:r>
            <a:pPr algn="l" indent="0" marL="0">
              <a:lnSpc>
                <a:spcPts val="2200"/>
              </a:lnSpc>
              <a:buNone/>
            </a:pPr>
            <a:r>
              <a:rPr lang="en-US" sz="1350" dirty="0">
                <a:solidFill>
                  <a:srgbClr val="464646"/>
                </a:solidFill>
                <a:latin typeface="Inter Medium" pitchFamily="34" charset="0"/>
                <a:ea typeface="Inter Medium" pitchFamily="34" charset="-122"/>
                <a:cs typeface="Inter Medium" pitchFamily="34" charset="-120"/>
              </a:rPr>
              <a:t>ことが最も危険な特徴です。全員が「改善」「効率化」「成長」という肯定的な枠組みで現象を解釈しているためです。</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867847"/>
            <a:ext cx="9411772"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制度的盲点としての「成功評価バイアス」</a:t>
            </a:r>
            <a:endParaRPr lang="en-US" sz="3900" dirty="0"/>
          </a:p>
        </p:txBody>
      </p:sp>
      <p:sp>
        <p:nvSpPr>
          <p:cNvPr id="3" name="Shape 1"/>
          <p:cNvSpPr/>
          <p:nvPr/>
        </p:nvSpPr>
        <p:spPr>
          <a:xfrm>
            <a:off x="7303770" y="1884759"/>
            <a:ext cx="22860" cy="4618553"/>
          </a:xfrm>
          <a:prstGeom prst="roundRect">
            <a:avLst>
              <a:gd name="adj" fmla="val 130232"/>
            </a:avLst>
          </a:prstGeom>
          <a:solidFill>
            <a:srgbClr val="D8D4D4"/>
          </a:solidFill>
          <a:ln/>
        </p:spPr>
      </p:sp>
      <p:sp>
        <p:nvSpPr>
          <p:cNvPr id="4" name="Shape 2"/>
          <p:cNvSpPr/>
          <p:nvPr/>
        </p:nvSpPr>
        <p:spPr>
          <a:xfrm>
            <a:off x="770930" y="1884759"/>
            <a:ext cx="6521410" cy="2304336"/>
          </a:xfrm>
          <a:prstGeom prst="roundRect">
            <a:avLst>
              <a:gd name="adj" fmla="val 1292"/>
            </a:avLst>
          </a:prstGeom>
          <a:solidFill>
            <a:srgbClr val="F2EEEE"/>
          </a:solidFill>
          <a:ln/>
        </p:spPr>
      </p:sp>
      <p:sp>
        <p:nvSpPr>
          <p:cNvPr id="5" name="Text 3"/>
          <p:cNvSpPr/>
          <p:nvPr/>
        </p:nvSpPr>
        <p:spPr>
          <a:xfrm>
            <a:off x="3869888" y="2083118"/>
            <a:ext cx="3224093" cy="310158"/>
          </a:xfrm>
          <a:prstGeom prst="rect">
            <a:avLst/>
          </a:prstGeom>
          <a:noFill/>
          <a:ln/>
        </p:spPr>
        <p:txBody>
          <a:bodyPr wrap="none" lIns="0" tIns="0" rIns="0" bIns="0" rtlCol="0" anchor="t"/>
          <a:lstStyle/>
          <a:p>
            <a:pPr algn="r"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バイアスの具体的メカニズム</a:t>
            </a:r>
            <a:endParaRPr lang="en-US" sz="1950" dirty="0"/>
          </a:p>
        </p:txBody>
      </p:sp>
      <p:sp>
        <p:nvSpPr>
          <p:cNvPr id="6" name="Text 4"/>
          <p:cNvSpPr/>
          <p:nvPr/>
        </p:nvSpPr>
        <p:spPr>
          <a:xfrm>
            <a:off x="969288" y="2512338"/>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即座の改善に注目：「今日うまくいった」ことを重視</a:t>
            </a:r>
            <a:endParaRPr lang="en-US" sz="1550" dirty="0"/>
          </a:p>
        </p:txBody>
      </p:sp>
      <p:sp>
        <p:nvSpPr>
          <p:cNvPr id="7" name="Text 5"/>
          <p:cNvSpPr/>
          <p:nvPr/>
        </p:nvSpPr>
        <p:spPr>
          <a:xfrm>
            <a:off x="969288" y="2899291"/>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長期劣化の無視：数ヶ月後の変化を追跡しない</a:t>
            </a:r>
            <a:endParaRPr lang="en-US" sz="1550" dirty="0"/>
          </a:p>
        </p:txBody>
      </p:sp>
      <p:sp>
        <p:nvSpPr>
          <p:cNvPr id="8" name="Text 6"/>
          <p:cNvSpPr/>
          <p:nvPr/>
        </p:nvSpPr>
        <p:spPr>
          <a:xfrm>
            <a:off x="969288" y="3286244"/>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表面指標への偏重：見た目の品質向上のみを評価</a:t>
            </a:r>
            <a:endParaRPr lang="en-US" sz="1550" dirty="0"/>
          </a:p>
        </p:txBody>
      </p:sp>
      <p:sp>
        <p:nvSpPr>
          <p:cNvPr id="9" name="Text 7"/>
          <p:cNvSpPr/>
          <p:nvPr/>
        </p:nvSpPr>
        <p:spPr>
          <a:xfrm>
            <a:off x="969288" y="3673197"/>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根本能力の軽視：基礎的思考能力の変化を測定しない</a:t>
            </a:r>
            <a:endParaRPr lang="en-US" sz="1550" dirty="0"/>
          </a:p>
        </p:txBody>
      </p:sp>
      <p:sp>
        <p:nvSpPr>
          <p:cNvPr id="10" name="Shape 8"/>
          <p:cNvSpPr/>
          <p:nvPr/>
        </p:nvSpPr>
        <p:spPr>
          <a:xfrm>
            <a:off x="7338060" y="4585930"/>
            <a:ext cx="6521410" cy="1917383"/>
          </a:xfrm>
          <a:prstGeom prst="rect">
            <a:avLst/>
          </a:prstGeom>
          <a:solidFill>
            <a:srgbClr val="F2EEEE"/>
          </a:solidFill>
          <a:ln/>
        </p:spPr>
      </p:sp>
      <p:sp>
        <p:nvSpPr>
          <p:cNvPr id="11" name="Text 9"/>
          <p:cNvSpPr/>
          <p:nvPr/>
        </p:nvSpPr>
        <p:spPr>
          <a:xfrm>
            <a:off x="7536418" y="478428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責任回避の論理構造</a:t>
            </a:r>
            <a:endParaRPr lang="en-US" sz="1950" dirty="0"/>
          </a:p>
        </p:txBody>
      </p:sp>
      <p:sp>
        <p:nvSpPr>
          <p:cNvPr id="12" name="Text 10"/>
          <p:cNvSpPr/>
          <p:nvPr/>
        </p:nvSpPr>
        <p:spPr>
          <a:xfrm>
            <a:off x="7536418" y="5213509"/>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「学習者それぞれのペースで」→ 依存症状への介入回避</a:t>
            </a:r>
            <a:endParaRPr lang="en-US" sz="1550" dirty="0"/>
          </a:p>
        </p:txBody>
      </p:sp>
      <p:sp>
        <p:nvSpPr>
          <p:cNvPr id="13" name="Text 11"/>
          <p:cNvSpPr/>
          <p:nvPr/>
        </p:nvSpPr>
        <p:spPr>
          <a:xfrm>
            <a:off x="7536418" y="5600462"/>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「多様な学習方法を尊重」→ 依存的学習方法の容認</a:t>
            </a:r>
            <a:endParaRPr lang="en-US" sz="1550" dirty="0"/>
          </a:p>
        </p:txBody>
      </p:sp>
      <p:sp>
        <p:nvSpPr>
          <p:cNvPr id="14" name="Text 12"/>
          <p:cNvSpPr/>
          <p:nvPr/>
        </p:nvSpPr>
        <p:spPr>
          <a:xfrm>
            <a:off x="7536418" y="5987415"/>
            <a:ext cx="6124694" cy="317540"/>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464646"/>
                </a:solidFill>
                <a:latin typeface="Inter Medium" pitchFamily="34" charset="0"/>
                <a:ea typeface="Inter Medium" pitchFamily="34" charset="-122"/>
                <a:cs typeface="Inter Medium" pitchFamily="34" charset="-120"/>
              </a:rPr>
              <a:t>「自主性を重視」→ 適切な制限設定の放棄</a:t>
            </a:r>
            <a:endParaRPr lang="en-US" sz="1550" dirty="0"/>
          </a:p>
        </p:txBody>
      </p:sp>
      <p:sp>
        <p:nvSpPr>
          <p:cNvPr id="15" name="Text 13"/>
          <p:cNvSpPr/>
          <p:nvPr/>
        </p:nvSpPr>
        <p:spPr>
          <a:xfrm>
            <a:off x="793790" y="672655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第2章のMIT研究が4ヶ月間の追跡で認知機能劣化を発見したのに対し、日本の教育現場では数日から数週間の短期評価しか行われていないことが、この問題を象徴しています。</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545783"/>
            <a:ext cx="7442121" cy="620078"/>
          </a:xfrm>
          <a:prstGeom prst="rect">
            <a:avLst/>
          </a:prstGeom>
          <a:noFill/>
          <a:ln/>
        </p:spPr>
        <p:txBody>
          <a:bodyPr wrap="none" lIns="0" tIns="0" rIns="0" bIns="0" rtlCol="0" anchor="t"/>
          <a:lstStyle/>
          <a:p>
            <a:pPr algn="l" indent="0" marL="0">
              <a:lnSpc>
                <a:spcPts val="4850"/>
              </a:lnSpc>
              <a:buNone/>
            </a:pPr>
            <a:r>
              <a:rPr lang="en-US" sz="3900" dirty="0">
                <a:solidFill>
                  <a:srgbClr val="030303"/>
                </a:solidFill>
                <a:latin typeface="DM Sans Semi Bold" pitchFamily="34" charset="0"/>
                <a:ea typeface="DM Sans Semi Bold" pitchFamily="34" charset="-122"/>
                <a:cs typeface="DM Sans Semi Bold" pitchFamily="34" charset="-120"/>
              </a:rPr>
              <a:t>構造的要因の正確な理解の重要性</a:t>
            </a:r>
            <a:endParaRPr lang="en-US" sz="3900" dirty="0"/>
          </a:p>
        </p:txBody>
      </p:sp>
      <p:sp>
        <p:nvSpPr>
          <p:cNvPr id="3" name="Text 1"/>
          <p:cNvSpPr/>
          <p:nvPr/>
        </p:nvSpPr>
        <p:spPr>
          <a:xfrm>
            <a:off x="793790" y="156269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これまで見てきたように、現在のAI依存症の大量発生は、偶発的な現象ではありません。教育システム全体の構造的欠陥によって</a:t>
            </a:r>
            <a:pPr algn="l" indent="0" marL="0">
              <a:lnSpc>
                <a:spcPts val="2500"/>
              </a:lnSpc>
              <a:buNone/>
            </a:pPr>
            <a:r>
              <a:rPr lang="en-US" sz="1550" dirty="0">
                <a:solidFill>
                  <a:srgbClr val="1C9770"/>
                </a:solidFill>
                <a:latin typeface="Inter Medium" pitchFamily="34" charset="0"/>
                <a:ea typeface="Inter Medium" pitchFamily="34" charset="-122"/>
                <a:cs typeface="Inter Medium" pitchFamily="34" charset="-120"/>
              </a:rPr>
              <a:t>必然的に生み出されている危機</a:t>
            </a:r>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なのです。</a:t>
            </a:r>
            <a:endParaRPr lang="en-US" sz="1550" dirty="0"/>
          </a:p>
        </p:txBody>
      </p:sp>
      <p:pic>
        <p:nvPicPr>
          <p:cNvPr id="4" name="Image 0" descr="preencoded.png">    </p:cNvPr>
          <p:cNvPicPr>
            <a:picLocks noChangeAspect="1"/>
          </p:cNvPicPr>
          <p:nvPr/>
        </p:nvPicPr>
        <p:blipFill>
          <a:blip r:embed="rId1"/>
          <a:stretch>
            <a:fillRect/>
          </a:stretch>
        </p:blipFill>
        <p:spPr>
          <a:xfrm>
            <a:off x="3247430" y="2421017"/>
            <a:ext cx="1614011" cy="1143476"/>
          </a:xfrm>
          <a:prstGeom prst="rect">
            <a:avLst/>
          </a:prstGeom>
        </p:spPr>
      </p:pic>
      <p:sp>
        <p:nvSpPr>
          <p:cNvPr id="5" name="Text 2"/>
          <p:cNvSpPr/>
          <p:nvPr/>
        </p:nvSpPr>
        <p:spPr>
          <a:xfrm>
            <a:off x="3914894" y="2960013"/>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1</a:t>
            </a:r>
            <a:endParaRPr lang="en-US" sz="2150" dirty="0"/>
          </a:p>
        </p:txBody>
      </p:sp>
      <p:sp>
        <p:nvSpPr>
          <p:cNvPr id="6" name="Text 3"/>
          <p:cNvSpPr/>
          <p:nvPr/>
        </p:nvSpPr>
        <p:spPr>
          <a:xfrm>
            <a:off x="5059799" y="261937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政策レベル</a:t>
            </a:r>
            <a:endParaRPr lang="en-US" sz="1950" dirty="0"/>
          </a:p>
        </p:txBody>
      </p:sp>
      <p:sp>
        <p:nvSpPr>
          <p:cNvPr id="7" name="Text 4"/>
          <p:cNvSpPr/>
          <p:nvPr/>
        </p:nvSpPr>
        <p:spPr>
          <a:xfrm>
            <a:off x="5059799" y="3048595"/>
            <a:ext cx="3372088"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科学的検証なき導入、効率化至上主義</a:t>
            </a:r>
            <a:endParaRPr lang="en-US" sz="1550" dirty="0"/>
          </a:p>
        </p:txBody>
      </p:sp>
      <p:sp>
        <p:nvSpPr>
          <p:cNvPr id="8" name="Shape 5"/>
          <p:cNvSpPr/>
          <p:nvPr/>
        </p:nvSpPr>
        <p:spPr>
          <a:xfrm>
            <a:off x="4910971" y="3579733"/>
            <a:ext cx="8876109" cy="11430"/>
          </a:xfrm>
          <a:prstGeom prst="roundRect">
            <a:avLst>
              <a:gd name="adj" fmla="val 260465"/>
            </a:avLst>
          </a:prstGeom>
          <a:solidFill>
            <a:srgbClr val="D8D4D4"/>
          </a:solidFill>
          <a:ln/>
        </p:spPr>
      </p:sp>
      <p:pic>
        <p:nvPicPr>
          <p:cNvPr id="9" name="Image 1" descr="preencoded.png">    </p:cNvPr>
          <p:cNvPicPr>
            <a:picLocks noChangeAspect="1"/>
          </p:cNvPicPr>
          <p:nvPr/>
        </p:nvPicPr>
        <p:blipFill>
          <a:blip r:embed="rId2"/>
          <a:stretch>
            <a:fillRect/>
          </a:stretch>
        </p:blipFill>
        <p:spPr>
          <a:xfrm>
            <a:off x="2440424" y="3614023"/>
            <a:ext cx="3228022" cy="1143476"/>
          </a:xfrm>
          <a:prstGeom prst="rect">
            <a:avLst/>
          </a:prstGeom>
        </p:spPr>
      </p:pic>
      <p:sp>
        <p:nvSpPr>
          <p:cNvPr id="10" name="Text 6"/>
          <p:cNvSpPr/>
          <p:nvPr/>
        </p:nvSpPr>
        <p:spPr>
          <a:xfrm>
            <a:off x="3914894" y="4011335"/>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2</a:t>
            </a:r>
            <a:endParaRPr lang="en-US" sz="2150" dirty="0"/>
          </a:p>
        </p:txBody>
      </p:sp>
      <p:sp>
        <p:nvSpPr>
          <p:cNvPr id="11" name="Text 7"/>
          <p:cNvSpPr/>
          <p:nvPr/>
        </p:nvSpPr>
        <p:spPr>
          <a:xfrm>
            <a:off x="5866805" y="381238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教師レベル</a:t>
            </a:r>
            <a:endParaRPr lang="en-US" sz="1950" dirty="0"/>
          </a:p>
        </p:txBody>
      </p:sp>
      <p:sp>
        <p:nvSpPr>
          <p:cNvPr id="12" name="Text 8"/>
          <p:cNvSpPr/>
          <p:nvPr/>
        </p:nvSpPr>
        <p:spPr>
          <a:xfrm>
            <a:off x="5866805" y="4241602"/>
            <a:ext cx="3173730"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理論的基盤の欠如、評価能力の不足</a:t>
            </a:r>
            <a:endParaRPr lang="en-US" sz="1550" dirty="0"/>
          </a:p>
        </p:txBody>
      </p:sp>
      <p:sp>
        <p:nvSpPr>
          <p:cNvPr id="13" name="Shape 9"/>
          <p:cNvSpPr/>
          <p:nvPr/>
        </p:nvSpPr>
        <p:spPr>
          <a:xfrm>
            <a:off x="5717977" y="4772739"/>
            <a:ext cx="8069104" cy="11430"/>
          </a:xfrm>
          <a:prstGeom prst="roundRect">
            <a:avLst>
              <a:gd name="adj" fmla="val 260465"/>
            </a:avLst>
          </a:prstGeom>
          <a:solidFill>
            <a:srgbClr val="D8D4D4"/>
          </a:solidFill>
          <a:ln/>
        </p:spPr>
      </p:sp>
      <p:pic>
        <p:nvPicPr>
          <p:cNvPr id="14" name="Image 2" descr="preencoded.png">    </p:cNvPr>
          <p:cNvPicPr>
            <a:picLocks noChangeAspect="1"/>
          </p:cNvPicPr>
          <p:nvPr/>
        </p:nvPicPr>
        <p:blipFill>
          <a:blip r:embed="rId3"/>
          <a:stretch>
            <a:fillRect/>
          </a:stretch>
        </p:blipFill>
        <p:spPr>
          <a:xfrm>
            <a:off x="1633418" y="4807029"/>
            <a:ext cx="4842034" cy="1143476"/>
          </a:xfrm>
          <a:prstGeom prst="rect">
            <a:avLst/>
          </a:prstGeom>
        </p:spPr>
      </p:pic>
      <p:sp>
        <p:nvSpPr>
          <p:cNvPr id="15" name="Text 10"/>
          <p:cNvSpPr/>
          <p:nvPr/>
        </p:nvSpPr>
        <p:spPr>
          <a:xfrm>
            <a:off x="3914894" y="5204341"/>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3</a:t>
            </a:r>
            <a:endParaRPr lang="en-US" sz="2150" dirty="0"/>
          </a:p>
        </p:txBody>
      </p:sp>
      <p:sp>
        <p:nvSpPr>
          <p:cNvPr id="16" name="Text 11"/>
          <p:cNvSpPr/>
          <p:nvPr/>
        </p:nvSpPr>
        <p:spPr>
          <a:xfrm>
            <a:off x="6673810" y="500538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学習者レベル</a:t>
            </a:r>
            <a:endParaRPr lang="en-US" sz="1950" dirty="0"/>
          </a:p>
        </p:txBody>
      </p:sp>
      <p:sp>
        <p:nvSpPr>
          <p:cNvPr id="17" name="Text 12"/>
          <p:cNvSpPr/>
          <p:nvPr/>
        </p:nvSpPr>
        <p:spPr>
          <a:xfrm>
            <a:off x="6673810" y="5434608"/>
            <a:ext cx="3768804"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依存環境での習慣形成、思考委託の習慣化</a:t>
            </a:r>
            <a:endParaRPr lang="en-US" sz="1550" dirty="0"/>
          </a:p>
        </p:txBody>
      </p:sp>
      <p:sp>
        <p:nvSpPr>
          <p:cNvPr id="18" name="Shape 13"/>
          <p:cNvSpPr/>
          <p:nvPr/>
        </p:nvSpPr>
        <p:spPr>
          <a:xfrm>
            <a:off x="6524982" y="5965746"/>
            <a:ext cx="7262098" cy="11430"/>
          </a:xfrm>
          <a:prstGeom prst="roundRect">
            <a:avLst>
              <a:gd name="adj" fmla="val 260465"/>
            </a:avLst>
          </a:prstGeom>
          <a:solidFill>
            <a:srgbClr val="D8D4D4"/>
          </a:solidFill>
          <a:ln/>
        </p:spPr>
      </p:sp>
      <p:pic>
        <p:nvPicPr>
          <p:cNvPr id="19" name="Image 3" descr="preencoded.png">    </p:cNvPr>
          <p:cNvPicPr>
            <a:picLocks noChangeAspect="1"/>
          </p:cNvPicPr>
          <p:nvPr/>
        </p:nvPicPr>
        <p:blipFill>
          <a:blip r:embed="rId4"/>
          <a:stretch>
            <a:fillRect/>
          </a:stretch>
        </p:blipFill>
        <p:spPr>
          <a:xfrm>
            <a:off x="826294" y="6000036"/>
            <a:ext cx="6456164" cy="1143476"/>
          </a:xfrm>
          <a:prstGeom prst="rect">
            <a:avLst/>
          </a:prstGeom>
        </p:spPr>
      </p:pic>
      <p:sp>
        <p:nvSpPr>
          <p:cNvPr id="20" name="Text 14"/>
          <p:cNvSpPr/>
          <p:nvPr/>
        </p:nvSpPr>
        <p:spPr>
          <a:xfrm>
            <a:off x="3914775" y="6397347"/>
            <a:ext cx="279083" cy="348853"/>
          </a:xfrm>
          <a:prstGeom prst="rect">
            <a:avLst/>
          </a:prstGeom>
          <a:noFill/>
          <a:ln/>
        </p:spPr>
        <p:txBody>
          <a:bodyPr wrap="none" lIns="0" tIns="0" rIns="0" bIns="0" rtlCol="0" anchor="t"/>
          <a:lstStyle/>
          <a:p>
            <a:pPr algn="ctr" indent="0" marL="0">
              <a:lnSpc>
                <a:spcPts val="3500"/>
              </a:lnSpc>
              <a:buNone/>
            </a:pPr>
            <a:r>
              <a:rPr lang="en-US" sz="2150" dirty="0">
                <a:solidFill>
                  <a:srgbClr val="464646"/>
                </a:solidFill>
                <a:latin typeface="DM Sans Semi Bold" pitchFamily="34" charset="0"/>
                <a:ea typeface="DM Sans Semi Bold" pitchFamily="34" charset="-122"/>
                <a:cs typeface="DM Sans Semi Bold" pitchFamily="34" charset="-120"/>
              </a:rPr>
              <a:t>4</a:t>
            </a:r>
            <a:endParaRPr lang="en-US" sz="2150" dirty="0"/>
          </a:p>
        </p:txBody>
      </p:sp>
      <p:sp>
        <p:nvSpPr>
          <p:cNvPr id="21" name="Text 15"/>
          <p:cNvSpPr/>
          <p:nvPr/>
        </p:nvSpPr>
        <p:spPr>
          <a:xfrm>
            <a:off x="7480816" y="619839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464646"/>
                </a:solidFill>
                <a:latin typeface="DM Sans Semi Bold" pitchFamily="34" charset="0"/>
                <a:ea typeface="DM Sans Semi Bold" pitchFamily="34" charset="-122"/>
                <a:cs typeface="DM Sans Semi Bold" pitchFamily="34" charset="-120"/>
              </a:rPr>
              <a:t>システムレベル</a:t>
            </a:r>
            <a:endParaRPr lang="en-US" sz="1950" dirty="0"/>
          </a:p>
        </p:txBody>
      </p:sp>
      <p:sp>
        <p:nvSpPr>
          <p:cNvPr id="22" name="Text 16"/>
          <p:cNvSpPr/>
          <p:nvPr/>
        </p:nvSpPr>
        <p:spPr>
          <a:xfrm>
            <a:off x="7480816" y="6627614"/>
            <a:ext cx="4137779"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依存促進フィードバックループ、評価バイアス</a:t>
            </a:r>
            <a:endParaRPr lang="en-US" sz="1550" dirty="0"/>
          </a:p>
        </p:txBody>
      </p:sp>
      <p:sp>
        <p:nvSpPr>
          <p:cNvPr id="23" name="Text 17"/>
          <p:cNvSpPr/>
          <p:nvPr/>
        </p:nvSpPr>
        <p:spPr>
          <a:xfrm>
            <a:off x="793790" y="7366754"/>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464646"/>
                </a:solidFill>
                <a:latin typeface="Inter Medium" pitchFamily="34" charset="0"/>
                <a:ea typeface="Inter Medium" pitchFamily="34" charset="-122"/>
                <a:cs typeface="Inter Medium" pitchFamily="34" charset="-120"/>
              </a:rPr>
              <a:t>これらの要因は相互に関連し合い、AI依存症を量産する巨大なシステムを形成しています。</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76037"/>
            <a:ext cx="4836914" cy="465177"/>
          </a:xfrm>
          <a:prstGeom prst="rect">
            <a:avLst/>
          </a:prstGeom>
          <a:noFill/>
          <a:ln/>
        </p:spPr>
        <p:txBody>
          <a:bodyPr wrap="none" lIns="0" tIns="0" rIns="0" bIns="0" rtlCol="0" anchor="t"/>
          <a:lstStyle/>
          <a:p>
            <a:pPr algn="l" indent="0" marL="0">
              <a:lnSpc>
                <a:spcPts val="3650"/>
              </a:lnSpc>
              <a:buNone/>
            </a:pPr>
            <a:r>
              <a:rPr lang="en-US" sz="2900" dirty="0">
                <a:solidFill>
                  <a:srgbClr val="030303"/>
                </a:solidFill>
                <a:latin typeface="DM Sans Semi Bold" pitchFamily="34" charset="0"/>
                <a:ea typeface="DM Sans Semi Bold" pitchFamily="34" charset="-122"/>
                <a:cs typeface="DM Sans Semi Bold" pitchFamily="34" charset="-120"/>
              </a:rPr>
              <a:t>本章のまとめ：解決への道筋</a:t>
            </a:r>
            <a:endParaRPr lang="en-US" sz="2900" dirty="0"/>
          </a:p>
        </p:txBody>
      </p:sp>
      <p:sp>
        <p:nvSpPr>
          <p:cNvPr id="4" name="Text 1"/>
          <p:cNvSpPr/>
          <p:nvPr/>
        </p:nvSpPr>
        <p:spPr>
          <a:xfrm>
            <a:off x="793790" y="1364456"/>
            <a:ext cx="7556421" cy="476250"/>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本章では、AI依存症を生み出している教育現場の構造的要因を分析してきました。重要な発見は、これらの問題が</a:t>
            </a:r>
            <a:pPr algn="l" indent="0" marL="0">
              <a:lnSpc>
                <a:spcPts val="1850"/>
              </a:lnSpc>
              <a:buNone/>
            </a:pPr>
            <a:r>
              <a:rPr lang="en-US" sz="1150" dirty="0">
                <a:solidFill>
                  <a:srgbClr val="1C9770"/>
                </a:solidFill>
                <a:latin typeface="Inter Medium" pitchFamily="34" charset="0"/>
                <a:ea typeface="Inter Medium" pitchFamily="34" charset="-122"/>
                <a:cs typeface="Inter Medium" pitchFamily="34" charset="-120"/>
              </a:rPr>
              <a:t>個人の問題ではなく、システム全体の構造的欠陥</a:t>
            </a:r>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であることです。</a:t>
            </a:r>
            <a:endParaRPr lang="en-US" sz="1150" dirty="0"/>
          </a:p>
        </p:txBody>
      </p:sp>
      <p:pic>
        <p:nvPicPr>
          <p:cNvPr id="5" name="Image 1" descr="preencoded.png">    </p:cNvPr>
          <p:cNvPicPr>
            <a:picLocks noChangeAspect="1"/>
          </p:cNvPicPr>
          <p:nvPr/>
        </p:nvPicPr>
        <p:blipFill>
          <a:blip r:embed="rId2"/>
          <a:stretch>
            <a:fillRect/>
          </a:stretch>
        </p:blipFill>
        <p:spPr>
          <a:xfrm>
            <a:off x="793790" y="2008108"/>
            <a:ext cx="372070" cy="372070"/>
          </a:xfrm>
          <a:prstGeom prst="rect">
            <a:avLst/>
          </a:prstGeom>
        </p:spPr>
      </p:pic>
      <p:sp>
        <p:nvSpPr>
          <p:cNvPr id="6" name="Text 2"/>
          <p:cNvSpPr/>
          <p:nvPr/>
        </p:nvSpPr>
        <p:spPr>
          <a:xfrm>
            <a:off x="793790" y="2566154"/>
            <a:ext cx="2231708" cy="232529"/>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明らかになった危機の構造</a:t>
            </a:r>
            <a:endParaRPr lang="en-US" sz="1450" dirty="0"/>
          </a:p>
        </p:txBody>
      </p:sp>
      <p:sp>
        <p:nvSpPr>
          <p:cNvPr id="7" name="Text 3"/>
          <p:cNvSpPr/>
          <p:nvPr/>
        </p:nvSpPr>
        <p:spPr>
          <a:xfrm>
            <a:off x="793790" y="2887980"/>
            <a:ext cx="7556421" cy="476250"/>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政策的欠陥、教師の構造的限界、学習環境の問題、システムの自己強化という4つの層で構造的問題が存在します。</a:t>
            </a:r>
            <a:endParaRPr lang="en-US" sz="1150" dirty="0"/>
          </a:p>
        </p:txBody>
      </p:sp>
      <p:pic>
        <p:nvPicPr>
          <p:cNvPr id="8" name="Image 2" descr="preencoded.png">    </p:cNvPr>
          <p:cNvPicPr>
            <a:picLocks noChangeAspect="1"/>
          </p:cNvPicPr>
          <p:nvPr/>
        </p:nvPicPr>
        <p:blipFill>
          <a:blip r:embed="rId3"/>
          <a:stretch>
            <a:fillRect/>
          </a:stretch>
        </p:blipFill>
        <p:spPr>
          <a:xfrm>
            <a:off x="793790" y="3661886"/>
            <a:ext cx="372070" cy="372070"/>
          </a:xfrm>
          <a:prstGeom prst="rect">
            <a:avLst/>
          </a:prstGeom>
        </p:spPr>
      </p:pic>
      <p:sp>
        <p:nvSpPr>
          <p:cNvPr id="9" name="Text 4"/>
          <p:cNvSpPr/>
          <p:nvPr/>
        </p:nvSpPr>
        <p:spPr>
          <a:xfrm>
            <a:off x="793790" y="4219932"/>
            <a:ext cx="1860590" cy="232529"/>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希望への転換点</a:t>
            </a:r>
            <a:endParaRPr lang="en-US" sz="1450" dirty="0"/>
          </a:p>
        </p:txBody>
      </p:sp>
      <p:sp>
        <p:nvSpPr>
          <p:cNvPr id="10" name="Text 5"/>
          <p:cNvSpPr/>
          <p:nvPr/>
        </p:nvSpPr>
        <p:spPr>
          <a:xfrm>
            <a:off x="793790" y="4541758"/>
            <a:ext cx="7556421" cy="476250"/>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構造的要因が明確になったことは、解決への道筋も見えてきたことを意味します。構造的問題には構造的解決策が有効だからです。</a:t>
            </a:r>
            <a:endParaRPr lang="en-US" sz="1150" dirty="0"/>
          </a:p>
        </p:txBody>
      </p:sp>
      <p:pic>
        <p:nvPicPr>
          <p:cNvPr id="11" name="Image 3" descr="preencoded.png">    </p:cNvPr>
          <p:cNvPicPr>
            <a:picLocks noChangeAspect="1"/>
          </p:cNvPicPr>
          <p:nvPr/>
        </p:nvPicPr>
        <p:blipFill>
          <a:blip r:embed="rId4"/>
          <a:stretch>
            <a:fillRect/>
          </a:stretch>
        </p:blipFill>
        <p:spPr>
          <a:xfrm>
            <a:off x="793790" y="5315664"/>
            <a:ext cx="372070" cy="372070"/>
          </a:xfrm>
          <a:prstGeom prst="rect">
            <a:avLst/>
          </a:prstGeom>
        </p:spPr>
      </p:pic>
      <p:sp>
        <p:nvSpPr>
          <p:cNvPr id="12" name="Text 6"/>
          <p:cNvSpPr/>
          <p:nvPr/>
        </p:nvSpPr>
        <p:spPr>
          <a:xfrm>
            <a:off x="793790" y="5873710"/>
            <a:ext cx="1860590" cy="232529"/>
          </a:xfrm>
          <a:prstGeom prst="rect">
            <a:avLst/>
          </a:prstGeom>
          <a:noFill/>
          <a:ln/>
        </p:spPr>
        <p:txBody>
          <a:bodyPr wrap="none" lIns="0" tIns="0" rIns="0" bIns="0" rtlCol="0" anchor="t"/>
          <a:lstStyle/>
          <a:p>
            <a:pPr algn="l" indent="0" marL="0">
              <a:lnSpc>
                <a:spcPts val="1800"/>
              </a:lnSpc>
              <a:buNone/>
            </a:pPr>
            <a:r>
              <a:rPr lang="en-US" sz="1450" dirty="0">
                <a:solidFill>
                  <a:srgbClr val="464646"/>
                </a:solidFill>
                <a:latin typeface="DM Sans Semi Bold" pitchFamily="34" charset="0"/>
                <a:ea typeface="DM Sans Semi Bold" pitchFamily="34" charset="-122"/>
                <a:cs typeface="DM Sans Semi Bold" pitchFamily="34" charset="-120"/>
              </a:rPr>
              <a:t>時間的切迫性</a:t>
            </a:r>
            <a:endParaRPr lang="en-US" sz="1450" dirty="0"/>
          </a:p>
        </p:txBody>
      </p:sp>
      <p:sp>
        <p:nvSpPr>
          <p:cNvPr id="13" name="Text 7"/>
          <p:cNvSpPr/>
          <p:nvPr/>
        </p:nvSpPr>
        <p:spPr>
          <a:xfrm>
            <a:off x="793790" y="6195536"/>
            <a:ext cx="7556421" cy="476250"/>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中国調査が示す47.1%という依存率、MIT研究が警告する認知機能の急速な劣化を考慮すれば、構造改革は「緊急対応事項」です。</a:t>
            </a:r>
            <a:endParaRPr lang="en-US" sz="1150" dirty="0"/>
          </a:p>
        </p:txBody>
      </p:sp>
      <p:sp>
        <p:nvSpPr>
          <p:cNvPr id="14" name="Text 8"/>
          <p:cNvSpPr/>
          <p:nvPr/>
        </p:nvSpPr>
        <p:spPr>
          <a:xfrm>
            <a:off x="793790" y="6839188"/>
            <a:ext cx="7556421" cy="714375"/>
          </a:xfrm>
          <a:prstGeom prst="rect">
            <a:avLst/>
          </a:prstGeom>
          <a:noFill/>
          <a:ln/>
        </p:spPr>
        <p:txBody>
          <a:bodyPr wrap="square" lIns="0" tIns="0" rIns="0" bIns="0" rtlCol="0" anchor="t"/>
          <a:lstStyle/>
          <a:p>
            <a:pPr algn="l" indent="0" marL="0">
              <a:lnSpc>
                <a:spcPts val="1850"/>
              </a:lnSpc>
              <a:buNone/>
            </a:pPr>
            <a:r>
              <a:rPr lang="en-US" sz="1150" dirty="0">
                <a:solidFill>
                  <a:srgbClr val="464646"/>
                </a:solidFill>
                <a:latin typeface="Inter Medium" pitchFamily="34" charset="0"/>
                <a:ea typeface="Inter Medium" pitchFamily="34" charset="-122"/>
                <a:cs typeface="Inter Medium" pitchFamily="34" charset="-120"/>
              </a:rPr>
              <a:t>次章では、こうした危機認識を踏まえた上で、生成AI活用の真の教育価値とは何か、そして依存症を予防しながらAIの恩恵を最大化する教育設計の理論的基盤について詳細に論じていきます。それは、単なる「改善」ではなく、人類の認知能力を守るための「防御的教育設計」の提案でもあるのです。</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2025-09-26T09:44:07Z</dcterms:created>
  <dcterms:modified xsi:type="dcterms:W3CDTF">2025-09-26T09:44:07Z</dcterms:modified>
</cp:coreProperties>
</file>