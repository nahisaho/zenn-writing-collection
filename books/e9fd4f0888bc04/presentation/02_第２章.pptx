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DM Sans Semi Bold"/>
      <p:regular r:id="rId27"/>
    </p:embeddedFont>
    <p:embeddedFont>
      <p:font typeface="DM Sans Semi Bold"/>
      <p:regular r:id="rId28"/>
    </p:embeddedFont>
    <p:embeddedFont>
      <p:font typeface="DM Sans Semi Bold"/>
      <p:regular r:id="rId29"/>
    </p:embeddedFont>
    <p:embeddedFont>
      <p:font typeface="DM Sans Semi Bold"/>
      <p:regular r:id="rId30"/>
    </p:embeddedFont>
    <p:embeddedFont>
      <p:font typeface="Inter Medium"/>
      <p:regular r:id="rId31"/>
    </p:embeddedFont>
    <p:embeddedFont>
      <p:font typeface="Inter Medium"/>
      <p:regular r:id="rId32"/>
    </p:embeddedFont>
    <p:embeddedFont>
      <p:font typeface="Inter Medium"/>
      <p:regular r:id="rId33"/>
    </p:embeddedFont>
    <p:embeddedFont>
      <p:font typeface="Inter Medium"/>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952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第2章: 世界で進行するAI依存の深刻化</a:t>
            </a:r>
            <a:endParaRPr lang="en-US" sz="3900" dirty="0"/>
          </a:p>
        </p:txBody>
      </p:sp>
      <p:sp>
        <p:nvSpPr>
          <p:cNvPr id="4" name="Text 1"/>
          <p:cNvSpPr/>
          <p:nvPr/>
        </p:nvSpPr>
        <p:spPr>
          <a:xfrm>
            <a:off x="793790" y="4407337"/>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世界各国の研究が示すAI依存の実態は、もはや「将来的な懸念」ではなく「現在進行形の危機」として認識すべき深刻な状況です。教育現場で起きている変化の本質を、科学的データとともに詳しく見ていきましょう。</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43958"/>
            <a:ext cx="744212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中国大学生調査が示す衝撃的現実</a:t>
            </a:r>
            <a:endParaRPr lang="en-US" sz="3900" dirty="0"/>
          </a:p>
        </p:txBody>
      </p:sp>
      <p:sp>
        <p:nvSpPr>
          <p:cNvPr id="3" name="Text 1"/>
          <p:cNvSpPr/>
          <p:nvPr/>
        </p:nvSpPr>
        <p:spPr>
          <a:xfrm>
            <a:off x="793790" y="326005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99.2%</a:t>
            </a:r>
            <a:endParaRPr lang="en-US" sz="5150" dirty="0"/>
          </a:p>
        </p:txBody>
      </p:sp>
      <p:sp>
        <p:nvSpPr>
          <p:cNvPr id="4" name="Text 2"/>
          <p:cNvSpPr/>
          <p:nvPr/>
        </p:nvSpPr>
        <p:spPr>
          <a:xfrm>
            <a:off x="1090613"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AI使用率</a:t>
            </a:r>
            <a:endParaRPr lang="en-US" sz="1950" dirty="0"/>
          </a:p>
        </p:txBody>
      </p:sp>
      <p:sp>
        <p:nvSpPr>
          <p:cNvPr id="5" name="Text 3"/>
          <p:cNvSpPr/>
          <p:nvPr/>
        </p:nvSpPr>
        <p:spPr>
          <a:xfrm>
            <a:off x="793790" y="4592241"/>
            <a:ext cx="3074670"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ほぼ全員の学生がAIを使用している状態</a:t>
            </a:r>
            <a:endParaRPr lang="en-US" sz="1550" dirty="0"/>
          </a:p>
        </p:txBody>
      </p:sp>
      <p:sp>
        <p:nvSpPr>
          <p:cNvPr id="6" name="Text 4"/>
          <p:cNvSpPr/>
          <p:nvPr/>
        </p:nvSpPr>
        <p:spPr>
          <a:xfrm>
            <a:off x="4116467" y="326005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65.9%</a:t>
            </a:r>
            <a:endParaRPr lang="en-US" sz="5150" dirty="0"/>
          </a:p>
        </p:txBody>
      </p:sp>
      <p:sp>
        <p:nvSpPr>
          <p:cNvPr id="7" name="Text 5"/>
          <p:cNvSpPr/>
          <p:nvPr/>
        </p:nvSpPr>
        <p:spPr>
          <a:xfrm>
            <a:off x="4413290"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最初にAI相談</a:t>
            </a:r>
            <a:endParaRPr lang="en-US" sz="1950" dirty="0"/>
          </a:p>
        </p:txBody>
      </p:sp>
      <p:sp>
        <p:nvSpPr>
          <p:cNvPr id="8" name="Text 6"/>
          <p:cNvSpPr/>
          <p:nvPr/>
        </p:nvSpPr>
        <p:spPr>
          <a:xfrm>
            <a:off x="4116467" y="4592241"/>
            <a:ext cx="3074670"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問題に直面した際、最初にAIに相談する学生の割合</a:t>
            </a:r>
            <a:endParaRPr lang="en-US" sz="1550" dirty="0"/>
          </a:p>
        </p:txBody>
      </p:sp>
      <p:sp>
        <p:nvSpPr>
          <p:cNvPr id="9" name="Text 7"/>
          <p:cNvSpPr/>
          <p:nvPr/>
        </p:nvSpPr>
        <p:spPr>
          <a:xfrm>
            <a:off x="7439144" y="326005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47.1%</a:t>
            </a:r>
            <a:endParaRPr lang="en-US" sz="5150" dirty="0"/>
          </a:p>
        </p:txBody>
      </p:sp>
      <p:sp>
        <p:nvSpPr>
          <p:cNvPr id="10" name="Text 8"/>
          <p:cNvSpPr/>
          <p:nvPr/>
        </p:nvSpPr>
        <p:spPr>
          <a:xfrm>
            <a:off x="7735967"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依存状態</a:t>
            </a:r>
            <a:endParaRPr lang="en-US" sz="1950" dirty="0"/>
          </a:p>
        </p:txBody>
      </p:sp>
      <p:sp>
        <p:nvSpPr>
          <p:cNvPr id="11" name="Text 9"/>
          <p:cNvSpPr/>
          <p:nvPr/>
        </p:nvSpPr>
        <p:spPr>
          <a:xfrm>
            <a:off x="7439144" y="4592241"/>
            <a:ext cx="3074670"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AIなしでは学習・生活が不可能と回答</a:t>
            </a:r>
            <a:endParaRPr lang="en-US" sz="1550" dirty="0"/>
          </a:p>
        </p:txBody>
      </p:sp>
      <p:sp>
        <p:nvSpPr>
          <p:cNvPr id="12" name="Text 10"/>
          <p:cNvSpPr/>
          <p:nvPr/>
        </p:nvSpPr>
        <p:spPr>
          <a:xfrm>
            <a:off x="10761821" y="3260050"/>
            <a:ext cx="3074789" cy="654963"/>
          </a:xfrm>
          <a:prstGeom prst="rect">
            <a:avLst/>
          </a:prstGeom>
          <a:noFill/>
          <a:ln/>
        </p:spPr>
        <p:txBody>
          <a:bodyPr wrap="none" lIns="0" tIns="0" rIns="0" bIns="0" rtlCol="0" anchor="t"/>
          <a:lstStyle/>
          <a:p>
            <a:pPr algn="ctr" indent="0" marL="0">
              <a:lnSpc>
                <a:spcPts val="5150"/>
              </a:lnSpc>
              <a:buNone/>
            </a:pPr>
            <a:r>
              <a:rPr lang="en-US" sz="5150" dirty="0">
                <a:solidFill>
                  <a:srgbClr val="464646"/>
                </a:solidFill>
                <a:latin typeface="DM Sans Semi Bold" pitchFamily="34" charset="0"/>
                <a:ea typeface="DM Sans Semi Bold" pitchFamily="34" charset="-122"/>
                <a:cs typeface="DM Sans Semi Bold" pitchFamily="34" charset="-120"/>
              </a:rPr>
              <a:t>11.7%</a:t>
            </a:r>
            <a:endParaRPr lang="en-US" sz="5150" dirty="0"/>
          </a:p>
        </p:txBody>
      </p:sp>
      <p:sp>
        <p:nvSpPr>
          <p:cNvPr id="13" name="Text 11"/>
          <p:cNvSpPr/>
          <p:nvPr/>
        </p:nvSpPr>
        <p:spPr>
          <a:xfrm>
            <a:off x="11058763"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重度使用</a:t>
            </a:r>
            <a:endParaRPr lang="en-US" sz="1950" dirty="0"/>
          </a:p>
        </p:txBody>
      </p:sp>
      <p:sp>
        <p:nvSpPr>
          <p:cNvPr id="14" name="Text 12"/>
          <p:cNvSpPr/>
          <p:nvPr/>
        </p:nvSpPr>
        <p:spPr>
          <a:xfrm>
            <a:off x="10761821" y="4592241"/>
            <a:ext cx="3074789" cy="635079"/>
          </a:xfrm>
          <a:prstGeom prst="rect">
            <a:avLst/>
          </a:prstGeom>
          <a:noFill/>
          <a:ln/>
        </p:spPr>
        <p:txBody>
          <a:bodyPr wrap="squar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毎日数時間以上の病的レベルの依存者</a:t>
            </a:r>
            <a:endParaRPr lang="en-US" sz="1550" dirty="0"/>
          </a:p>
        </p:txBody>
      </p:sp>
      <p:sp>
        <p:nvSpPr>
          <p:cNvPr id="15" name="Text 13"/>
          <p:cNvSpPr/>
          <p:nvPr/>
        </p:nvSpPr>
        <p:spPr>
          <a:xfrm>
            <a:off x="793790" y="545056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中国青年報・中青校媒と社交プラットフォーム「Soul」が実施した大規模調査（有効回答数3,129人）は、私たちに極めて深刻な現実を突きつけています。</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432923"/>
            <a:ext cx="6924556"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「AIに聞けば解決」文化の浸透</a:t>
            </a:r>
            <a:endParaRPr lang="en-US" sz="3900" dirty="0"/>
          </a:p>
        </p:txBody>
      </p:sp>
      <p:sp>
        <p:nvSpPr>
          <p:cNvPr id="4" name="Text 1"/>
          <p:cNvSpPr/>
          <p:nvPr/>
        </p:nvSpPr>
        <p:spPr>
          <a:xfrm>
            <a:off x="793790" y="3350657"/>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65.9%が問題に直面した際、最初にAIに相談するという数値は、教育的観点から見て極めて危険です。これは従来の問題解決プロセス—「何が問題なのかを分析し、どこで情報を探すべきかを判断し、得られた情報を批判的に検討する」—が完全に省略されていることを意味します。</a:t>
            </a:r>
            <a:endParaRPr lang="en-US" sz="1550" dirty="0"/>
          </a:p>
        </p:txBody>
      </p:sp>
      <p:sp>
        <p:nvSpPr>
          <p:cNvPr id="5" name="Text 2"/>
          <p:cNvSpPr/>
          <p:nvPr/>
        </p:nvSpPr>
        <p:spPr>
          <a:xfrm>
            <a:off x="793790" y="484405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遇事不决问AI」（何事も迷ったらAIに聞く）という文化は、短期的には効率的に見えますが、長期的には問題分析能力の退化、情報リテラシーの未発達、批判的思考の停止という重大な問題を引き起こします。</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99429"/>
            <a:ext cx="545758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理解と行動の深刻な乖離</a:t>
            </a:r>
            <a:endParaRPr lang="en-US" sz="3900" dirty="0"/>
          </a:p>
        </p:txBody>
      </p:sp>
      <p:sp>
        <p:nvSpPr>
          <p:cNvPr id="3" name="Text 1"/>
          <p:cNvSpPr/>
          <p:nvPr/>
        </p:nvSpPr>
        <p:spPr>
          <a:xfrm>
            <a:off x="793790" y="321552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理解している危険性</a:t>
            </a:r>
            <a:endParaRPr lang="en-US" sz="1950" dirty="0"/>
          </a:p>
        </p:txBody>
      </p:sp>
      <p:sp>
        <p:nvSpPr>
          <p:cNvPr id="4" name="Text 2"/>
          <p:cNvSpPr/>
          <p:nvPr/>
        </p:nvSpPr>
        <p:spPr>
          <a:xfrm>
            <a:off x="793790" y="372403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62.3%が思考の怠惰化を懸念</a:t>
            </a:r>
            <a:endParaRPr lang="en-US" sz="1550" dirty="0"/>
          </a:p>
        </p:txBody>
      </p:sp>
      <p:sp>
        <p:nvSpPr>
          <p:cNvPr id="5" name="Text 3"/>
          <p:cNvSpPr/>
          <p:nvPr/>
        </p:nvSpPr>
        <p:spPr>
          <a:xfrm>
            <a:off x="793790" y="411099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創造力（62.0%）・批判的思考力（56.0%）が重要と認識</a:t>
            </a:r>
            <a:endParaRPr lang="en-US" sz="1550" dirty="0"/>
          </a:p>
        </p:txBody>
      </p:sp>
      <p:sp>
        <p:nvSpPr>
          <p:cNvPr id="6" name="Text 4"/>
          <p:cNvSpPr/>
          <p:nvPr/>
        </p:nvSpPr>
        <p:spPr>
          <a:xfrm>
            <a:off x="793790" y="449794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40.9%が精神的依存を懸念</a:t>
            </a:r>
            <a:endParaRPr lang="en-US" sz="1550" dirty="0"/>
          </a:p>
        </p:txBody>
      </p:sp>
      <p:sp>
        <p:nvSpPr>
          <p:cNvPr id="7" name="Text 5"/>
          <p:cNvSpPr/>
          <p:nvPr/>
        </p:nvSpPr>
        <p:spPr>
          <a:xfrm>
            <a:off x="793790" y="488489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43.5%がAI時代への不安を抱える</a:t>
            </a:r>
            <a:endParaRPr lang="en-US" sz="1550" dirty="0"/>
          </a:p>
        </p:txBody>
      </p:sp>
      <p:sp>
        <p:nvSpPr>
          <p:cNvPr id="8" name="Text 6"/>
          <p:cNvSpPr/>
          <p:nvPr/>
        </p:nvSpPr>
        <p:spPr>
          <a:xfrm>
            <a:off x="7564874" y="321552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実際の行動</a:t>
            </a:r>
            <a:endParaRPr lang="en-US" sz="1950" dirty="0"/>
          </a:p>
        </p:txBody>
      </p:sp>
      <p:sp>
        <p:nvSpPr>
          <p:cNvPr id="9" name="Text 7"/>
          <p:cNvSpPr/>
          <p:nvPr/>
        </p:nvSpPr>
        <p:spPr>
          <a:xfrm>
            <a:off x="7564874" y="372403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47.1%がAIなしでは生活不可能</a:t>
            </a:r>
            <a:endParaRPr lang="en-US" sz="1550" dirty="0"/>
          </a:p>
        </p:txBody>
      </p:sp>
      <p:sp>
        <p:nvSpPr>
          <p:cNvPr id="10" name="Text 8"/>
          <p:cNvSpPr/>
          <p:nvPr/>
        </p:nvSpPr>
        <p:spPr>
          <a:xfrm>
            <a:off x="7564874" y="411099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創造力や批判的思考を育む場面でAI依存</a:t>
            </a:r>
            <a:endParaRPr lang="en-US" sz="1550" dirty="0"/>
          </a:p>
        </p:txBody>
      </p:sp>
      <p:sp>
        <p:nvSpPr>
          <p:cNvPr id="11" name="Text 9"/>
          <p:cNvSpPr/>
          <p:nvPr/>
        </p:nvSpPr>
        <p:spPr>
          <a:xfrm>
            <a:off x="7564874" y="449794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懸念を表明しながらも使用継続</a:t>
            </a:r>
            <a:endParaRPr lang="en-US" sz="1550" dirty="0"/>
          </a:p>
        </p:txBody>
      </p:sp>
      <p:sp>
        <p:nvSpPr>
          <p:cNvPr id="12" name="Text 10"/>
          <p:cNvSpPr/>
          <p:nvPr/>
        </p:nvSpPr>
        <p:spPr>
          <a:xfrm>
            <a:off x="7564874" y="488489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不安を感じながらも行動変容できない</a:t>
            </a:r>
            <a:endParaRPr lang="en-US" sz="1550" dirty="0"/>
          </a:p>
        </p:txBody>
      </p:sp>
      <p:sp>
        <p:nvSpPr>
          <p:cNvPr id="13" name="Text 11"/>
          <p:cNvSpPr/>
          <p:nvPr/>
        </p:nvSpPr>
        <p:spPr>
          <a:xfrm>
            <a:off x="793790" y="549509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この「理解-行動ギャップ」は、単なる意志力の問題ではなく、依存症の典型的な症状であり、医学的介入が必要なレベルに達していることを示しています。</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4149685"/>
            <a:ext cx="6413540"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MIT Media Labの科学的警告</a:t>
            </a:r>
            <a:endParaRPr lang="en-US" sz="3900" dirty="0"/>
          </a:p>
        </p:txBody>
      </p:sp>
      <p:sp>
        <p:nvSpPr>
          <p:cNvPr id="4" name="Text 1"/>
          <p:cNvSpPr/>
          <p:nvPr/>
        </p:nvSpPr>
        <p:spPr>
          <a:xfrm>
            <a:off x="793790" y="506741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MIT Media Labの研究チーム（Nataliya Kosmyna、Pattie Maesら）が2025年に発表した研究「Your brain on ChatGPT」は、AI使用が脳に与える影響を科学的に実証した画期的な研究です。</a:t>
            </a:r>
            <a:endParaRPr lang="en-US" sz="1550" dirty="0"/>
          </a:p>
        </p:txBody>
      </p:sp>
      <p:sp>
        <p:nvSpPr>
          <p:cNvPr id="5" name="Text 2"/>
          <p:cNvSpPr/>
          <p:nvPr/>
        </p:nvSpPr>
        <p:spPr>
          <a:xfrm>
            <a:off x="793790" y="592574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54人の参加者を4ヶ月間追跡し、脳波測定（EEG）による客観的な脳活動評価を行った結果、AI使用による深刻な認知機能の変化が明らかになりました。</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287905"/>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認知負債の科学的定義</a:t>
            </a:r>
            <a:endParaRPr lang="en-US" sz="3900" dirty="0"/>
          </a:p>
        </p:txBody>
      </p:sp>
      <p:sp>
        <p:nvSpPr>
          <p:cNvPr id="3" name="Shape 1"/>
          <p:cNvSpPr/>
          <p:nvPr/>
        </p:nvSpPr>
        <p:spPr>
          <a:xfrm>
            <a:off x="793790" y="3304818"/>
            <a:ext cx="4215289" cy="1778556"/>
          </a:xfrm>
          <a:prstGeom prst="roundRect">
            <a:avLst>
              <a:gd name="adj" fmla="val 1674"/>
            </a:avLst>
          </a:prstGeom>
          <a:solidFill>
            <a:srgbClr val="F2EEEE"/>
          </a:solidFill>
          <a:ln/>
        </p:spPr>
      </p:sp>
      <p:sp>
        <p:nvSpPr>
          <p:cNvPr id="4" name="Text 2"/>
          <p:cNvSpPr/>
          <p:nvPr/>
        </p:nvSpPr>
        <p:spPr>
          <a:xfrm>
            <a:off x="992148" y="3503176"/>
            <a:ext cx="272807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脳の接続性の階層的低下</a:t>
            </a:r>
            <a:endParaRPr lang="en-US" sz="1950" dirty="0"/>
          </a:p>
        </p:txBody>
      </p:sp>
      <p:sp>
        <p:nvSpPr>
          <p:cNvPr id="5" name="Text 3"/>
          <p:cNvSpPr/>
          <p:nvPr/>
        </p:nvSpPr>
        <p:spPr>
          <a:xfrm>
            <a:off x="992148" y="3932396"/>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脳のみ（最強）→ 検索エンジン（中程度）→ AI使用（最弱）という段階的な劣化が確認されました。</a:t>
            </a:r>
            <a:endParaRPr lang="en-US" sz="1550" dirty="0"/>
          </a:p>
        </p:txBody>
      </p:sp>
      <p:sp>
        <p:nvSpPr>
          <p:cNvPr id="6" name="Shape 4"/>
          <p:cNvSpPr/>
          <p:nvPr/>
        </p:nvSpPr>
        <p:spPr>
          <a:xfrm>
            <a:off x="5207437" y="3304818"/>
            <a:ext cx="4215408" cy="1778556"/>
          </a:xfrm>
          <a:prstGeom prst="roundRect">
            <a:avLst>
              <a:gd name="adj" fmla="val 1674"/>
            </a:avLst>
          </a:prstGeom>
          <a:solidFill>
            <a:srgbClr val="F2EEEE"/>
          </a:solidFill>
          <a:ln/>
        </p:spPr>
      </p:sp>
      <p:sp>
        <p:nvSpPr>
          <p:cNvPr id="7" name="Text 5"/>
          <p:cNvSpPr/>
          <p:nvPr/>
        </p:nvSpPr>
        <p:spPr>
          <a:xfrm>
            <a:off x="5405795" y="35031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前頭前野の活動低下</a:t>
            </a:r>
            <a:endParaRPr lang="en-US" sz="1950" dirty="0"/>
          </a:p>
        </p:txBody>
      </p:sp>
      <p:sp>
        <p:nvSpPr>
          <p:cNvPr id="8" name="Text 6"/>
          <p:cNvSpPr/>
          <p:nvPr/>
        </p:nvSpPr>
        <p:spPr>
          <a:xfrm>
            <a:off x="5405795" y="3932396"/>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批判的思考と創造性を司る脳領域の機能が減退し、思考の深度が浅くなります。</a:t>
            </a:r>
            <a:endParaRPr lang="en-US" sz="1550" dirty="0"/>
          </a:p>
        </p:txBody>
      </p:sp>
      <p:sp>
        <p:nvSpPr>
          <p:cNvPr id="9" name="Shape 7"/>
          <p:cNvSpPr/>
          <p:nvPr/>
        </p:nvSpPr>
        <p:spPr>
          <a:xfrm>
            <a:off x="9621203" y="3304818"/>
            <a:ext cx="4215289" cy="1778556"/>
          </a:xfrm>
          <a:prstGeom prst="roundRect">
            <a:avLst>
              <a:gd name="adj" fmla="val 1674"/>
            </a:avLst>
          </a:prstGeom>
          <a:solidFill>
            <a:srgbClr val="F2EEEE"/>
          </a:solidFill>
          <a:ln/>
        </p:spPr>
      </p:sp>
      <p:sp>
        <p:nvSpPr>
          <p:cNvPr id="10" name="Text 8"/>
          <p:cNvSpPr/>
          <p:nvPr/>
        </p:nvSpPr>
        <p:spPr>
          <a:xfrm>
            <a:off x="9819561" y="3503176"/>
            <a:ext cx="272807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記憶統合プロセスの劣化</a:t>
            </a:r>
            <a:endParaRPr lang="en-US" sz="1950" dirty="0"/>
          </a:p>
        </p:txBody>
      </p:sp>
      <p:sp>
        <p:nvSpPr>
          <p:cNvPr id="11" name="Text 9"/>
          <p:cNvSpPr/>
          <p:nvPr/>
        </p:nvSpPr>
        <p:spPr>
          <a:xfrm>
            <a:off x="9819561" y="3932396"/>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自分の書いた文章すら78%のケースで引用できない状態に陥ります。</a:t>
            </a:r>
            <a:endParaRPr lang="en-US" sz="1550" dirty="0"/>
          </a:p>
        </p:txBody>
      </p:sp>
      <p:sp>
        <p:nvSpPr>
          <p:cNvPr id="12" name="Text 10"/>
          <p:cNvSpPr/>
          <p:nvPr/>
        </p:nvSpPr>
        <p:spPr>
          <a:xfrm>
            <a:off x="793790" y="530661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認知負債（Cognitive Debt）とは、生成AIツールへの依存により、脳の情報処理、記憶、統合能力が系統的に減退することで蓄積される「認知能力の借金」です。</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66574"/>
            <a:ext cx="8434388"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最も深刻な発見：記憶と所有感の喪失</a:t>
            </a:r>
            <a:endParaRPr lang="en-US" sz="3900" dirty="0"/>
          </a:p>
        </p:txBody>
      </p:sp>
      <p:sp>
        <p:nvSpPr>
          <p:cNvPr id="3" name="Text 1"/>
          <p:cNvSpPr/>
          <p:nvPr/>
        </p:nvSpPr>
        <p:spPr>
          <a:xfrm>
            <a:off x="2771775" y="3473410"/>
            <a:ext cx="2441138" cy="496133"/>
          </a:xfrm>
          <a:prstGeom prst="rect">
            <a:avLst/>
          </a:prstGeom>
          <a:noFill/>
          <a:ln/>
        </p:spPr>
        <p:txBody>
          <a:bodyPr wrap="none" lIns="0" tIns="0" rIns="0" bIns="0" rtlCol="0" anchor="t"/>
          <a:lstStyle/>
          <a:p>
            <a:pPr algn="ctr" indent="0" marL="0">
              <a:lnSpc>
                <a:spcPts val="3900"/>
              </a:lnSpc>
              <a:buNone/>
            </a:pPr>
            <a:r>
              <a:rPr lang="en-US" sz="3900" dirty="0">
                <a:solidFill>
                  <a:srgbClr val="464646"/>
                </a:solidFill>
                <a:latin typeface="DM Sans Semi Bold" pitchFamily="34" charset="0"/>
                <a:ea typeface="DM Sans Semi Bold" pitchFamily="34" charset="-122"/>
                <a:cs typeface="DM Sans Semi Bold" pitchFamily="34" charset="-120"/>
              </a:rPr>
              <a:t>78%</a:t>
            </a:r>
            <a:endParaRPr lang="en-US" sz="3900" dirty="0"/>
          </a:p>
        </p:txBody>
      </p:sp>
      <p:pic>
        <p:nvPicPr>
          <p:cNvPr id="4" name="Image 0" descr="preencoded.png">    </p:cNvPr>
          <p:cNvPicPr>
            <a:picLocks noChangeAspect="1"/>
          </p:cNvPicPr>
          <p:nvPr/>
        </p:nvPicPr>
        <p:blipFill>
          <a:blip r:embed="rId1"/>
          <a:stretch>
            <a:fillRect/>
          </a:stretch>
        </p:blipFill>
        <p:spPr>
          <a:xfrm>
            <a:off x="2503884" y="2233017"/>
            <a:ext cx="2977039" cy="2977039"/>
          </a:xfrm>
          <a:prstGeom prst="rect">
            <a:avLst/>
          </a:prstGeom>
        </p:spPr>
      </p:pic>
      <p:sp>
        <p:nvSpPr>
          <p:cNvPr id="5" name="Text 2"/>
          <p:cNvSpPr/>
          <p:nvPr/>
        </p:nvSpPr>
        <p:spPr>
          <a:xfrm>
            <a:off x="2752011" y="545794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記憶の喪失</a:t>
            </a:r>
            <a:endParaRPr lang="en-US" sz="1950" dirty="0"/>
          </a:p>
        </p:txBody>
      </p:sp>
      <p:sp>
        <p:nvSpPr>
          <p:cNvPr id="6" name="Text 3"/>
          <p:cNvSpPr/>
          <p:nvPr/>
        </p:nvSpPr>
        <p:spPr>
          <a:xfrm>
            <a:off x="793790" y="5887164"/>
            <a:ext cx="6397347" cy="317540"/>
          </a:xfrm>
          <a:prstGeom prst="rect">
            <a:avLst/>
          </a:prstGeom>
          <a:noFill/>
          <a:ln/>
        </p:spPr>
        <p:txBody>
          <a:bodyPr wrap="non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AI使用者が自分の過去のエッセイからの引用に失敗</a:t>
            </a:r>
            <a:endParaRPr lang="en-US" sz="1550" dirty="0"/>
          </a:p>
        </p:txBody>
      </p:sp>
      <p:sp>
        <p:nvSpPr>
          <p:cNvPr id="7" name="Text 4"/>
          <p:cNvSpPr/>
          <p:nvPr/>
        </p:nvSpPr>
        <p:spPr>
          <a:xfrm>
            <a:off x="9417248" y="3473410"/>
            <a:ext cx="2441138" cy="496133"/>
          </a:xfrm>
          <a:prstGeom prst="rect">
            <a:avLst/>
          </a:prstGeom>
          <a:noFill/>
          <a:ln/>
        </p:spPr>
        <p:txBody>
          <a:bodyPr wrap="none" lIns="0" tIns="0" rIns="0" bIns="0" rtlCol="0" anchor="t"/>
          <a:lstStyle/>
          <a:p>
            <a:pPr algn="ctr" indent="0" marL="0">
              <a:lnSpc>
                <a:spcPts val="3900"/>
              </a:lnSpc>
              <a:buNone/>
            </a:pPr>
            <a:r>
              <a:rPr lang="en-US" sz="3900" dirty="0">
                <a:solidFill>
                  <a:srgbClr val="464646"/>
                </a:solidFill>
                <a:latin typeface="DM Sans Semi Bold" pitchFamily="34" charset="0"/>
                <a:ea typeface="DM Sans Semi Bold" pitchFamily="34" charset="-122"/>
                <a:cs typeface="DM Sans Semi Bold" pitchFamily="34" charset="-120"/>
              </a:rPr>
              <a:t>100%</a:t>
            </a:r>
            <a:endParaRPr lang="en-US" sz="3900" dirty="0"/>
          </a:p>
        </p:txBody>
      </p:sp>
      <p:pic>
        <p:nvPicPr>
          <p:cNvPr id="8" name="Image 1" descr="preencoded.png">    </p:cNvPr>
          <p:cNvPicPr>
            <a:picLocks noChangeAspect="1"/>
          </p:cNvPicPr>
          <p:nvPr/>
        </p:nvPicPr>
        <p:blipFill>
          <a:blip r:embed="rId2"/>
          <a:stretch>
            <a:fillRect/>
          </a:stretch>
        </p:blipFill>
        <p:spPr>
          <a:xfrm>
            <a:off x="9149358" y="2233017"/>
            <a:ext cx="2977039" cy="2977039"/>
          </a:xfrm>
          <a:prstGeom prst="rect">
            <a:avLst/>
          </a:prstGeom>
        </p:spPr>
      </p:pic>
      <p:sp>
        <p:nvSpPr>
          <p:cNvPr id="9" name="Text 5"/>
          <p:cNvSpPr/>
          <p:nvPr/>
        </p:nvSpPr>
        <p:spPr>
          <a:xfrm>
            <a:off x="9397365" y="545794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所有感の低下</a:t>
            </a:r>
            <a:endParaRPr lang="en-US" sz="1950" dirty="0"/>
          </a:p>
        </p:txBody>
      </p:sp>
      <p:sp>
        <p:nvSpPr>
          <p:cNvPr id="10" name="Text 6"/>
          <p:cNvSpPr/>
          <p:nvPr/>
        </p:nvSpPr>
        <p:spPr>
          <a:xfrm>
            <a:off x="7439144" y="5887164"/>
            <a:ext cx="6397466" cy="317540"/>
          </a:xfrm>
          <a:prstGeom prst="rect">
            <a:avLst/>
          </a:prstGeom>
          <a:noFill/>
          <a:ln/>
        </p:spPr>
        <p:txBody>
          <a:bodyPr wrap="none" lIns="0" tIns="0" rIns="0" bIns="0" rtlCol="0" anchor="t"/>
          <a:lstStyle/>
          <a:p>
            <a:pPr algn="ct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エッセイへの「所有感」が最も低いのがAI使用グループ</a:t>
            </a:r>
            <a:endParaRPr lang="en-US" sz="1550" dirty="0"/>
          </a:p>
        </p:txBody>
      </p:sp>
      <p:sp>
        <p:nvSpPr>
          <p:cNvPr id="11" name="Text 7"/>
          <p:cNvSpPr/>
          <p:nvPr/>
        </p:nvSpPr>
        <p:spPr>
          <a:xfrm>
            <a:off x="793790" y="642794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研究者Pattie Maes氏のコメント：「自分のアイデアから始めてその後AIサポートを重ねることで、神経回路をフル稼働させることができる。しかし、AIから始めることは、創造性と批判的推論を独特に人間的たらしめるネットワークを阻害する可能性がある」</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208490"/>
            <a:ext cx="792337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スイスの大規模社会調査からの警鐘</a:t>
            </a:r>
            <a:endParaRPr lang="en-US" sz="3900" dirty="0"/>
          </a:p>
        </p:txBody>
      </p:sp>
      <p:sp>
        <p:nvSpPr>
          <p:cNvPr id="3" name="Text 1"/>
          <p:cNvSpPr/>
          <p:nvPr/>
        </p:nvSpPr>
        <p:spPr>
          <a:xfrm>
            <a:off x="793790" y="322540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SBS Swiss Business SchoolのMichael Gerlich研究主任が実施した大規模社会調査（666人の有効回答者、50名との半構造化インタビュー）は、AI使用による認知機能への影響を社会レベルで実証しています。</a:t>
            </a:r>
            <a:endParaRPr lang="en-US" sz="1550" dirty="0"/>
          </a:p>
        </p:txBody>
      </p:sp>
      <p:pic>
        <p:nvPicPr>
          <p:cNvPr id="4" name="Image 0" descr="preencoded.png">    </p:cNvPr>
          <p:cNvPicPr>
            <a:picLocks noChangeAspect="1"/>
          </p:cNvPicPr>
          <p:nvPr/>
        </p:nvPicPr>
        <p:blipFill>
          <a:blip r:embed="rId1"/>
          <a:stretch>
            <a:fillRect/>
          </a:stretch>
        </p:blipFill>
        <p:spPr>
          <a:xfrm>
            <a:off x="793790" y="4083725"/>
            <a:ext cx="4347567" cy="793790"/>
          </a:xfrm>
          <a:prstGeom prst="rect">
            <a:avLst/>
          </a:prstGeom>
        </p:spPr>
      </p:pic>
      <p:sp>
        <p:nvSpPr>
          <p:cNvPr id="5" name="Text 2"/>
          <p:cNvSpPr/>
          <p:nvPr/>
        </p:nvSpPr>
        <p:spPr>
          <a:xfrm>
            <a:off x="992148" y="5075873"/>
            <a:ext cx="2717483"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AI使用頻度と批判的思考</a:t>
            </a:r>
            <a:endParaRPr lang="en-US" sz="1950" dirty="0"/>
          </a:p>
        </p:txBody>
      </p:sp>
      <p:sp>
        <p:nvSpPr>
          <p:cNvPr id="6" name="Text 3"/>
          <p:cNvSpPr/>
          <p:nvPr/>
        </p:nvSpPr>
        <p:spPr>
          <a:xfrm>
            <a:off x="992148" y="5505093"/>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r = -0.68（強い負の相関）</a:t>
            </a:r>
            <a:endParaRPr lang="en-US" sz="1550" dirty="0"/>
          </a:p>
        </p:txBody>
      </p:sp>
      <p:pic>
        <p:nvPicPr>
          <p:cNvPr id="7" name="Image 1" descr="preencoded.png">    </p:cNvPr>
          <p:cNvPicPr>
            <a:picLocks noChangeAspect="1"/>
          </p:cNvPicPr>
          <p:nvPr/>
        </p:nvPicPr>
        <p:blipFill>
          <a:blip r:embed="rId2"/>
          <a:stretch>
            <a:fillRect/>
          </a:stretch>
        </p:blipFill>
        <p:spPr>
          <a:xfrm>
            <a:off x="5141357" y="4083725"/>
            <a:ext cx="4347567" cy="793790"/>
          </a:xfrm>
          <a:prstGeom prst="rect">
            <a:avLst/>
          </a:prstGeom>
        </p:spPr>
      </p:pic>
      <p:sp>
        <p:nvSpPr>
          <p:cNvPr id="8" name="Text 4"/>
          <p:cNvSpPr/>
          <p:nvPr/>
        </p:nvSpPr>
        <p:spPr>
          <a:xfrm>
            <a:off x="5339715" y="50758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認知オフローディング</a:t>
            </a:r>
            <a:endParaRPr lang="en-US" sz="1950" dirty="0"/>
          </a:p>
        </p:txBody>
      </p:sp>
      <p:sp>
        <p:nvSpPr>
          <p:cNvPr id="9" name="Text 5"/>
          <p:cNvSpPr/>
          <p:nvPr/>
        </p:nvSpPr>
        <p:spPr>
          <a:xfrm>
            <a:off x="5339715" y="5505093"/>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r = +0.72（強い正の相関）</a:t>
            </a:r>
            <a:endParaRPr lang="en-US" sz="1550" dirty="0"/>
          </a:p>
        </p:txBody>
      </p:sp>
      <p:pic>
        <p:nvPicPr>
          <p:cNvPr id="10" name="Image 2" descr="preencoded.png">    </p:cNvPr>
          <p:cNvPicPr>
            <a:picLocks noChangeAspect="1"/>
          </p:cNvPicPr>
          <p:nvPr/>
        </p:nvPicPr>
        <p:blipFill>
          <a:blip r:embed="rId3"/>
          <a:stretch>
            <a:fillRect/>
          </a:stretch>
        </p:blipFill>
        <p:spPr>
          <a:xfrm>
            <a:off x="9488924" y="4083725"/>
            <a:ext cx="4347567" cy="793790"/>
          </a:xfrm>
          <a:prstGeom prst="rect">
            <a:avLst/>
          </a:prstGeom>
        </p:spPr>
      </p:pic>
      <p:sp>
        <p:nvSpPr>
          <p:cNvPr id="11" name="Text 6"/>
          <p:cNvSpPr/>
          <p:nvPr/>
        </p:nvSpPr>
        <p:spPr>
          <a:xfrm>
            <a:off x="9687282" y="50758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批判的思考への影響</a:t>
            </a:r>
            <a:endParaRPr lang="en-US" sz="1950" dirty="0"/>
          </a:p>
        </p:txBody>
      </p:sp>
      <p:sp>
        <p:nvSpPr>
          <p:cNvPr id="12" name="Text 7"/>
          <p:cNvSpPr/>
          <p:nvPr/>
        </p:nvSpPr>
        <p:spPr>
          <a:xfrm>
            <a:off x="9687282" y="5505093"/>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β = -1.76（有意な負予測）</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133713"/>
            <a:ext cx="7508915" cy="589121"/>
          </a:xfrm>
          <a:prstGeom prst="rect">
            <a:avLst/>
          </a:prstGeom>
          <a:noFill/>
          <a:ln/>
        </p:spPr>
        <p:txBody>
          <a:bodyPr wrap="none" lIns="0" tIns="0" rIns="0" bIns="0" rtlCol="0" anchor="t"/>
          <a:lstStyle/>
          <a:p>
            <a:pPr algn="l" indent="0" marL="0">
              <a:lnSpc>
                <a:spcPts val="4600"/>
              </a:lnSpc>
              <a:buNone/>
            </a:pPr>
            <a:r>
              <a:rPr lang="en-US" sz="3700" dirty="0">
                <a:solidFill>
                  <a:srgbClr val="030303"/>
                </a:solidFill>
                <a:latin typeface="DM Sans Semi Bold" pitchFamily="34" charset="0"/>
                <a:ea typeface="DM Sans Semi Bold" pitchFamily="34" charset="-122"/>
                <a:cs typeface="DM Sans Semi Bold" pitchFamily="34" charset="-120"/>
              </a:rPr>
              <a:t>認知オフローディングの段階的進行</a:t>
            </a:r>
            <a:endParaRPr lang="en-US" sz="3700" dirty="0"/>
          </a:p>
        </p:txBody>
      </p:sp>
      <p:pic>
        <p:nvPicPr>
          <p:cNvPr id="4" name="Image 1" descr="preencoded.png">    </p:cNvPr>
          <p:cNvPicPr>
            <a:picLocks noChangeAspect="1"/>
          </p:cNvPicPr>
          <p:nvPr/>
        </p:nvPicPr>
        <p:blipFill>
          <a:blip r:embed="rId2"/>
          <a:stretch>
            <a:fillRect/>
          </a:stretch>
        </p:blipFill>
        <p:spPr>
          <a:xfrm>
            <a:off x="793790" y="2005608"/>
            <a:ext cx="565547" cy="1143000"/>
          </a:xfrm>
          <a:prstGeom prst="rect">
            <a:avLst/>
          </a:prstGeom>
        </p:spPr>
      </p:pic>
      <p:sp>
        <p:nvSpPr>
          <p:cNvPr id="5" name="Text 1"/>
          <p:cNvSpPr/>
          <p:nvPr/>
        </p:nvSpPr>
        <p:spPr>
          <a:xfrm>
            <a:off x="1547813" y="2194084"/>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記憶の外部化</a:t>
            </a:r>
            <a:endParaRPr lang="en-US" sz="1850" dirty="0"/>
          </a:p>
        </p:txBody>
      </p:sp>
      <p:sp>
        <p:nvSpPr>
          <p:cNvPr id="6" name="Text 2"/>
          <p:cNvSpPr/>
          <p:nvPr/>
        </p:nvSpPr>
        <p:spPr>
          <a:xfrm>
            <a:off x="1547813" y="2601873"/>
            <a:ext cx="6802398" cy="301704"/>
          </a:xfrm>
          <a:prstGeom prst="rect">
            <a:avLst/>
          </a:prstGeom>
          <a:noFill/>
          <a:ln/>
        </p:spPr>
        <p:txBody>
          <a:bodyPr wrap="none" lIns="0" tIns="0" rIns="0" bIns="0" rtlCol="0" anchor="t"/>
          <a:lstStyle/>
          <a:p>
            <a:pPr algn="l"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情報の記憶をAIに依存し始める段階</a:t>
            </a:r>
            <a:endParaRPr lang="en-US" sz="1450" dirty="0"/>
          </a:p>
        </p:txBody>
      </p:sp>
      <p:pic>
        <p:nvPicPr>
          <p:cNvPr id="7" name="Image 2" descr="preencoded.png">    </p:cNvPr>
          <p:cNvPicPr>
            <a:picLocks noChangeAspect="1"/>
          </p:cNvPicPr>
          <p:nvPr/>
        </p:nvPicPr>
        <p:blipFill>
          <a:blip r:embed="rId3"/>
          <a:stretch>
            <a:fillRect/>
          </a:stretch>
        </p:blipFill>
        <p:spPr>
          <a:xfrm>
            <a:off x="1076563" y="3325297"/>
            <a:ext cx="565547" cy="1143000"/>
          </a:xfrm>
          <a:prstGeom prst="rect">
            <a:avLst/>
          </a:prstGeom>
        </p:spPr>
      </p:pic>
      <p:sp>
        <p:nvSpPr>
          <p:cNvPr id="8" name="Text 3"/>
          <p:cNvSpPr/>
          <p:nvPr/>
        </p:nvSpPr>
        <p:spPr>
          <a:xfrm>
            <a:off x="1830586" y="3513773"/>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注意制御の委託</a:t>
            </a:r>
            <a:endParaRPr lang="en-US" sz="1850" dirty="0"/>
          </a:p>
        </p:txBody>
      </p:sp>
      <p:sp>
        <p:nvSpPr>
          <p:cNvPr id="9" name="Text 4"/>
          <p:cNvSpPr/>
          <p:nvPr/>
        </p:nvSpPr>
        <p:spPr>
          <a:xfrm>
            <a:off x="1830586" y="3921562"/>
            <a:ext cx="6519624" cy="301704"/>
          </a:xfrm>
          <a:prstGeom prst="rect">
            <a:avLst/>
          </a:prstGeom>
          <a:noFill/>
          <a:ln/>
        </p:spPr>
        <p:txBody>
          <a:bodyPr wrap="none" lIns="0" tIns="0" rIns="0" bIns="0" rtlCol="0" anchor="t"/>
          <a:lstStyle/>
          <a:p>
            <a:pPr algn="l"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重要な情報の選別をAIに任せる段階</a:t>
            </a:r>
            <a:endParaRPr lang="en-US" sz="1450" dirty="0"/>
          </a:p>
        </p:txBody>
      </p:sp>
      <p:pic>
        <p:nvPicPr>
          <p:cNvPr id="10" name="Image 3" descr="preencoded.png">    </p:cNvPr>
          <p:cNvPicPr>
            <a:picLocks noChangeAspect="1"/>
          </p:cNvPicPr>
          <p:nvPr/>
        </p:nvPicPr>
        <p:blipFill>
          <a:blip r:embed="rId4"/>
          <a:stretch>
            <a:fillRect/>
          </a:stretch>
        </p:blipFill>
        <p:spPr>
          <a:xfrm>
            <a:off x="1359337" y="4644985"/>
            <a:ext cx="565547" cy="1143000"/>
          </a:xfrm>
          <a:prstGeom prst="rect">
            <a:avLst/>
          </a:prstGeom>
        </p:spPr>
      </p:pic>
      <p:sp>
        <p:nvSpPr>
          <p:cNvPr id="11" name="Text 5"/>
          <p:cNvSpPr/>
          <p:nvPr/>
        </p:nvSpPr>
        <p:spPr>
          <a:xfrm>
            <a:off x="2113359" y="4833461"/>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意思決定の外部化</a:t>
            </a:r>
            <a:endParaRPr lang="en-US" sz="1850" dirty="0"/>
          </a:p>
        </p:txBody>
      </p:sp>
      <p:sp>
        <p:nvSpPr>
          <p:cNvPr id="12" name="Text 6"/>
          <p:cNvSpPr/>
          <p:nvPr/>
        </p:nvSpPr>
        <p:spPr>
          <a:xfrm>
            <a:off x="2113359" y="5241250"/>
            <a:ext cx="6236851" cy="301704"/>
          </a:xfrm>
          <a:prstGeom prst="rect">
            <a:avLst/>
          </a:prstGeom>
          <a:noFill/>
          <a:ln/>
        </p:spPr>
        <p:txBody>
          <a:bodyPr wrap="none" lIns="0" tIns="0" rIns="0" bIns="0" rtlCol="0" anchor="t"/>
          <a:lstStyle/>
          <a:p>
            <a:pPr algn="l"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判断プロセスそのものをAIに委ね始める段階</a:t>
            </a:r>
            <a:endParaRPr lang="en-US" sz="1450" dirty="0"/>
          </a:p>
        </p:txBody>
      </p:sp>
      <p:pic>
        <p:nvPicPr>
          <p:cNvPr id="13" name="Image 4" descr="preencoded.png">    </p:cNvPr>
          <p:cNvPicPr>
            <a:picLocks noChangeAspect="1"/>
          </p:cNvPicPr>
          <p:nvPr/>
        </p:nvPicPr>
        <p:blipFill>
          <a:blip r:embed="rId5"/>
          <a:stretch>
            <a:fillRect/>
          </a:stretch>
        </p:blipFill>
        <p:spPr>
          <a:xfrm>
            <a:off x="1642229" y="5964674"/>
            <a:ext cx="565547" cy="1143000"/>
          </a:xfrm>
          <a:prstGeom prst="rect">
            <a:avLst/>
          </a:prstGeom>
        </p:spPr>
      </p:pic>
      <p:sp>
        <p:nvSpPr>
          <p:cNvPr id="14" name="Text 7"/>
          <p:cNvSpPr/>
          <p:nvPr/>
        </p:nvSpPr>
        <p:spPr>
          <a:xfrm>
            <a:off x="2396252" y="6153150"/>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分析的推論の放棄</a:t>
            </a:r>
            <a:endParaRPr lang="en-US" sz="1850" dirty="0"/>
          </a:p>
        </p:txBody>
      </p:sp>
      <p:sp>
        <p:nvSpPr>
          <p:cNvPr id="15" name="Text 8"/>
          <p:cNvSpPr/>
          <p:nvPr/>
        </p:nvSpPr>
        <p:spPr>
          <a:xfrm>
            <a:off x="2396252" y="6560939"/>
            <a:ext cx="5953958" cy="301704"/>
          </a:xfrm>
          <a:prstGeom prst="rect">
            <a:avLst/>
          </a:prstGeom>
          <a:noFill/>
          <a:ln/>
        </p:spPr>
        <p:txBody>
          <a:bodyPr wrap="none" lIns="0" tIns="0" rIns="0" bIns="0" rtlCol="0" anchor="t"/>
          <a:lstStyle/>
          <a:p>
            <a:pPr algn="l"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独立した批判的思考を行わなくなる最終段階</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72584"/>
            <a:ext cx="5953125" cy="465177"/>
          </a:xfrm>
          <a:prstGeom prst="rect">
            <a:avLst/>
          </a:prstGeom>
          <a:noFill/>
          <a:ln/>
        </p:spPr>
        <p:txBody>
          <a:bodyPr wrap="none" lIns="0" tIns="0" rIns="0" bIns="0" rtlCol="0" anchor="t"/>
          <a:lstStyle/>
          <a:p>
            <a:pPr algn="l" indent="0" marL="0">
              <a:lnSpc>
                <a:spcPts val="3650"/>
              </a:lnSpc>
              <a:buNone/>
            </a:pPr>
            <a:r>
              <a:rPr lang="en-US" sz="2900" dirty="0">
                <a:solidFill>
                  <a:srgbClr val="030303"/>
                </a:solidFill>
                <a:latin typeface="DM Sans Semi Bold" pitchFamily="34" charset="0"/>
                <a:ea typeface="DM Sans Semi Bold" pitchFamily="34" charset="-122"/>
                <a:cs typeface="DM Sans Semi Bold" pitchFamily="34" charset="-120"/>
              </a:rPr>
              <a:t>世代別・教育レベル別の深刻な格差</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031343"/>
          </a:xfrm>
          <a:prstGeom prst="rect">
            <a:avLst/>
          </a:prstGeom>
        </p:spPr>
      </p:pic>
      <p:sp>
        <p:nvSpPr>
          <p:cNvPr id="4" name="Shape 1"/>
          <p:cNvSpPr/>
          <p:nvPr/>
        </p:nvSpPr>
        <p:spPr>
          <a:xfrm>
            <a:off x="3002280" y="6466761"/>
            <a:ext cx="148828" cy="148828"/>
          </a:xfrm>
          <a:prstGeom prst="roundRect">
            <a:avLst>
              <a:gd name="adj" fmla="val 12288"/>
            </a:avLst>
          </a:prstGeom>
          <a:solidFill>
            <a:srgbClr val="0C4130"/>
          </a:solidFill>
          <a:ln/>
        </p:spPr>
      </p:sp>
      <p:sp>
        <p:nvSpPr>
          <p:cNvPr id="5" name="Text 2"/>
          <p:cNvSpPr/>
          <p:nvPr/>
        </p:nvSpPr>
        <p:spPr>
          <a:xfrm>
            <a:off x="3212068" y="6466761"/>
            <a:ext cx="740807" cy="148828"/>
          </a:xfrm>
          <a:prstGeom prst="rect">
            <a:avLst/>
          </a:prstGeom>
          <a:noFill/>
          <a:ln/>
        </p:spPr>
        <p:txBody>
          <a:bodyPr wrap="none" lIns="0" tIns="0" rIns="0" bIns="0" rtlCol="0" anchor="t"/>
          <a:lstStyle/>
          <a:p>
            <a:pPr algn="l" indent="0" marL="0">
              <a:lnSpc>
                <a:spcPts val="1150"/>
              </a:lnSpc>
              <a:buNone/>
            </a:pPr>
            <a:r>
              <a:rPr lang="en-US" sz="1150" dirty="0">
                <a:solidFill>
                  <a:srgbClr val="464646"/>
                </a:solidFill>
                <a:latin typeface="Inter Medium" pitchFamily="34" charset="0"/>
                <a:ea typeface="Inter Medium" pitchFamily="34" charset="-122"/>
                <a:cs typeface="Inter Medium" pitchFamily="34" charset="-120"/>
              </a:rPr>
              <a:t>AI使用頻度</a:t>
            </a:r>
            <a:endParaRPr lang="en-US" sz="1150" dirty="0"/>
          </a:p>
        </p:txBody>
      </p:sp>
      <p:sp>
        <p:nvSpPr>
          <p:cNvPr id="6" name="Shape 3"/>
          <p:cNvSpPr/>
          <p:nvPr/>
        </p:nvSpPr>
        <p:spPr>
          <a:xfrm>
            <a:off x="4841557" y="6466761"/>
            <a:ext cx="148828" cy="148828"/>
          </a:xfrm>
          <a:prstGeom prst="roundRect">
            <a:avLst>
              <a:gd name="adj" fmla="val 12288"/>
            </a:avLst>
          </a:prstGeom>
          <a:solidFill>
            <a:srgbClr val="126248"/>
          </a:solidFill>
          <a:ln/>
        </p:spPr>
      </p:sp>
      <p:sp>
        <p:nvSpPr>
          <p:cNvPr id="7" name="Text 4"/>
          <p:cNvSpPr/>
          <p:nvPr/>
        </p:nvSpPr>
        <p:spPr>
          <a:xfrm>
            <a:off x="5051346" y="6466761"/>
            <a:ext cx="1476732" cy="148828"/>
          </a:xfrm>
          <a:prstGeom prst="rect">
            <a:avLst/>
          </a:prstGeom>
          <a:noFill/>
          <a:ln/>
        </p:spPr>
        <p:txBody>
          <a:bodyPr wrap="none" lIns="0" tIns="0" rIns="0" bIns="0" rtlCol="0" anchor="t"/>
          <a:lstStyle/>
          <a:p>
            <a:pPr algn="l" indent="0" marL="0">
              <a:lnSpc>
                <a:spcPts val="1150"/>
              </a:lnSpc>
              <a:buNone/>
            </a:pPr>
            <a:r>
              <a:rPr lang="en-US" sz="1150" dirty="0">
                <a:solidFill>
                  <a:srgbClr val="464646"/>
                </a:solidFill>
                <a:latin typeface="Inter Medium" pitchFamily="34" charset="0"/>
                <a:ea typeface="Inter Medium" pitchFamily="34" charset="-122"/>
                <a:cs typeface="Inter Medium" pitchFamily="34" charset="-120"/>
              </a:rPr>
              <a:t>認知オフローディング</a:t>
            </a:r>
            <a:endParaRPr lang="en-US" sz="1150" dirty="0"/>
          </a:p>
        </p:txBody>
      </p:sp>
      <p:sp>
        <p:nvSpPr>
          <p:cNvPr id="8" name="Shape 5"/>
          <p:cNvSpPr/>
          <p:nvPr/>
        </p:nvSpPr>
        <p:spPr>
          <a:xfrm>
            <a:off x="7416760" y="6466761"/>
            <a:ext cx="148828" cy="148828"/>
          </a:xfrm>
          <a:prstGeom prst="roundRect">
            <a:avLst>
              <a:gd name="adj" fmla="val 12288"/>
            </a:avLst>
          </a:prstGeom>
          <a:solidFill>
            <a:srgbClr val="188261"/>
          </a:solidFill>
          <a:ln/>
        </p:spPr>
      </p:sp>
      <p:sp>
        <p:nvSpPr>
          <p:cNvPr id="9" name="Text 6"/>
          <p:cNvSpPr/>
          <p:nvPr/>
        </p:nvSpPr>
        <p:spPr>
          <a:xfrm>
            <a:off x="7626548" y="6466761"/>
            <a:ext cx="1189673" cy="148828"/>
          </a:xfrm>
          <a:prstGeom prst="rect">
            <a:avLst/>
          </a:prstGeom>
          <a:noFill/>
          <a:ln/>
        </p:spPr>
        <p:txBody>
          <a:bodyPr wrap="none" lIns="0" tIns="0" rIns="0" bIns="0" rtlCol="0" anchor="t"/>
          <a:lstStyle/>
          <a:p>
            <a:pPr algn="l" indent="0" marL="0">
              <a:lnSpc>
                <a:spcPts val="1150"/>
              </a:lnSpc>
              <a:buNone/>
            </a:pPr>
            <a:r>
              <a:rPr lang="en-US" sz="1150" dirty="0">
                <a:solidFill>
                  <a:srgbClr val="464646"/>
                </a:solidFill>
                <a:latin typeface="Inter Medium" pitchFamily="34" charset="0"/>
                <a:ea typeface="Inter Medium" pitchFamily="34" charset="-122"/>
                <a:cs typeface="Inter Medium" pitchFamily="34" charset="-120"/>
              </a:rPr>
              <a:t>批判的思考スコア</a:t>
            </a:r>
            <a:endParaRPr lang="en-US" sz="1150" dirty="0"/>
          </a:p>
        </p:txBody>
      </p:sp>
      <p:sp>
        <p:nvSpPr>
          <p:cNvPr id="10" name="Text 7"/>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17-25歳の若年層（教育現場の主要対象）が最高のAI使用頻度と認知オフローディングスコア、最低の批判的思考スコアを示しています。高等教育修了者でも、AI使用頻度が高い場合は教育レベルに関係なく認知機能が低下することが確認されました。</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539127"/>
            <a:ext cx="893052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参加者の自己認識：依存の自覚と無力感</a:t>
            </a:r>
            <a:endParaRPr lang="en-US" sz="3900" dirty="0"/>
          </a:p>
        </p:txBody>
      </p:sp>
      <p:sp>
        <p:nvSpPr>
          <p:cNvPr id="3" name="Shape 1"/>
          <p:cNvSpPr/>
          <p:nvPr/>
        </p:nvSpPr>
        <p:spPr>
          <a:xfrm>
            <a:off x="793790" y="3556040"/>
            <a:ext cx="4215289" cy="1276112"/>
          </a:xfrm>
          <a:prstGeom prst="roundRect">
            <a:avLst>
              <a:gd name="adj" fmla="val 2333"/>
            </a:avLst>
          </a:prstGeom>
          <a:solidFill>
            <a:srgbClr val="FFFFFF"/>
          </a:solidFill>
          <a:ln w="22860">
            <a:solidFill>
              <a:srgbClr val="D8D4D4"/>
            </a:solidFill>
            <a:prstDash val="solid"/>
          </a:ln>
        </p:spPr>
      </p:sp>
      <p:pic>
        <p:nvPicPr>
          <p:cNvPr id="4" name="Image 0" descr="preencoded.png">    </p:cNvPr>
          <p:cNvPicPr>
            <a:picLocks noChangeAspect="1"/>
          </p:cNvPicPr>
          <p:nvPr/>
        </p:nvPicPr>
        <p:blipFill>
          <a:blip r:embed="rId1"/>
          <a:stretch>
            <a:fillRect/>
          </a:stretch>
        </p:blipFill>
        <p:spPr>
          <a:xfrm>
            <a:off x="697587" y="3459837"/>
            <a:ext cx="238125" cy="238125"/>
          </a:xfrm>
          <a:prstGeom prst="rect">
            <a:avLst/>
          </a:prstGeom>
        </p:spPr>
      </p:pic>
      <p:pic>
        <p:nvPicPr>
          <p:cNvPr id="5" name="Image 1" descr="preencoded.png">    </p:cNvPr>
          <p:cNvPicPr>
            <a:picLocks noChangeAspect="1"/>
          </p:cNvPicPr>
          <p:nvPr/>
        </p:nvPicPr>
        <p:blipFill>
          <a:blip r:embed="rId2"/>
          <a:stretch>
            <a:fillRect/>
          </a:stretch>
        </p:blipFill>
        <p:spPr>
          <a:xfrm>
            <a:off x="4867156" y="4690229"/>
            <a:ext cx="238125" cy="238125"/>
          </a:xfrm>
          <a:prstGeom prst="rect">
            <a:avLst/>
          </a:prstGeom>
        </p:spPr>
      </p:pic>
      <p:sp>
        <p:nvSpPr>
          <p:cNvPr id="6" name="Text 2"/>
          <p:cNvSpPr/>
          <p:nvPr/>
        </p:nvSpPr>
        <p:spPr>
          <a:xfrm>
            <a:off x="1114306" y="3876556"/>
            <a:ext cx="357425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「AIを使えば使うほど、自分で問題解決をする必要性を感じなくなる」</a:t>
            </a:r>
            <a:endParaRPr lang="en-US" sz="1550" dirty="0"/>
          </a:p>
        </p:txBody>
      </p:sp>
      <p:sp>
        <p:nvSpPr>
          <p:cNvPr id="7" name="Shape 3"/>
          <p:cNvSpPr/>
          <p:nvPr/>
        </p:nvSpPr>
        <p:spPr>
          <a:xfrm>
            <a:off x="5207437" y="3556040"/>
            <a:ext cx="4215408" cy="1276112"/>
          </a:xfrm>
          <a:prstGeom prst="roundRect">
            <a:avLst>
              <a:gd name="adj" fmla="val 2333"/>
            </a:avLst>
          </a:prstGeom>
          <a:solidFill>
            <a:srgbClr val="FFFFFF"/>
          </a:solidFill>
          <a:ln w="22860">
            <a:solidFill>
              <a:srgbClr val="D8D4D4"/>
            </a:solidFill>
            <a:prstDash val="solid"/>
          </a:ln>
        </p:spPr>
      </p:sp>
      <p:pic>
        <p:nvPicPr>
          <p:cNvPr id="8" name="Image 2" descr="preencoded.png">    </p:cNvPr>
          <p:cNvPicPr>
            <a:picLocks noChangeAspect="1"/>
          </p:cNvPicPr>
          <p:nvPr/>
        </p:nvPicPr>
        <p:blipFill>
          <a:blip r:embed="rId3"/>
          <a:stretch>
            <a:fillRect/>
          </a:stretch>
        </p:blipFill>
        <p:spPr>
          <a:xfrm>
            <a:off x="5111234" y="3459837"/>
            <a:ext cx="238125" cy="238125"/>
          </a:xfrm>
          <a:prstGeom prst="rect">
            <a:avLst/>
          </a:prstGeom>
        </p:spPr>
      </p:pic>
      <p:pic>
        <p:nvPicPr>
          <p:cNvPr id="9" name="Image 3" descr="preencoded.png">    </p:cNvPr>
          <p:cNvPicPr>
            <a:picLocks noChangeAspect="1"/>
          </p:cNvPicPr>
          <p:nvPr/>
        </p:nvPicPr>
        <p:blipFill>
          <a:blip r:embed="rId4"/>
          <a:stretch>
            <a:fillRect/>
          </a:stretch>
        </p:blipFill>
        <p:spPr>
          <a:xfrm>
            <a:off x="9280922" y="4690229"/>
            <a:ext cx="238125" cy="238125"/>
          </a:xfrm>
          <a:prstGeom prst="rect">
            <a:avLst/>
          </a:prstGeom>
        </p:spPr>
      </p:pic>
      <p:sp>
        <p:nvSpPr>
          <p:cNvPr id="10" name="Text 4"/>
          <p:cNvSpPr/>
          <p:nvPr/>
        </p:nvSpPr>
        <p:spPr>
          <a:xfrm>
            <a:off x="5527953" y="3876556"/>
            <a:ext cx="357437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「AIに依存していることは分かっているが、もう元には戻れない」</a:t>
            </a:r>
            <a:endParaRPr lang="en-US" sz="1550" dirty="0"/>
          </a:p>
        </p:txBody>
      </p:sp>
      <p:sp>
        <p:nvSpPr>
          <p:cNvPr id="11" name="Shape 5"/>
          <p:cNvSpPr/>
          <p:nvPr/>
        </p:nvSpPr>
        <p:spPr>
          <a:xfrm>
            <a:off x="9621203" y="3556040"/>
            <a:ext cx="4215289" cy="1276112"/>
          </a:xfrm>
          <a:prstGeom prst="roundRect">
            <a:avLst>
              <a:gd name="adj" fmla="val 2333"/>
            </a:avLst>
          </a:prstGeom>
          <a:solidFill>
            <a:srgbClr val="FFFFFF"/>
          </a:solidFill>
          <a:ln w="22860">
            <a:solidFill>
              <a:srgbClr val="D8D4D4"/>
            </a:solidFill>
            <a:prstDash val="solid"/>
          </a:ln>
        </p:spPr>
      </p:sp>
      <p:pic>
        <p:nvPicPr>
          <p:cNvPr id="12" name="Image 4" descr="preencoded.png">    </p:cNvPr>
          <p:cNvPicPr>
            <a:picLocks noChangeAspect="1"/>
          </p:cNvPicPr>
          <p:nvPr/>
        </p:nvPicPr>
        <p:blipFill>
          <a:blip r:embed="rId5"/>
          <a:stretch>
            <a:fillRect/>
          </a:stretch>
        </p:blipFill>
        <p:spPr>
          <a:xfrm>
            <a:off x="9525000" y="3459837"/>
            <a:ext cx="238125" cy="238125"/>
          </a:xfrm>
          <a:prstGeom prst="rect">
            <a:avLst/>
          </a:prstGeom>
        </p:spPr>
      </p:pic>
      <p:pic>
        <p:nvPicPr>
          <p:cNvPr id="13" name="Image 5" descr="preencoded.png">    </p:cNvPr>
          <p:cNvPicPr>
            <a:picLocks noChangeAspect="1"/>
          </p:cNvPicPr>
          <p:nvPr/>
        </p:nvPicPr>
        <p:blipFill>
          <a:blip r:embed="rId6"/>
          <a:stretch>
            <a:fillRect/>
          </a:stretch>
        </p:blipFill>
        <p:spPr>
          <a:xfrm>
            <a:off x="13694569" y="4690229"/>
            <a:ext cx="238125" cy="238125"/>
          </a:xfrm>
          <a:prstGeom prst="rect">
            <a:avLst/>
          </a:prstGeom>
        </p:spPr>
      </p:pic>
      <p:sp>
        <p:nvSpPr>
          <p:cNvPr id="14" name="Text 6"/>
          <p:cNvSpPr/>
          <p:nvPr/>
        </p:nvSpPr>
        <p:spPr>
          <a:xfrm>
            <a:off x="9941719" y="3876556"/>
            <a:ext cx="357425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「効率的だが、何か重要なものを失っている気がする」</a:t>
            </a:r>
            <a:endParaRPr lang="en-US" sz="1550" dirty="0"/>
          </a:p>
        </p:txBody>
      </p:sp>
      <p:sp>
        <p:nvSpPr>
          <p:cNvPr id="15" name="Text 7"/>
          <p:cNvSpPr/>
          <p:nvPr/>
        </p:nvSpPr>
        <p:spPr>
          <a:xfrm>
            <a:off x="793790" y="505539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質的インタビューから得られた参加者の声は、中国調査と同様の「理解-行動ギャップ」を示しており、依存症の典型的な症状パターンが確認されています。</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94636"/>
            <a:ext cx="788360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フィードバックループの悪循環構造</a:t>
            </a:r>
            <a:endParaRPr lang="en-US" sz="3900" dirty="0"/>
          </a:p>
        </p:txBody>
      </p:sp>
      <p:sp>
        <p:nvSpPr>
          <p:cNvPr id="3" name="Text 1"/>
          <p:cNvSpPr/>
          <p:nvPr/>
        </p:nvSpPr>
        <p:spPr>
          <a:xfrm>
            <a:off x="2017514" y="2823210"/>
            <a:ext cx="2717483"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AI使用で作業が楽になる</a:t>
            </a:r>
            <a:endParaRPr lang="en-US" sz="1950" dirty="0"/>
          </a:p>
        </p:txBody>
      </p:sp>
      <p:pic>
        <p:nvPicPr>
          <p:cNvPr id="4" name="Image 0" descr="preencoded.png">    </p:cNvPr>
          <p:cNvPicPr>
            <a:picLocks noChangeAspect="1"/>
          </p:cNvPicPr>
          <p:nvPr/>
        </p:nvPicPr>
        <p:blipFill>
          <a:blip r:embed="rId1"/>
          <a:stretch>
            <a:fillRect/>
          </a:stretch>
        </p:blipFill>
        <p:spPr>
          <a:xfrm>
            <a:off x="5032653" y="1911548"/>
            <a:ext cx="4564975" cy="4564975"/>
          </a:xfrm>
          <a:prstGeom prst="rect">
            <a:avLst/>
          </a:prstGeom>
        </p:spPr>
      </p:pic>
      <p:pic>
        <p:nvPicPr>
          <p:cNvPr id="5" name="Image 1" descr="preencoded.png">    </p:cNvPr>
          <p:cNvPicPr>
            <a:picLocks noChangeAspect="1"/>
          </p:cNvPicPr>
          <p:nvPr/>
        </p:nvPicPr>
        <p:blipFill>
          <a:blip r:embed="rId2"/>
          <a:stretch>
            <a:fillRect/>
          </a:stretch>
        </p:blipFill>
        <p:spPr>
          <a:xfrm>
            <a:off x="6054626" y="2861012"/>
            <a:ext cx="296942" cy="371118"/>
          </a:xfrm>
          <a:prstGeom prst="rect">
            <a:avLst/>
          </a:prstGeom>
        </p:spPr>
      </p:pic>
      <p:sp>
        <p:nvSpPr>
          <p:cNvPr id="6" name="Text 2"/>
          <p:cNvSpPr/>
          <p:nvPr/>
        </p:nvSpPr>
        <p:spPr>
          <a:xfrm>
            <a:off x="9895284" y="241804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さらにAIに依存する</a:t>
            </a:r>
            <a:endParaRPr lang="en-US" sz="1950" dirty="0"/>
          </a:p>
        </p:txBody>
      </p:sp>
      <p:pic>
        <p:nvPicPr>
          <p:cNvPr id="7" name="Image 2" descr="preencoded.png">    </p:cNvPr>
          <p:cNvPicPr>
            <a:picLocks noChangeAspect="1"/>
          </p:cNvPicPr>
          <p:nvPr/>
        </p:nvPicPr>
        <p:blipFill>
          <a:blip r:embed="rId3"/>
          <a:stretch>
            <a:fillRect/>
          </a:stretch>
        </p:blipFill>
        <p:spPr>
          <a:xfrm>
            <a:off x="5032653" y="1911548"/>
            <a:ext cx="4564975" cy="4564975"/>
          </a:xfrm>
          <a:prstGeom prst="rect">
            <a:avLst/>
          </a:prstGeom>
        </p:spPr>
      </p:pic>
      <p:pic>
        <p:nvPicPr>
          <p:cNvPr id="8" name="Image 3" descr="preencoded.png">    </p:cNvPr>
          <p:cNvPicPr>
            <a:picLocks noChangeAspect="1"/>
          </p:cNvPicPr>
          <p:nvPr/>
        </p:nvPicPr>
        <p:blipFill>
          <a:blip r:embed="rId4"/>
          <a:stretch>
            <a:fillRect/>
          </a:stretch>
        </p:blipFill>
        <p:spPr>
          <a:xfrm>
            <a:off x="7914144" y="2596336"/>
            <a:ext cx="296942" cy="371118"/>
          </a:xfrm>
          <a:prstGeom prst="rect">
            <a:avLst/>
          </a:prstGeom>
        </p:spPr>
      </p:pic>
      <p:sp>
        <p:nvSpPr>
          <p:cNvPr id="9" name="Text 3"/>
          <p:cNvSpPr/>
          <p:nvPr/>
        </p:nvSpPr>
        <p:spPr>
          <a:xfrm>
            <a:off x="9994463" y="4038838"/>
            <a:ext cx="2976086"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認知能力がさらに低下する</a:t>
            </a:r>
            <a:endParaRPr lang="en-US" sz="1950" dirty="0"/>
          </a:p>
        </p:txBody>
      </p:sp>
      <p:pic>
        <p:nvPicPr>
          <p:cNvPr id="10" name="Image 4" descr="preencoded.png">    </p:cNvPr>
          <p:cNvPicPr>
            <a:picLocks noChangeAspect="1"/>
          </p:cNvPicPr>
          <p:nvPr/>
        </p:nvPicPr>
        <p:blipFill>
          <a:blip r:embed="rId5"/>
          <a:stretch>
            <a:fillRect/>
          </a:stretch>
        </p:blipFill>
        <p:spPr>
          <a:xfrm>
            <a:off x="5032653" y="1911548"/>
            <a:ext cx="4564975" cy="4564975"/>
          </a:xfrm>
          <a:prstGeom prst="rect">
            <a:avLst/>
          </a:prstGeom>
        </p:spPr>
      </p:pic>
      <p:pic>
        <p:nvPicPr>
          <p:cNvPr id="11" name="Image 5" descr="preencoded.png">    </p:cNvPr>
          <p:cNvPicPr>
            <a:picLocks noChangeAspect="1"/>
          </p:cNvPicPr>
          <p:nvPr/>
        </p:nvPicPr>
        <p:blipFill>
          <a:blip r:embed="rId6"/>
          <a:stretch>
            <a:fillRect/>
          </a:stretch>
        </p:blipFill>
        <p:spPr>
          <a:xfrm>
            <a:off x="8740557" y="4283095"/>
            <a:ext cx="296942" cy="371118"/>
          </a:xfrm>
          <a:prstGeom prst="rect">
            <a:avLst/>
          </a:prstGeom>
        </p:spPr>
      </p:pic>
      <p:sp>
        <p:nvSpPr>
          <p:cNvPr id="12" name="Text 4"/>
          <p:cNvSpPr/>
          <p:nvPr/>
        </p:nvSpPr>
        <p:spPr>
          <a:xfrm>
            <a:off x="9895284" y="5659755"/>
            <a:ext cx="2958822"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自力解決がより困難になる</a:t>
            </a:r>
            <a:endParaRPr lang="en-US" sz="1950" dirty="0"/>
          </a:p>
        </p:txBody>
      </p:sp>
      <p:pic>
        <p:nvPicPr>
          <p:cNvPr id="13" name="Image 6" descr="preencoded.png">    </p:cNvPr>
          <p:cNvPicPr>
            <a:picLocks noChangeAspect="1"/>
          </p:cNvPicPr>
          <p:nvPr/>
        </p:nvPicPr>
        <p:blipFill>
          <a:blip r:embed="rId7"/>
          <a:stretch>
            <a:fillRect/>
          </a:stretch>
        </p:blipFill>
        <p:spPr>
          <a:xfrm>
            <a:off x="5032653" y="1911548"/>
            <a:ext cx="4564975" cy="4564975"/>
          </a:xfrm>
          <a:prstGeom prst="rect">
            <a:avLst/>
          </a:prstGeom>
        </p:spPr>
      </p:pic>
      <p:pic>
        <p:nvPicPr>
          <p:cNvPr id="14" name="Image 7" descr="preencoded.png">    </p:cNvPr>
          <p:cNvPicPr>
            <a:picLocks noChangeAspect="1"/>
          </p:cNvPicPr>
          <p:nvPr/>
        </p:nvPicPr>
        <p:blipFill>
          <a:blip r:embed="rId8"/>
          <a:stretch>
            <a:fillRect/>
          </a:stretch>
        </p:blipFill>
        <p:spPr>
          <a:xfrm>
            <a:off x="7391698" y="5590163"/>
            <a:ext cx="296942" cy="371118"/>
          </a:xfrm>
          <a:prstGeom prst="rect">
            <a:avLst/>
          </a:prstGeom>
        </p:spPr>
      </p:pic>
      <p:sp>
        <p:nvSpPr>
          <p:cNvPr id="15" name="Text 5"/>
          <p:cNvSpPr/>
          <p:nvPr/>
        </p:nvSpPr>
        <p:spPr>
          <a:xfrm>
            <a:off x="2017514" y="5254466"/>
            <a:ext cx="2717483"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AI依存がさらに深化する</a:t>
            </a:r>
            <a:endParaRPr lang="en-US" sz="1950" dirty="0"/>
          </a:p>
        </p:txBody>
      </p:sp>
      <p:pic>
        <p:nvPicPr>
          <p:cNvPr id="16" name="Image 8" descr="preencoded.png">    </p:cNvPr>
          <p:cNvPicPr>
            <a:picLocks noChangeAspect="1"/>
          </p:cNvPicPr>
          <p:nvPr/>
        </p:nvPicPr>
        <p:blipFill>
          <a:blip r:embed="rId9"/>
          <a:stretch>
            <a:fillRect/>
          </a:stretch>
        </p:blipFill>
        <p:spPr>
          <a:xfrm>
            <a:off x="5032653" y="1911548"/>
            <a:ext cx="4564975" cy="4564975"/>
          </a:xfrm>
          <a:prstGeom prst="rect">
            <a:avLst/>
          </a:prstGeom>
        </p:spPr>
      </p:pic>
      <p:pic>
        <p:nvPicPr>
          <p:cNvPr id="17" name="Image 9" descr="preencoded.png">    </p:cNvPr>
          <p:cNvPicPr>
            <a:picLocks noChangeAspect="1"/>
          </p:cNvPicPr>
          <p:nvPr/>
        </p:nvPicPr>
        <p:blipFill>
          <a:blip r:embed="rId10"/>
          <a:stretch>
            <a:fillRect/>
          </a:stretch>
        </p:blipFill>
        <p:spPr>
          <a:xfrm>
            <a:off x="5731728" y="4711363"/>
            <a:ext cx="296942" cy="371118"/>
          </a:xfrm>
          <a:prstGeom prst="rect">
            <a:avLst/>
          </a:prstGeom>
        </p:spPr>
      </p:pic>
      <p:sp>
        <p:nvSpPr>
          <p:cNvPr id="18" name="Text 6"/>
          <p:cNvSpPr/>
          <p:nvPr/>
        </p:nvSpPr>
        <p:spPr>
          <a:xfrm>
            <a:off x="793790" y="669976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研究者Gerlichの警告：「AIツールの多用は、表面的な生産性向上をもたらすが、根本的な認知スキルの土台を浸食する。特に、批判的思考や独立的な問題解決能力への影響は深刻である」</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156573"/>
            <a:ext cx="8434388"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認知負債蓄積の段階的劣化メカニズム</a:t>
            </a:r>
            <a:endParaRPr lang="en-US" sz="3900" dirty="0"/>
          </a:p>
        </p:txBody>
      </p:sp>
      <p:sp>
        <p:nvSpPr>
          <p:cNvPr id="3" name="Shape 1"/>
          <p:cNvSpPr/>
          <p:nvPr/>
        </p:nvSpPr>
        <p:spPr>
          <a:xfrm>
            <a:off x="7303770" y="2173486"/>
            <a:ext cx="22860" cy="4899422"/>
          </a:xfrm>
          <a:prstGeom prst="roundRect">
            <a:avLst>
              <a:gd name="adj" fmla="val 130232"/>
            </a:avLst>
          </a:prstGeom>
          <a:solidFill>
            <a:srgbClr val="D8D4D4"/>
          </a:solidFill>
          <a:ln/>
        </p:spPr>
      </p:sp>
      <p:sp>
        <p:nvSpPr>
          <p:cNvPr id="4" name="Shape 2"/>
          <p:cNvSpPr/>
          <p:nvPr/>
        </p:nvSpPr>
        <p:spPr>
          <a:xfrm>
            <a:off x="6519505" y="2385298"/>
            <a:ext cx="595313" cy="22860"/>
          </a:xfrm>
          <a:prstGeom prst="roundRect">
            <a:avLst>
              <a:gd name="adj" fmla="val 130232"/>
            </a:avLst>
          </a:prstGeom>
          <a:solidFill>
            <a:srgbClr val="D8D4D4"/>
          </a:solidFill>
          <a:ln/>
        </p:spPr>
      </p:sp>
      <p:sp>
        <p:nvSpPr>
          <p:cNvPr id="5" name="Shape 3"/>
          <p:cNvSpPr/>
          <p:nvPr/>
        </p:nvSpPr>
        <p:spPr>
          <a:xfrm>
            <a:off x="7091958" y="2173486"/>
            <a:ext cx="446484" cy="446484"/>
          </a:xfrm>
          <a:prstGeom prst="roundRect">
            <a:avLst>
              <a:gd name="adj" fmla="val 6668"/>
            </a:avLst>
          </a:prstGeom>
          <a:solidFill>
            <a:srgbClr val="F2EEEE"/>
          </a:solidFill>
          <a:ln/>
        </p:spPr>
      </p:sp>
      <p:sp>
        <p:nvSpPr>
          <p:cNvPr id="6" name="Text 4"/>
          <p:cNvSpPr/>
          <p:nvPr/>
        </p:nvSpPr>
        <p:spPr>
          <a:xfrm>
            <a:off x="7166372" y="221069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1</a:t>
            </a:r>
            <a:endParaRPr lang="en-US" sz="2300" dirty="0"/>
          </a:p>
        </p:txBody>
      </p:sp>
      <p:sp>
        <p:nvSpPr>
          <p:cNvPr id="7" name="Text 5"/>
          <p:cNvSpPr/>
          <p:nvPr/>
        </p:nvSpPr>
        <p:spPr>
          <a:xfrm>
            <a:off x="2692598" y="2241709"/>
            <a:ext cx="3630335"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初期利用期（使用開始～4週間）</a:t>
            </a:r>
            <a:endParaRPr lang="en-US" sz="1950" dirty="0"/>
          </a:p>
        </p:txBody>
      </p:sp>
      <p:sp>
        <p:nvSpPr>
          <p:cNvPr id="8" name="Text 6"/>
          <p:cNvSpPr/>
          <p:nvPr/>
        </p:nvSpPr>
        <p:spPr>
          <a:xfrm>
            <a:off x="793790" y="2670929"/>
            <a:ext cx="5529143" cy="635079"/>
          </a:xfrm>
          <a:prstGeom prst="rect">
            <a:avLst/>
          </a:prstGeom>
          <a:noFill/>
          <a:ln/>
        </p:spPr>
        <p:txBody>
          <a:bodyPr wrap="squar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α波・β波の接続性が早くも低下開始。「効率的で便利」という肯定的認識の裏で、認知的負荷が段階的に減少します。</a:t>
            </a:r>
            <a:endParaRPr lang="en-US" sz="1550" dirty="0"/>
          </a:p>
        </p:txBody>
      </p:sp>
      <p:sp>
        <p:nvSpPr>
          <p:cNvPr id="9" name="Shape 7"/>
          <p:cNvSpPr/>
          <p:nvPr/>
        </p:nvSpPr>
        <p:spPr>
          <a:xfrm>
            <a:off x="7515582" y="3575923"/>
            <a:ext cx="595313" cy="22860"/>
          </a:xfrm>
          <a:prstGeom prst="roundRect">
            <a:avLst>
              <a:gd name="adj" fmla="val 130232"/>
            </a:avLst>
          </a:prstGeom>
          <a:solidFill>
            <a:srgbClr val="D8D4D4"/>
          </a:solidFill>
          <a:ln/>
        </p:spPr>
      </p:sp>
      <p:sp>
        <p:nvSpPr>
          <p:cNvPr id="10" name="Shape 8"/>
          <p:cNvSpPr/>
          <p:nvPr/>
        </p:nvSpPr>
        <p:spPr>
          <a:xfrm>
            <a:off x="7091958" y="3364111"/>
            <a:ext cx="446484" cy="446484"/>
          </a:xfrm>
          <a:prstGeom prst="roundRect">
            <a:avLst>
              <a:gd name="adj" fmla="val 6668"/>
            </a:avLst>
          </a:prstGeom>
          <a:solidFill>
            <a:srgbClr val="F2EEEE"/>
          </a:solidFill>
          <a:ln/>
        </p:spPr>
      </p:sp>
      <p:sp>
        <p:nvSpPr>
          <p:cNvPr id="11" name="Text 9"/>
          <p:cNvSpPr/>
          <p:nvPr/>
        </p:nvSpPr>
        <p:spPr>
          <a:xfrm>
            <a:off x="7166372" y="3401318"/>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2</a:t>
            </a:r>
            <a:endParaRPr lang="en-US" sz="2300" dirty="0"/>
          </a:p>
        </p:txBody>
      </p:sp>
      <p:sp>
        <p:nvSpPr>
          <p:cNvPr id="12" name="Text 10"/>
          <p:cNvSpPr/>
          <p:nvPr/>
        </p:nvSpPr>
        <p:spPr>
          <a:xfrm>
            <a:off x="8307467" y="3432334"/>
            <a:ext cx="2607112"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依存形成期（1-3ヶ月）</a:t>
            </a:r>
            <a:endParaRPr lang="en-US" sz="1950" dirty="0"/>
          </a:p>
        </p:txBody>
      </p:sp>
      <p:sp>
        <p:nvSpPr>
          <p:cNvPr id="13" name="Text 11"/>
          <p:cNvSpPr/>
          <p:nvPr/>
        </p:nvSpPr>
        <p:spPr>
          <a:xfrm>
            <a:off x="8307467" y="3861554"/>
            <a:ext cx="552914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前頭前野の活動低下が顕著に。問題に直面すると即座にAIに依存し、自力思考への「苦痛感」が出現します。</a:t>
            </a:r>
            <a:endParaRPr lang="en-US" sz="1550" dirty="0"/>
          </a:p>
        </p:txBody>
      </p:sp>
      <p:sp>
        <p:nvSpPr>
          <p:cNvPr id="14" name="Shape 12"/>
          <p:cNvSpPr/>
          <p:nvPr/>
        </p:nvSpPr>
        <p:spPr>
          <a:xfrm>
            <a:off x="6519505" y="4602242"/>
            <a:ext cx="595313" cy="22860"/>
          </a:xfrm>
          <a:prstGeom prst="roundRect">
            <a:avLst>
              <a:gd name="adj" fmla="val 130232"/>
            </a:avLst>
          </a:prstGeom>
          <a:solidFill>
            <a:srgbClr val="D8D4D4"/>
          </a:solidFill>
          <a:ln/>
        </p:spPr>
      </p:sp>
      <p:sp>
        <p:nvSpPr>
          <p:cNvPr id="15" name="Shape 13"/>
          <p:cNvSpPr/>
          <p:nvPr/>
        </p:nvSpPr>
        <p:spPr>
          <a:xfrm>
            <a:off x="7091958" y="4390430"/>
            <a:ext cx="446484" cy="446484"/>
          </a:xfrm>
          <a:prstGeom prst="roundRect">
            <a:avLst>
              <a:gd name="adj" fmla="val 6668"/>
            </a:avLst>
          </a:prstGeom>
          <a:solidFill>
            <a:srgbClr val="F2EEEE"/>
          </a:solidFill>
          <a:ln/>
        </p:spPr>
      </p:sp>
      <p:sp>
        <p:nvSpPr>
          <p:cNvPr id="16" name="Text 14"/>
          <p:cNvSpPr/>
          <p:nvPr/>
        </p:nvSpPr>
        <p:spPr>
          <a:xfrm>
            <a:off x="7166372" y="4427637"/>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3</a:t>
            </a:r>
            <a:endParaRPr lang="en-US" sz="2300" dirty="0"/>
          </a:p>
        </p:txBody>
      </p:sp>
      <p:sp>
        <p:nvSpPr>
          <p:cNvPr id="17" name="Text 15"/>
          <p:cNvSpPr/>
          <p:nvPr/>
        </p:nvSpPr>
        <p:spPr>
          <a:xfrm>
            <a:off x="3149084" y="4458653"/>
            <a:ext cx="3173849"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認知機能劣化期（3-6ヶ月）</a:t>
            </a:r>
            <a:endParaRPr lang="en-US" sz="1950" dirty="0"/>
          </a:p>
        </p:txBody>
      </p:sp>
      <p:sp>
        <p:nvSpPr>
          <p:cNvPr id="18" name="Text 16"/>
          <p:cNvSpPr/>
          <p:nvPr/>
        </p:nvSpPr>
        <p:spPr>
          <a:xfrm>
            <a:off x="793790" y="4887873"/>
            <a:ext cx="5529143" cy="635079"/>
          </a:xfrm>
          <a:prstGeom prst="rect">
            <a:avLst/>
          </a:prstGeom>
          <a:noFill/>
          <a:ln/>
        </p:spPr>
        <p:txBody>
          <a:bodyPr wrap="squar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脳の神経ネットワーク結合が系統的に弱化。78%が自分の作成物を正確に記憶できない状態に到達します。</a:t>
            </a:r>
            <a:endParaRPr lang="en-US" sz="1550" dirty="0"/>
          </a:p>
        </p:txBody>
      </p:sp>
      <p:sp>
        <p:nvSpPr>
          <p:cNvPr id="19" name="Shape 17"/>
          <p:cNvSpPr/>
          <p:nvPr/>
        </p:nvSpPr>
        <p:spPr>
          <a:xfrm>
            <a:off x="7515582" y="5628680"/>
            <a:ext cx="595313" cy="22860"/>
          </a:xfrm>
          <a:prstGeom prst="roundRect">
            <a:avLst>
              <a:gd name="adj" fmla="val 130232"/>
            </a:avLst>
          </a:prstGeom>
          <a:solidFill>
            <a:srgbClr val="D8D4D4"/>
          </a:solidFill>
          <a:ln/>
        </p:spPr>
      </p:sp>
      <p:sp>
        <p:nvSpPr>
          <p:cNvPr id="20" name="Shape 18"/>
          <p:cNvSpPr/>
          <p:nvPr/>
        </p:nvSpPr>
        <p:spPr>
          <a:xfrm>
            <a:off x="7091958" y="5416867"/>
            <a:ext cx="446484" cy="446484"/>
          </a:xfrm>
          <a:prstGeom prst="roundRect">
            <a:avLst>
              <a:gd name="adj" fmla="val 6668"/>
            </a:avLst>
          </a:prstGeom>
          <a:solidFill>
            <a:srgbClr val="F2EEEE"/>
          </a:solidFill>
          <a:ln/>
        </p:spPr>
      </p:sp>
      <p:sp>
        <p:nvSpPr>
          <p:cNvPr id="21" name="Text 19"/>
          <p:cNvSpPr/>
          <p:nvPr/>
        </p:nvSpPr>
        <p:spPr>
          <a:xfrm>
            <a:off x="7166372" y="5454075"/>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4</a:t>
            </a:r>
            <a:endParaRPr lang="en-US" sz="2300" dirty="0"/>
          </a:p>
        </p:txBody>
      </p:sp>
      <p:sp>
        <p:nvSpPr>
          <p:cNvPr id="22" name="Text 20"/>
          <p:cNvSpPr/>
          <p:nvPr/>
        </p:nvSpPr>
        <p:spPr>
          <a:xfrm>
            <a:off x="8307467" y="5485090"/>
            <a:ext cx="3381137"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認知負債定着期（6ヶ月以降）</a:t>
            </a:r>
            <a:endParaRPr lang="en-US" sz="1950" dirty="0"/>
          </a:p>
        </p:txBody>
      </p:sp>
      <p:sp>
        <p:nvSpPr>
          <p:cNvPr id="23" name="Text 21"/>
          <p:cNvSpPr/>
          <p:nvPr/>
        </p:nvSpPr>
        <p:spPr>
          <a:xfrm>
            <a:off x="8307467" y="5914311"/>
            <a:ext cx="5529143"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思考の深度を示す脳活動が「検索エンジン使用時」より低下。機能回復に使用期間の数倍の集中訓練が必要になります。</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94253"/>
            <a:ext cx="7892058"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AI依存症の進行パターンと早期介入</a:t>
            </a:r>
            <a:endParaRPr lang="en-US" sz="3900" dirty="0"/>
          </a:p>
        </p:txBody>
      </p:sp>
      <p:sp>
        <p:nvSpPr>
          <p:cNvPr id="3" name="Shape 1"/>
          <p:cNvSpPr/>
          <p:nvPr/>
        </p:nvSpPr>
        <p:spPr>
          <a:xfrm>
            <a:off x="3239214" y="1711166"/>
            <a:ext cx="1630323" cy="1461016"/>
          </a:xfrm>
          <a:prstGeom prst="roundRect">
            <a:avLst>
              <a:gd name="adj" fmla="val 2038"/>
            </a:avLst>
          </a:prstGeom>
          <a:solidFill>
            <a:srgbClr val="F2EEEE"/>
          </a:solidFill>
          <a:ln/>
        </p:spPr>
      </p:sp>
      <p:pic>
        <p:nvPicPr>
          <p:cNvPr id="4" name="Image 0" descr="preencoded.png">    </p:cNvPr>
          <p:cNvPicPr>
            <a:picLocks noChangeAspect="1"/>
          </p:cNvPicPr>
          <p:nvPr/>
        </p:nvPicPr>
        <p:blipFill>
          <a:blip r:embed="rId1"/>
          <a:stretch>
            <a:fillRect/>
          </a:stretch>
        </p:blipFill>
        <p:spPr>
          <a:xfrm>
            <a:off x="3914775" y="2267188"/>
            <a:ext cx="279083" cy="348853"/>
          </a:xfrm>
          <a:prstGeom prst="rect">
            <a:avLst/>
          </a:prstGeom>
        </p:spPr>
      </p:pic>
      <p:sp>
        <p:nvSpPr>
          <p:cNvPr id="5" name="Text 2"/>
          <p:cNvSpPr/>
          <p:nvPr/>
        </p:nvSpPr>
        <p:spPr>
          <a:xfrm>
            <a:off x="5067895" y="1909524"/>
            <a:ext cx="285511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便利さ発見期（1-3ヶ月）</a:t>
            </a:r>
            <a:endParaRPr lang="en-US" sz="1950" dirty="0"/>
          </a:p>
        </p:txBody>
      </p:sp>
      <p:sp>
        <p:nvSpPr>
          <p:cNvPr id="6" name="Text 3"/>
          <p:cNvSpPr/>
          <p:nvPr/>
        </p:nvSpPr>
        <p:spPr>
          <a:xfrm>
            <a:off x="5067895" y="2338745"/>
            <a:ext cx="8570357"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簡単な問題でもAI使用、効率化の名目で正当化。使用ルール設定、自力解決時間の確保が重要です。</a:t>
            </a:r>
            <a:endParaRPr lang="en-US" sz="1550" dirty="0"/>
          </a:p>
        </p:txBody>
      </p:sp>
      <p:sp>
        <p:nvSpPr>
          <p:cNvPr id="7" name="Shape 4"/>
          <p:cNvSpPr/>
          <p:nvPr/>
        </p:nvSpPr>
        <p:spPr>
          <a:xfrm>
            <a:off x="4968716" y="3162657"/>
            <a:ext cx="8768715" cy="11430"/>
          </a:xfrm>
          <a:prstGeom prst="roundRect">
            <a:avLst>
              <a:gd name="adj" fmla="val 260465"/>
            </a:avLst>
          </a:prstGeom>
          <a:solidFill>
            <a:srgbClr val="D8D4D4"/>
          </a:solidFill>
          <a:ln/>
        </p:spPr>
      </p:sp>
      <p:sp>
        <p:nvSpPr>
          <p:cNvPr id="8" name="Shape 5"/>
          <p:cNvSpPr/>
          <p:nvPr/>
        </p:nvSpPr>
        <p:spPr>
          <a:xfrm>
            <a:off x="2424113" y="3271361"/>
            <a:ext cx="3260646" cy="1143476"/>
          </a:xfrm>
          <a:prstGeom prst="roundRect">
            <a:avLst>
              <a:gd name="adj" fmla="val 2604"/>
            </a:avLst>
          </a:prstGeom>
          <a:solidFill>
            <a:srgbClr val="F2EEEE"/>
          </a:solidFill>
          <a:ln/>
        </p:spPr>
      </p:sp>
      <p:pic>
        <p:nvPicPr>
          <p:cNvPr id="9" name="Image 1" descr="preencoded.png">    </p:cNvPr>
          <p:cNvPicPr>
            <a:picLocks noChangeAspect="1"/>
          </p:cNvPicPr>
          <p:nvPr/>
        </p:nvPicPr>
        <p:blipFill>
          <a:blip r:embed="rId2"/>
          <a:stretch>
            <a:fillRect/>
          </a:stretch>
        </p:blipFill>
        <p:spPr>
          <a:xfrm>
            <a:off x="3914894" y="3668673"/>
            <a:ext cx="279083" cy="348853"/>
          </a:xfrm>
          <a:prstGeom prst="rect">
            <a:avLst/>
          </a:prstGeom>
        </p:spPr>
      </p:pic>
      <p:sp>
        <p:nvSpPr>
          <p:cNvPr id="10" name="Text 6"/>
          <p:cNvSpPr/>
          <p:nvPr/>
        </p:nvSpPr>
        <p:spPr>
          <a:xfrm>
            <a:off x="5883116" y="346971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習慣化期（3-9ヶ月）</a:t>
            </a:r>
            <a:endParaRPr lang="en-US" sz="1950" dirty="0"/>
          </a:p>
        </p:txBody>
      </p:sp>
      <p:sp>
        <p:nvSpPr>
          <p:cNvPr id="11" name="Text 7"/>
          <p:cNvSpPr/>
          <p:nvPr/>
        </p:nvSpPr>
        <p:spPr>
          <a:xfrm>
            <a:off x="5883116" y="3898940"/>
            <a:ext cx="771251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思考への抵抗感、AI制限への反発。段階的制限、思考プロセス可視化訓練が必要です。</a:t>
            </a:r>
            <a:endParaRPr lang="en-US" sz="1550" dirty="0"/>
          </a:p>
        </p:txBody>
      </p:sp>
      <p:sp>
        <p:nvSpPr>
          <p:cNvPr id="12" name="Shape 8"/>
          <p:cNvSpPr/>
          <p:nvPr/>
        </p:nvSpPr>
        <p:spPr>
          <a:xfrm>
            <a:off x="5783937" y="4405313"/>
            <a:ext cx="7953494" cy="11430"/>
          </a:xfrm>
          <a:prstGeom prst="roundRect">
            <a:avLst>
              <a:gd name="adj" fmla="val 260465"/>
            </a:avLst>
          </a:prstGeom>
          <a:solidFill>
            <a:srgbClr val="D8D4D4"/>
          </a:solidFill>
          <a:ln/>
        </p:spPr>
      </p:sp>
      <p:sp>
        <p:nvSpPr>
          <p:cNvPr id="13" name="Shape 9"/>
          <p:cNvSpPr/>
          <p:nvPr/>
        </p:nvSpPr>
        <p:spPr>
          <a:xfrm>
            <a:off x="1608892" y="4514017"/>
            <a:ext cx="4890968" cy="1461016"/>
          </a:xfrm>
          <a:prstGeom prst="roundRect">
            <a:avLst>
              <a:gd name="adj" fmla="val 2038"/>
            </a:avLst>
          </a:prstGeom>
          <a:solidFill>
            <a:srgbClr val="F2EEEE"/>
          </a:solidFill>
          <a:ln/>
        </p:spPr>
      </p:sp>
      <p:pic>
        <p:nvPicPr>
          <p:cNvPr id="14" name="Image 2" descr="preencoded.png">    </p:cNvPr>
          <p:cNvPicPr>
            <a:picLocks noChangeAspect="1"/>
          </p:cNvPicPr>
          <p:nvPr/>
        </p:nvPicPr>
        <p:blipFill>
          <a:blip r:embed="rId3"/>
          <a:stretch>
            <a:fillRect/>
          </a:stretch>
        </p:blipFill>
        <p:spPr>
          <a:xfrm>
            <a:off x="3914775" y="5070038"/>
            <a:ext cx="279083" cy="348853"/>
          </a:xfrm>
          <a:prstGeom prst="rect">
            <a:avLst/>
          </a:prstGeom>
        </p:spPr>
      </p:pic>
      <p:sp>
        <p:nvSpPr>
          <p:cNvPr id="15" name="Text 10"/>
          <p:cNvSpPr/>
          <p:nvPr/>
        </p:nvSpPr>
        <p:spPr>
          <a:xfrm>
            <a:off x="6698218" y="4712375"/>
            <a:ext cx="326659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能力低下実感期（9-18ヶ月）</a:t>
            </a:r>
            <a:endParaRPr lang="en-US" sz="1950" dirty="0"/>
          </a:p>
        </p:txBody>
      </p:sp>
      <p:sp>
        <p:nvSpPr>
          <p:cNvPr id="16" name="Text 11"/>
          <p:cNvSpPr/>
          <p:nvPr/>
        </p:nvSpPr>
        <p:spPr>
          <a:xfrm>
            <a:off x="6698218" y="5141595"/>
            <a:ext cx="694003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理解-行動ギャップ、罪悪感と継続使用の併存。専門的治療アプローチ、離脱プログラムが必要です。</a:t>
            </a:r>
            <a:endParaRPr lang="en-US" sz="1550" dirty="0"/>
          </a:p>
        </p:txBody>
      </p:sp>
      <p:sp>
        <p:nvSpPr>
          <p:cNvPr id="17" name="Shape 12"/>
          <p:cNvSpPr/>
          <p:nvPr/>
        </p:nvSpPr>
        <p:spPr>
          <a:xfrm>
            <a:off x="6599039" y="5965508"/>
            <a:ext cx="7138392" cy="11430"/>
          </a:xfrm>
          <a:prstGeom prst="roundRect">
            <a:avLst>
              <a:gd name="adj" fmla="val 260465"/>
            </a:avLst>
          </a:prstGeom>
          <a:solidFill>
            <a:srgbClr val="D8D4D4"/>
          </a:solidFill>
          <a:ln/>
        </p:spPr>
      </p:sp>
      <p:sp>
        <p:nvSpPr>
          <p:cNvPr id="18" name="Shape 13"/>
          <p:cNvSpPr/>
          <p:nvPr/>
        </p:nvSpPr>
        <p:spPr>
          <a:xfrm>
            <a:off x="793790" y="6074212"/>
            <a:ext cx="6521410" cy="1461016"/>
          </a:xfrm>
          <a:prstGeom prst="roundRect">
            <a:avLst>
              <a:gd name="adj" fmla="val 2038"/>
            </a:avLst>
          </a:prstGeom>
          <a:solidFill>
            <a:srgbClr val="F2EEEE"/>
          </a:solidFill>
          <a:ln/>
        </p:spPr>
      </p:sp>
      <p:pic>
        <p:nvPicPr>
          <p:cNvPr id="19" name="Image 3" descr="preencoded.png">    </p:cNvPr>
          <p:cNvPicPr>
            <a:picLocks noChangeAspect="1"/>
          </p:cNvPicPr>
          <p:nvPr/>
        </p:nvPicPr>
        <p:blipFill>
          <a:blip r:embed="rId4"/>
          <a:stretch>
            <a:fillRect/>
          </a:stretch>
        </p:blipFill>
        <p:spPr>
          <a:xfrm>
            <a:off x="3914894" y="6630233"/>
            <a:ext cx="279083" cy="348853"/>
          </a:xfrm>
          <a:prstGeom prst="rect">
            <a:avLst/>
          </a:prstGeom>
        </p:spPr>
      </p:pic>
      <p:sp>
        <p:nvSpPr>
          <p:cNvPr id="20" name="Text 14"/>
          <p:cNvSpPr/>
          <p:nvPr/>
        </p:nvSpPr>
        <p:spPr>
          <a:xfrm>
            <a:off x="7513558" y="6272570"/>
            <a:ext cx="3217426"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諦め・受容期（18ヶ月以降）</a:t>
            </a:r>
            <a:endParaRPr lang="en-US" sz="1950" dirty="0"/>
          </a:p>
        </p:txBody>
      </p:sp>
      <p:sp>
        <p:nvSpPr>
          <p:cNvPr id="21" name="Text 15"/>
          <p:cNvSpPr/>
          <p:nvPr/>
        </p:nvSpPr>
        <p:spPr>
          <a:xfrm>
            <a:off x="7513558" y="6701790"/>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依存状態の受容、自力能力への絶望。集中的医療介入、長期リハビリテーションが必要です。</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72584"/>
            <a:ext cx="4836914" cy="465177"/>
          </a:xfrm>
          <a:prstGeom prst="rect">
            <a:avLst/>
          </a:prstGeom>
          <a:noFill/>
          <a:ln/>
        </p:spPr>
        <p:txBody>
          <a:bodyPr wrap="none" lIns="0" tIns="0" rIns="0" bIns="0" rtlCol="0" anchor="t"/>
          <a:lstStyle/>
          <a:p>
            <a:pPr algn="l" indent="0" marL="0">
              <a:lnSpc>
                <a:spcPts val="3650"/>
              </a:lnSpc>
              <a:buNone/>
            </a:pPr>
            <a:r>
              <a:rPr lang="en-US" sz="2900" dirty="0">
                <a:solidFill>
                  <a:srgbClr val="030303"/>
                </a:solidFill>
                <a:latin typeface="DM Sans Semi Bold" pitchFamily="34" charset="0"/>
                <a:ea typeface="DM Sans Semi Bold" pitchFamily="34" charset="-122"/>
                <a:cs typeface="DM Sans Semi Bold" pitchFamily="34" charset="-120"/>
              </a:rPr>
              <a:t>回復可能性と介入時期の相関</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477947"/>
          </a:xfrm>
          <a:prstGeom prst="rect">
            <a:avLst/>
          </a:prstGeom>
        </p:spPr>
      </p:pic>
      <p:sp>
        <p:nvSpPr>
          <p:cNvPr id="4" name="Text 1"/>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AI依存症の固定化速度は他の行動依存を上回ります。その理由は「学習支援ツール」として正当化されやすく、使用制限への社会的抵抗が少ないためです。早期介入の重要性が明確に示されています。</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769043"/>
            <a:ext cx="10689312"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国際比較：欧米の慎重導入 vs 日本の無計画導入</a:t>
            </a:r>
            <a:endParaRPr lang="en-US" sz="3900" dirty="0"/>
          </a:p>
        </p:txBody>
      </p:sp>
      <p:sp>
        <p:nvSpPr>
          <p:cNvPr id="4" name="Text 1"/>
          <p:cNvSpPr/>
          <p:nvPr/>
        </p:nvSpPr>
        <p:spPr>
          <a:xfrm>
            <a:off x="793790" y="4885134"/>
            <a:ext cx="3224093"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欧米諸国の科学的アプローチ</a:t>
            </a:r>
            <a:endParaRPr lang="en-US" sz="1950" dirty="0"/>
          </a:p>
        </p:txBody>
      </p:sp>
      <p:sp>
        <p:nvSpPr>
          <p:cNvPr id="5" name="Text 2"/>
          <p:cNvSpPr/>
          <p:nvPr/>
        </p:nvSpPr>
        <p:spPr>
          <a:xfrm>
            <a:off x="793790" y="539365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64646"/>
                </a:solidFill>
                <a:latin typeface="Inter Medium" pitchFamily="34" charset="0"/>
                <a:ea typeface="Inter Medium" pitchFamily="34" charset="-122"/>
                <a:cs typeface="Inter Medium" pitchFamily="34" charset="-120"/>
              </a:rPr>
              <a:t>アメリカ</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MIT研究等を受け、年齢別使用制限・定期評価を実施</a:t>
            </a:r>
            <a:endParaRPr lang="en-US" sz="1550" dirty="0"/>
          </a:p>
        </p:txBody>
      </p:sp>
      <p:sp>
        <p:nvSpPr>
          <p:cNvPr id="6" name="Text 3"/>
          <p:cNvSpPr/>
          <p:nvPr/>
        </p:nvSpPr>
        <p:spPr>
          <a:xfrm>
            <a:off x="793790" y="5780603"/>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464646"/>
                </a:solidFill>
                <a:latin typeface="Inter Medium" pitchFamily="34" charset="0"/>
                <a:ea typeface="Inter Medium" pitchFamily="34" charset="-122"/>
                <a:cs typeface="Inter Medium" pitchFamily="34" charset="-120"/>
              </a:rPr>
              <a:t>ヨーロッパ</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AI依存症を人権問題として位置づけ、予防教育を義務化</a:t>
            </a:r>
            <a:endParaRPr lang="en-US" sz="1550" dirty="0"/>
          </a:p>
        </p:txBody>
      </p:sp>
      <p:sp>
        <p:nvSpPr>
          <p:cNvPr id="7" name="Text 4"/>
          <p:cNvSpPr/>
          <p:nvPr/>
        </p:nvSpPr>
        <p:spPr>
          <a:xfrm>
            <a:off x="793790" y="648509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64646"/>
                </a:solidFill>
                <a:latin typeface="Inter Medium" pitchFamily="34" charset="0"/>
                <a:ea typeface="Inter Medium" pitchFamily="34" charset="-122"/>
                <a:cs typeface="Inter Medium" pitchFamily="34" charset="-120"/>
              </a:rPr>
              <a:t>共通点</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教育効果の科学的検証を導入の前提条件とする</a:t>
            </a:r>
            <a:endParaRPr lang="en-US" sz="1550" dirty="0"/>
          </a:p>
        </p:txBody>
      </p:sp>
      <p:sp>
        <p:nvSpPr>
          <p:cNvPr id="8" name="Text 5"/>
          <p:cNvSpPr/>
          <p:nvPr/>
        </p:nvSpPr>
        <p:spPr>
          <a:xfrm>
            <a:off x="7564874" y="4885134"/>
            <a:ext cx="5443776"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日本の「とりあえず使ってみる」の致命的リスク</a:t>
            </a:r>
            <a:endParaRPr lang="en-US" sz="1950" dirty="0"/>
          </a:p>
        </p:txBody>
      </p:sp>
      <p:sp>
        <p:nvSpPr>
          <p:cNvPr id="9" name="Text 6"/>
          <p:cNvSpPr/>
          <p:nvPr/>
        </p:nvSpPr>
        <p:spPr>
          <a:xfrm>
            <a:off x="7564874" y="539365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効果検証なき「使うことが目的」化した導入</a:t>
            </a:r>
            <a:endParaRPr lang="en-US" sz="1550" dirty="0"/>
          </a:p>
        </p:txBody>
      </p:sp>
      <p:sp>
        <p:nvSpPr>
          <p:cNvPr id="10" name="Text 7"/>
          <p:cNvSpPr/>
          <p:nvPr/>
        </p:nvSpPr>
        <p:spPr>
          <a:xfrm>
            <a:off x="7564874" y="578060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横並び意識による一斉導入（個別準備状況無視）</a:t>
            </a:r>
            <a:endParaRPr lang="en-US" sz="1550" dirty="0"/>
          </a:p>
        </p:txBody>
      </p:sp>
      <p:sp>
        <p:nvSpPr>
          <p:cNvPr id="11" name="Text 8"/>
          <p:cNvSpPr/>
          <p:nvPr/>
        </p:nvSpPr>
        <p:spPr>
          <a:xfrm>
            <a:off x="7564874" y="616755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AI依存症リスクへの無知・無関心</a:t>
            </a:r>
            <a:endParaRPr lang="en-US" sz="1550" dirty="0"/>
          </a:p>
        </p:txBody>
      </p:sp>
      <p:sp>
        <p:nvSpPr>
          <p:cNvPr id="12" name="Text 9"/>
          <p:cNvSpPr/>
          <p:nvPr/>
        </p:nvSpPr>
        <p:spPr>
          <a:xfrm>
            <a:off x="7564874" y="655451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GIGAスクール失敗の再現リスク</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85903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危機的拡大予測</a:t>
            </a:r>
            <a:endParaRPr lang="en-US" sz="3900" dirty="0"/>
          </a:p>
        </p:txBody>
      </p:sp>
      <p:sp>
        <p:nvSpPr>
          <p:cNvPr id="3" name="Shape 1"/>
          <p:cNvSpPr/>
          <p:nvPr/>
        </p:nvSpPr>
        <p:spPr>
          <a:xfrm>
            <a:off x="7303770" y="1875949"/>
            <a:ext cx="22860" cy="4636175"/>
          </a:xfrm>
          <a:prstGeom prst="roundRect">
            <a:avLst>
              <a:gd name="adj" fmla="val 130232"/>
            </a:avLst>
          </a:prstGeom>
          <a:solidFill>
            <a:srgbClr val="D8D4D4"/>
          </a:solidFill>
          <a:ln/>
        </p:spPr>
      </p:sp>
      <p:sp>
        <p:nvSpPr>
          <p:cNvPr id="4" name="Shape 2"/>
          <p:cNvSpPr/>
          <p:nvPr/>
        </p:nvSpPr>
        <p:spPr>
          <a:xfrm>
            <a:off x="770930" y="1875949"/>
            <a:ext cx="6521410" cy="1190744"/>
          </a:xfrm>
          <a:prstGeom prst="roundRect">
            <a:avLst>
              <a:gd name="adj" fmla="val 2500"/>
            </a:avLst>
          </a:prstGeom>
          <a:solidFill>
            <a:srgbClr val="F2EEEE"/>
          </a:solidFill>
          <a:ln/>
        </p:spPr>
      </p:sp>
      <p:sp>
        <p:nvSpPr>
          <p:cNvPr id="5" name="Text 3"/>
          <p:cNvSpPr/>
          <p:nvPr/>
        </p:nvSpPr>
        <p:spPr>
          <a:xfrm>
            <a:off x="4613077" y="2074307"/>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現在の状況</a:t>
            </a:r>
            <a:endParaRPr lang="en-US" sz="1950" dirty="0"/>
          </a:p>
        </p:txBody>
      </p:sp>
      <p:sp>
        <p:nvSpPr>
          <p:cNvPr id="6" name="Text 4"/>
          <p:cNvSpPr/>
          <p:nvPr/>
        </p:nvSpPr>
        <p:spPr>
          <a:xfrm>
            <a:off x="969288" y="2503527"/>
            <a:ext cx="6124694" cy="317540"/>
          </a:xfrm>
          <a:prstGeom prst="rect">
            <a:avLst/>
          </a:prstGeom>
          <a:noFill/>
          <a:ln/>
        </p:spPr>
        <p:txBody>
          <a:bodyPr wrap="non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大学生依存率47.1%が確認されている状態</a:t>
            </a:r>
            <a:endParaRPr lang="en-US" sz="1550" dirty="0"/>
          </a:p>
        </p:txBody>
      </p:sp>
      <p:sp>
        <p:nvSpPr>
          <p:cNvPr id="7" name="Shape 5"/>
          <p:cNvSpPr/>
          <p:nvPr/>
        </p:nvSpPr>
        <p:spPr>
          <a:xfrm>
            <a:off x="7338060" y="3463528"/>
            <a:ext cx="6521410" cy="1461016"/>
          </a:xfrm>
          <a:prstGeom prst="rect">
            <a:avLst/>
          </a:prstGeom>
          <a:solidFill>
            <a:srgbClr val="F2EEEE"/>
          </a:solidFill>
          <a:ln/>
        </p:spPr>
      </p:sp>
      <p:sp>
        <p:nvSpPr>
          <p:cNvPr id="8" name="Text 6"/>
          <p:cNvSpPr/>
          <p:nvPr/>
        </p:nvSpPr>
        <p:spPr>
          <a:xfrm>
            <a:off x="7536418" y="366188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拡大予測</a:t>
            </a:r>
            <a:endParaRPr lang="en-US" sz="1950" dirty="0"/>
          </a:p>
        </p:txBody>
      </p:sp>
      <p:sp>
        <p:nvSpPr>
          <p:cNvPr id="9" name="Text 7"/>
          <p:cNvSpPr/>
          <p:nvPr/>
        </p:nvSpPr>
        <p:spPr>
          <a:xfrm>
            <a:off x="7536418" y="4091107"/>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全学齢段階に拡大すれば、2026年には社会レベルでの対策が困難な状況に到達</a:t>
            </a:r>
            <a:endParaRPr lang="en-US" sz="1550" dirty="0"/>
          </a:p>
        </p:txBody>
      </p:sp>
      <p:sp>
        <p:nvSpPr>
          <p:cNvPr id="10" name="Shape 8"/>
          <p:cNvSpPr/>
          <p:nvPr/>
        </p:nvSpPr>
        <p:spPr>
          <a:xfrm>
            <a:off x="770930" y="5321379"/>
            <a:ext cx="6521410" cy="1190744"/>
          </a:xfrm>
          <a:prstGeom prst="roundRect">
            <a:avLst>
              <a:gd name="adj" fmla="val 2500"/>
            </a:avLst>
          </a:prstGeom>
          <a:solidFill>
            <a:srgbClr val="F2EEEE"/>
          </a:solidFill>
          <a:ln/>
        </p:spPr>
      </p:sp>
      <p:sp>
        <p:nvSpPr>
          <p:cNvPr id="11" name="Text 9"/>
          <p:cNvSpPr/>
          <p:nvPr/>
        </p:nvSpPr>
        <p:spPr>
          <a:xfrm>
            <a:off x="4613077" y="5519738"/>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時間的切迫性</a:t>
            </a:r>
            <a:endParaRPr lang="en-US" sz="1950" dirty="0"/>
          </a:p>
        </p:txBody>
      </p:sp>
      <p:sp>
        <p:nvSpPr>
          <p:cNvPr id="12" name="Text 10"/>
          <p:cNvSpPr/>
          <p:nvPr/>
        </p:nvSpPr>
        <p:spPr>
          <a:xfrm>
            <a:off x="969288" y="5948958"/>
            <a:ext cx="6124694" cy="317540"/>
          </a:xfrm>
          <a:prstGeom prst="rect">
            <a:avLst/>
          </a:prstGeom>
          <a:noFill/>
          <a:ln/>
        </p:spPr>
        <p:txBody>
          <a:bodyPr wrap="non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AI依存症の固定化速度は他の行動依存を上回り、猶予のない状況</a:t>
            </a:r>
            <a:endParaRPr lang="en-US" sz="1550" dirty="0"/>
          </a:p>
        </p:txBody>
      </p:sp>
      <p:sp>
        <p:nvSpPr>
          <p:cNvPr id="13" name="Text 11"/>
          <p:cNvSpPr/>
          <p:nvPr/>
        </p:nvSpPr>
        <p:spPr>
          <a:xfrm>
            <a:off x="793790" y="673536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現在の教育者は、人類史上初の認知能力大量劣化リスクに直面しています。認知能力は文明の基盤であり、その大量劣化は文明存続リスクを意味します。</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30206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教育者の歴史的責任</a:t>
            </a:r>
            <a:endParaRPr lang="en-US" sz="3900" dirty="0"/>
          </a:p>
        </p:txBody>
      </p:sp>
      <p:sp>
        <p:nvSpPr>
          <p:cNvPr id="4" name="Shape 1"/>
          <p:cNvSpPr/>
          <p:nvPr/>
        </p:nvSpPr>
        <p:spPr>
          <a:xfrm>
            <a:off x="6280190" y="2219801"/>
            <a:ext cx="7556421" cy="2254687"/>
          </a:xfrm>
          <a:prstGeom prst="roundRect">
            <a:avLst>
              <a:gd name="adj" fmla="val 1320"/>
            </a:avLst>
          </a:prstGeom>
          <a:solidFill>
            <a:srgbClr val="F2EEEE"/>
          </a:solidFill>
          <a:ln/>
        </p:spPr>
      </p:sp>
      <p:sp>
        <p:nvSpPr>
          <p:cNvPr id="5" name="Shape 2"/>
          <p:cNvSpPr/>
          <p:nvPr/>
        </p:nvSpPr>
        <p:spPr>
          <a:xfrm>
            <a:off x="6478548" y="2418159"/>
            <a:ext cx="595313" cy="595313"/>
          </a:xfrm>
          <a:prstGeom prst="roundRect">
            <a:avLst>
              <a:gd name="adj" fmla="val 15358451"/>
            </a:avLst>
          </a:prstGeom>
          <a:solidFill>
            <a:srgbClr val="1C9770"/>
          </a:solidFill>
          <a:ln/>
        </p:spPr>
      </p:sp>
      <p:pic>
        <p:nvPicPr>
          <p:cNvPr id="6" name="Image 1" descr="preencoded.png">    </p:cNvPr>
          <p:cNvPicPr>
            <a:picLocks noChangeAspect="1"/>
          </p:cNvPicPr>
          <p:nvPr/>
        </p:nvPicPr>
        <p:blipFill>
          <a:blip r:embed="rId2"/>
          <a:stretch>
            <a:fillRect/>
          </a:stretch>
        </p:blipFill>
        <p:spPr>
          <a:xfrm>
            <a:off x="6642259" y="2548295"/>
            <a:ext cx="267891" cy="334923"/>
          </a:xfrm>
          <a:prstGeom prst="rect">
            <a:avLst/>
          </a:prstGeom>
        </p:spPr>
      </p:pic>
      <p:sp>
        <p:nvSpPr>
          <p:cNvPr id="7" name="Text 3"/>
          <p:cNvSpPr/>
          <p:nvPr/>
        </p:nvSpPr>
        <p:spPr>
          <a:xfrm>
            <a:off x="6478548" y="3211830"/>
            <a:ext cx="3720108"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他の専門職では代替不可能な立場</a:t>
            </a:r>
            <a:endParaRPr lang="en-US" sz="1950" dirty="0"/>
          </a:p>
        </p:txBody>
      </p:sp>
      <p:sp>
        <p:nvSpPr>
          <p:cNvPr id="8" name="Text 4"/>
          <p:cNvSpPr/>
          <p:nvPr/>
        </p:nvSpPr>
        <p:spPr>
          <a:xfrm>
            <a:off x="6478548" y="3641050"/>
            <a:ext cx="715970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AI依存症予防は教育者にしかできません。医師は症状顕在化後の介入、技術者はツール提供のみですが、教育者は予防段階での学習プロセス設計権を持ちます。</a:t>
            </a:r>
            <a:endParaRPr lang="en-US" sz="1550" dirty="0"/>
          </a:p>
        </p:txBody>
      </p:sp>
      <p:sp>
        <p:nvSpPr>
          <p:cNvPr id="9" name="Shape 5"/>
          <p:cNvSpPr/>
          <p:nvPr/>
        </p:nvSpPr>
        <p:spPr>
          <a:xfrm>
            <a:off x="6280190" y="4672846"/>
            <a:ext cx="7556421" cy="2254687"/>
          </a:xfrm>
          <a:prstGeom prst="roundRect">
            <a:avLst>
              <a:gd name="adj" fmla="val 1320"/>
            </a:avLst>
          </a:prstGeom>
          <a:solidFill>
            <a:srgbClr val="F2EEEE"/>
          </a:solidFill>
          <a:ln/>
        </p:spPr>
      </p:sp>
      <p:sp>
        <p:nvSpPr>
          <p:cNvPr id="10" name="Shape 6"/>
          <p:cNvSpPr/>
          <p:nvPr/>
        </p:nvSpPr>
        <p:spPr>
          <a:xfrm>
            <a:off x="6478548" y="4871204"/>
            <a:ext cx="595313" cy="595313"/>
          </a:xfrm>
          <a:prstGeom prst="roundRect">
            <a:avLst>
              <a:gd name="adj" fmla="val 15358451"/>
            </a:avLst>
          </a:prstGeom>
          <a:solidFill>
            <a:srgbClr val="1C9770"/>
          </a:solidFill>
          <a:ln/>
        </p:spPr>
      </p:sp>
      <p:sp>
        <p:nvSpPr>
          <p:cNvPr id="11" name="Text 7"/>
          <p:cNvSpPr/>
          <p:nvPr/>
        </p:nvSpPr>
        <p:spPr>
          <a:xfrm>
            <a:off x="6478548" y="566487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文明存続への責任</a:t>
            </a:r>
            <a:endParaRPr lang="en-US" sz="1950" dirty="0"/>
          </a:p>
        </p:txBody>
      </p:sp>
      <p:sp>
        <p:nvSpPr>
          <p:cNvPr id="12" name="Text 8"/>
          <p:cNvSpPr/>
          <p:nvPr/>
        </p:nvSpPr>
        <p:spPr>
          <a:xfrm>
            <a:off x="6478548" y="6094095"/>
            <a:ext cx="715970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現在の教育者は、人類史上初の認知能力大量劣化リスクに直面しています。認知能力は文明の基盤であり、その大量劣化は文明存続リスクを意味します。</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689140"/>
            <a:ext cx="744212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意図的教育設計への転換の緊急性</a:t>
            </a:r>
            <a:endParaRPr lang="en-US" sz="3900" dirty="0"/>
          </a:p>
        </p:txBody>
      </p:sp>
      <p:pic>
        <p:nvPicPr>
          <p:cNvPr id="3" name="Image 0" descr="preencoded.png">    </p:cNvPr>
          <p:cNvPicPr>
            <a:picLocks noChangeAspect="1"/>
          </p:cNvPicPr>
          <p:nvPr/>
        </p:nvPicPr>
        <p:blipFill>
          <a:blip r:embed="rId1"/>
          <a:stretch>
            <a:fillRect/>
          </a:stretch>
        </p:blipFill>
        <p:spPr>
          <a:xfrm>
            <a:off x="3247430" y="2706053"/>
            <a:ext cx="1614011" cy="706874"/>
          </a:xfrm>
          <a:prstGeom prst="rect">
            <a:avLst/>
          </a:prstGeom>
        </p:spPr>
      </p:pic>
      <p:sp>
        <p:nvSpPr>
          <p:cNvPr id="4" name="Text 1"/>
          <p:cNvSpPr/>
          <p:nvPr/>
        </p:nvSpPr>
        <p:spPr>
          <a:xfrm>
            <a:off x="3914894" y="2961203"/>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1</a:t>
            </a:r>
            <a:endParaRPr lang="en-US" sz="2150" dirty="0"/>
          </a:p>
        </p:txBody>
      </p:sp>
      <p:sp>
        <p:nvSpPr>
          <p:cNvPr id="5" name="Text 2"/>
          <p:cNvSpPr/>
          <p:nvPr/>
        </p:nvSpPr>
        <p:spPr>
          <a:xfrm>
            <a:off x="5059799" y="2904411"/>
            <a:ext cx="2480072"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生存をかけた緊急変革</a:t>
            </a:r>
            <a:endParaRPr lang="en-US" sz="1950" dirty="0"/>
          </a:p>
        </p:txBody>
      </p:sp>
      <p:sp>
        <p:nvSpPr>
          <p:cNvPr id="6" name="Shape 3"/>
          <p:cNvSpPr/>
          <p:nvPr/>
        </p:nvSpPr>
        <p:spPr>
          <a:xfrm>
            <a:off x="4910971" y="3428167"/>
            <a:ext cx="8876109" cy="11430"/>
          </a:xfrm>
          <a:prstGeom prst="roundRect">
            <a:avLst>
              <a:gd name="adj" fmla="val 260465"/>
            </a:avLst>
          </a:prstGeom>
          <a:solidFill>
            <a:srgbClr val="D8D4D4"/>
          </a:solidFill>
          <a:ln/>
        </p:spPr>
      </p:sp>
      <p:pic>
        <p:nvPicPr>
          <p:cNvPr id="7" name="Image 1" descr="preencoded.png">    </p:cNvPr>
          <p:cNvPicPr>
            <a:picLocks noChangeAspect="1"/>
          </p:cNvPicPr>
          <p:nvPr/>
        </p:nvPicPr>
        <p:blipFill>
          <a:blip r:embed="rId2"/>
          <a:stretch>
            <a:fillRect/>
          </a:stretch>
        </p:blipFill>
        <p:spPr>
          <a:xfrm>
            <a:off x="2440424" y="3462457"/>
            <a:ext cx="3228022" cy="706874"/>
          </a:xfrm>
          <a:prstGeom prst="rect">
            <a:avLst/>
          </a:prstGeom>
        </p:spPr>
      </p:pic>
      <p:sp>
        <p:nvSpPr>
          <p:cNvPr id="8" name="Text 4"/>
          <p:cNvSpPr/>
          <p:nvPr/>
        </p:nvSpPr>
        <p:spPr>
          <a:xfrm>
            <a:off x="3914894" y="3641407"/>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2</a:t>
            </a:r>
            <a:endParaRPr lang="en-US" sz="2150" dirty="0"/>
          </a:p>
        </p:txBody>
      </p:sp>
      <p:sp>
        <p:nvSpPr>
          <p:cNvPr id="9" name="Text 5"/>
          <p:cNvSpPr/>
          <p:nvPr/>
        </p:nvSpPr>
        <p:spPr>
          <a:xfrm>
            <a:off x="5866805" y="3660815"/>
            <a:ext cx="3720108"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依存症予防を組み込んだ教育設計</a:t>
            </a:r>
            <a:endParaRPr lang="en-US" sz="1950" dirty="0"/>
          </a:p>
        </p:txBody>
      </p:sp>
      <p:sp>
        <p:nvSpPr>
          <p:cNvPr id="10" name="Shape 6"/>
          <p:cNvSpPr/>
          <p:nvPr/>
        </p:nvSpPr>
        <p:spPr>
          <a:xfrm>
            <a:off x="5717977" y="4184571"/>
            <a:ext cx="8069104" cy="11430"/>
          </a:xfrm>
          <a:prstGeom prst="roundRect">
            <a:avLst>
              <a:gd name="adj" fmla="val 260465"/>
            </a:avLst>
          </a:prstGeom>
          <a:solidFill>
            <a:srgbClr val="D8D4D4"/>
          </a:solidFill>
          <a:ln/>
        </p:spPr>
      </p:sp>
      <p:pic>
        <p:nvPicPr>
          <p:cNvPr id="11" name="Image 2" descr="preencoded.png">    </p:cNvPr>
          <p:cNvPicPr>
            <a:picLocks noChangeAspect="1"/>
          </p:cNvPicPr>
          <p:nvPr/>
        </p:nvPicPr>
        <p:blipFill>
          <a:blip r:embed="rId3"/>
          <a:stretch>
            <a:fillRect/>
          </a:stretch>
        </p:blipFill>
        <p:spPr>
          <a:xfrm>
            <a:off x="1633418" y="4218861"/>
            <a:ext cx="4842034" cy="706874"/>
          </a:xfrm>
          <a:prstGeom prst="rect">
            <a:avLst/>
          </a:prstGeom>
        </p:spPr>
      </p:pic>
      <p:sp>
        <p:nvSpPr>
          <p:cNvPr id="12" name="Text 7"/>
          <p:cNvSpPr/>
          <p:nvPr/>
        </p:nvSpPr>
        <p:spPr>
          <a:xfrm>
            <a:off x="3914894" y="4397812"/>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3</a:t>
            </a:r>
            <a:endParaRPr lang="en-US" sz="2150" dirty="0"/>
          </a:p>
        </p:txBody>
      </p:sp>
      <p:sp>
        <p:nvSpPr>
          <p:cNvPr id="13" name="Text 8"/>
          <p:cNvSpPr/>
          <p:nvPr/>
        </p:nvSpPr>
        <p:spPr>
          <a:xfrm>
            <a:off x="6673810" y="4417219"/>
            <a:ext cx="2976086"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学習プロセスの意図的設計</a:t>
            </a:r>
            <a:endParaRPr lang="en-US" sz="1950" dirty="0"/>
          </a:p>
        </p:txBody>
      </p:sp>
      <p:sp>
        <p:nvSpPr>
          <p:cNvPr id="14" name="Shape 9"/>
          <p:cNvSpPr/>
          <p:nvPr/>
        </p:nvSpPr>
        <p:spPr>
          <a:xfrm>
            <a:off x="6524982" y="4940975"/>
            <a:ext cx="7262098" cy="11430"/>
          </a:xfrm>
          <a:prstGeom prst="roundRect">
            <a:avLst>
              <a:gd name="adj" fmla="val 260465"/>
            </a:avLst>
          </a:prstGeom>
          <a:solidFill>
            <a:srgbClr val="D8D4D4"/>
          </a:solidFill>
          <a:ln/>
        </p:spPr>
      </p:sp>
      <p:pic>
        <p:nvPicPr>
          <p:cNvPr id="15" name="Image 3" descr="preencoded.png">    </p:cNvPr>
          <p:cNvPicPr>
            <a:picLocks noChangeAspect="1"/>
          </p:cNvPicPr>
          <p:nvPr/>
        </p:nvPicPr>
        <p:blipFill>
          <a:blip r:embed="rId4"/>
          <a:stretch>
            <a:fillRect/>
          </a:stretch>
        </p:blipFill>
        <p:spPr>
          <a:xfrm>
            <a:off x="826294" y="4975265"/>
            <a:ext cx="6456164" cy="706874"/>
          </a:xfrm>
          <a:prstGeom prst="rect">
            <a:avLst/>
          </a:prstGeom>
        </p:spPr>
      </p:pic>
      <p:sp>
        <p:nvSpPr>
          <p:cNvPr id="16" name="Text 10"/>
          <p:cNvSpPr/>
          <p:nvPr/>
        </p:nvSpPr>
        <p:spPr>
          <a:xfrm>
            <a:off x="3914775" y="5154216"/>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4</a:t>
            </a:r>
            <a:endParaRPr lang="en-US" sz="2150" dirty="0"/>
          </a:p>
        </p:txBody>
      </p:sp>
      <p:sp>
        <p:nvSpPr>
          <p:cNvPr id="17" name="Text 11"/>
          <p:cNvSpPr/>
          <p:nvPr/>
        </p:nvSpPr>
        <p:spPr>
          <a:xfrm>
            <a:off x="7480816" y="5173623"/>
            <a:ext cx="4216122"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認知能力維持・向上のための教育活動</a:t>
            </a:r>
            <a:endParaRPr lang="en-US" sz="1950" dirty="0"/>
          </a:p>
        </p:txBody>
      </p:sp>
      <p:sp>
        <p:nvSpPr>
          <p:cNvPr id="18" name="Text 12"/>
          <p:cNvSpPr/>
          <p:nvPr/>
        </p:nvSpPr>
        <p:spPr>
          <a:xfrm>
            <a:off x="793790" y="590538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意図的教育設計への転換は単なる改善ではなく、生存をかけた緊急変革です。依存症予防を組み込まない教育活動は、教育ではなく依存症の量産に他なりません。</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779389"/>
            <a:ext cx="94266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本章のまとめ：現在の危機と次章への展望</a:t>
            </a:r>
            <a:endParaRPr lang="en-US" sz="3900" dirty="0"/>
          </a:p>
        </p:txBody>
      </p:sp>
      <p:sp>
        <p:nvSpPr>
          <p:cNvPr id="3" name="Text 1"/>
          <p:cNvSpPr/>
          <p:nvPr/>
        </p:nvSpPr>
        <p:spPr>
          <a:xfrm>
            <a:off x="793790" y="279630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世界で進行するAI依存症は、もはや「将来の懸念」ではなく「現在の危機」です。MIT・スタンフォード大学の研究が示す認知負債の深刻さ、中国での調査結果が示す依存の現実、そして時間的猶予のなさを踏まえれば、教育現場での緊急対応は避けて通れません。</a:t>
            </a:r>
            <a:endParaRPr lang="en-US" sz="1550" dirty="0"/>
          </a:p>
        </p:txBody>
      </p:sp>
      <p:pic>
        <p:nvPicPr>
          <p:cNvPr id="4" name="Image 0" descr="preencoded.png">    </p:cNvPr>
          <p:cNvPicPr>
            <a:picLocks noChangeAspect="1"/>
          </p:cNvPicPr>
          <p:nvPr/>
        </p:nvPicPr>
        <p:blipFill>
          <a:blip r:embed="rId1"/>
          <a:stretch>
            <a:fillRect/>
          </a:stretch>
        </p:blipFill>
        <p:spPr>
          <a:xfrm>
            <a:off x="793790" y="3654623"/>
            <a:ext cx="4347567" cy="793790"/>
          </a:xfrm>
          <a:prstGeom prst="rect">
            <a:avLst/>
          </a:prstGeom>
        </p:spPr>
      </p:pic>
      <p:sp>
        <p:nvSpPr>
          <p:cNvPr id="5" name="Text 2"/>
          <p:cNvSpPr/>
          <p:nvPr/>
        </p:nvSpPr>
        <p:spPr>
          <a:xfrm>
            <a:off x="992148" y="464677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科学的根拠の確立</a:t>
            </a:r>
            <a:endParaRPr lang="en-US" sz="1950" dirty="0"/>
          </a:p>
        </p:txBody>
      </p:sp>
      <p:sp>
        <p:nvSpPr>
          <p:cNvPr id="6" name="Text 3"/>
          <p:cNvSpPr/>
          <p:nvPr/>
        </p:nvSpPr>
        <p:spPr>
          <a:xfrm>
            <a:off x="992148" y="5075992"/>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MIT・スイスの研究による認知負債の実証</a:t>
            </a:r>
            <a:endParaRPr lang="en-US" sz="1550" dirty="0"/>
          </a:p>
        </p:txBody>
      </p:sp>
      <p:pic>
        <p:nvPicPr>
          <p:cNvPr id="7" name="Image 1" descr="preencoded.png">    </p:cNvPr>
          <p:cNvPicPr>
            <a:picLocks noChangeAspect="1"/>
          </p:cNvPicPr>
          <p:nvPr/>
        </p:nvPicPr>
        <p:blipFill>
          <a:blip r:embed="rId2"/>
          <a:stretch>
            <a:fillRect/>
          </a:stretch>
        </p:blipFill>
        <p:spPr>
          <a:xfrm>
            <a:off x="5141357" y="3654623"/>
            <a:ext cx="4347567" cy="793790"/>
          </a:xfrm>
          <a:prstGeom prst="rect">
            <a:avLst/>
          </a:prstGeom>
        </p:spPr>
      </p:pic>
      <p:sp>
        <p:nvSpPr>
          <p:cNvPr id="8" name="Text 4"/>
          <p:cNvSpPr/>
          <p:nvPr/>
        </p:nvSpPr>
        <p:spPr>
          <a:xfrm>
            <a:off x="5339715" y="464677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現実の深刻さ</a:t>
            </a:r>
            <a:endParaRPr lang="en-US" sz="1950" dirty="0"/>
          </a:p>
        </p:txBody>
      </p:sp>
      <p:sp>
        <p:nvSpPr>
          <p:cNvPr id="9" name="Text 5"/>
          <p:cNvSpPr/>
          <p:nvPr/>
        </p:nvSpPr>
        <p:spPr>
          <a:xfrm>
            <a:off x="5339715" y="5075992"/>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中国調査が示す47.1%の依存率</a:t>
            </a:r>
            <a:endParaRPr lang="en-US" sz="1550" dirty="0"/>
          </a:p>
        </p:txBody>
      </p:sp>
      <p:pic>
        <p:nvPicPr>
          <p:cNvPr id="10" name="Image 2" descr="preencoded.png">    </p:cNvPr>
          <p:cNvPicPr>
            <a:picLocks noChangeAspect="1"/>
          </p:cNvPicPr>
          <p:nvPr/>
        </p:nvPicPr>
        <p:blipFill>
          <a:blip r:embed="rId3"/>
          <a:stretch>
            <a:fillRect/>
          </a:stretch>
        </p:blipFill>
        <p:spPr>
          <a:xfrm>
            <a:off x="9488924" y="3654623"/>
            <a:ext cx="4347567" cy="793790"/>
          </a:xfrm>
          <a:prstGeom prst="rect">
            <a:avLst/>
          </a:prstGeom>
        </p:spPr>
      </p:pic>
      <p:sp>
        <p:nvSpPr>
          <p:cNvPr id="11" name="Text 6"/>
          <p:cNvSpPr/>
          <p:nvPr/>
        </p:nvSpPr>
        <p:spPr>
          <a:xfrm>
            <a:off x="9687282" y="464677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緊急対応の必要性</a:t>
            </a:r>
            <a:endParaRPr lang="en-US" sz="1950" dirty="0"/>
          </a:p>
        </p:txBody>
      </p:sp>
      <p:sp>
        <p:nvSpPr>
          <p:cNvPr id="12" name="Text 7"/>
          <p:cNvSpPr/>
          <p:nvPr/>
        </p:nvSpPr>
        <p:spPr>
          <a:xfrm>
            <a:off x="9687282" y="5075992"/>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教育現場での即座の変革が不可欠</a:t>
            </a:r>
            <a:endParaRPr lang="en-US" sz="1550" dirty="0"/>
          </a:p>
        </p:txBody>
      </p:sp>
      <p:sp>
        <p:nvSpPr>
          <p:cNvPr id="13" name="Text 8"/>
          <p:cNvSpPr/>
          <p:nvPr/>
        </p:nvSpPr>
        <p:spPr>
          <a:xfrm>
            <a:off x="793790" y="581513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次章では、この危機的状況を踏まえた上で、なぜ多くの教育実践で「その使い方の教育的効果は？」という質問に答えられないのかを分析し、解決への道筋を明らかにします。</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2025-09-26T09:39:10Z</dcterms:created>
  <dcterms:modified xsi:type="dcterms:W3CDTF">2025-09-26T09:39:10Z</dcterms:modified>
</cp:coreProperties>
</file>