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4630400" cy="8229600"/>
  <p:notesSz cx="8229600" cy="14630400"/>
  <p:embeddedFontLst>
    <p:embeddedFont>
      <p:font typeface="DM Sans Semi Bold"/>
      <p:regular r:id="rId22"/>
    </p:embeddedFont>
    <p:embeddedFont>
      <p:font typeface="DM Sans Semi Bold"/>
      <p:regular r:id="rId23"/>
    </p:embeddedFont>
    <p:embeddedFont>
      <p:font typeface="DM Sans Semi Bold"/>
      <p:regular r:id="rId24"/>
    </p:embeddedFont>
    <p:embeddedFont>
      <p:font typeface="DM Sans Semi Bold"/>
      <p:regular r:id="rId25"/>
    </p:embeddedFont>
    <p:embeddedFont>
      <p:font typeface="Inter Medium"/>
      <p:regular r:id="rId26"/>
    </p:embeddedFont>
    <p:embeddedFont>
      <p:font typeface="Inter Medium"/>
      <p:regular r:id="rId27"/>
    </p:embeddedFont>
    <p:embeddedFont>
      <p:font typeface="Inter Medium"/>
      <p:regular r:id="rId28"/>
    </p:embeddedFont>
    <p:embeddedFont>
      <p:font typeface="Inter Medium"/>
      <p:regular r:id="rId2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font" Target="fonts/font6.fntdata"/><Relationship Id="rId28" Type="http://schemas.openxmlformats.org/officeDocument/2006/relationships/font" Target="fonts/font7.fntdata"/><Relationship Id="rId29"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9.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5.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3179564"/>
            <a:ext cx="5436156"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AI時代の教育危機と希望</a:t>
            </a:r>
            <a:endParaRPr lang="en-US" sz="3900" dirty="0"/>
          </a:p>
        </p:txBody>
      </p:sp>
      <p:sp>
        <p:nvSpPr>
          <p:cNvPr id="4" name="Text 1"/>
          <p:cNvSpPr/>
          <p:nvPr/>
        </p:nvSpPr>
        <p:spPr>
          <a:xfrm>
            <a:off x="793790" y="4097298"/>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先生、この問題のヒントをAIに聞いてもいいですか？」2024年、全国の教室でこんな声が当たり前のように響くようになりました。生成AIが教育現場に急速に浸透する中、多くの教師たちが戸惑いを隠せずにいます。</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685931"/>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執筆の動機</a:t>
            </a:r>
            <a:endParaRPr lang="en-US" sz="3900" dirty="0"/>
          </a:p>
        </p:txBody>
      </p:sp>
      <p:sp>
        <p:nvSpPr>
          <p:cNvPr id="4" name="Text 1"/>
          <p:cNvSpPr/>
          <p:nvPr/>
        </p:nvSpPr>
        <p:spPr>
          <a:xfrm>
            <a:off x="6577846" y="3826907"/>
            <a:ext cx="7258764"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「AIを使った授業は確かに効率的だ。でも、これで本当に子どもたちの力になっているのだろうか？」</a:t>
            </a:r>
            <a:endParaRPr lang="en-US" sz="1550" dirty="0"/>
          </a:p>
        </p:txBody>
      </p:sp>
      <p:sp>
        <p:nvSpPr>
          <p:cNvPr id="5" name="Shape 2"/>
          <p:cNvSpPr/>
          <p:nvPr/>
        </p:nvSpPr>
        <p:spPr>
          <a:xfrm>
            <a:off x="6280190" y="3603665"/>
            <a:ext cx="22860" cy="1081564"/>
          </a:xfrm>
          <a:prstGeom prst="rect">
            <a:avLst/>
          </a:prstGeom>
          <a:solidFill>
            <a:srgbClr val="1C9770"/>
          </a:solidFill>
          <a:ln/>
        </p:spPr>
      </p:sp>
      <p:sp>
        <p:nvSpPr>
          <p:cNvPr id="6" name="Text 3"/>
          <p:cNvSpPr/>
          <p:nvPr/>
        </p:nvSpPr>
        <p:spPr>
          <a:xfrm>
            <a:off x="6280190" y="4908471"/>
            <a:ext cx="75564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この素朴な疑問こそが、本書執筆の出発点でした。教育現場でのAI活用が広がる一方で、世界中の研究機関から警鐘を鳴らすデータが次々と発表されています。</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573060"/>
            <a:ext cx="6945987"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世界の研究が示す衝撃的な現実</a:t>
            </a:r>
            <a:endParaRPr lang="en-US" sz="3900" dirty="0"/>
          </a:p>
        </p:txBody>
      </p:sp>
      <p:sp>
        <p:nvSpPr>
          <p:cNvPr id="3" name="Text 1"/>
          <p:cNvSpPr/>
          <p:nvPr/>
        </p:nvSpPr>
        <p:spPr>
          <a:xfrm>
            <a:off x="793790" y="3689152"/>
            <a:ext cx="4182189" cy="654963"/>
          </a:xfrm>
          <a:prstGeom prst="rect">
            <a:avLst/>
          </a:prstGeom>
          <a:noFill/>
          <a:ln/>
        </p:spPr>
        <p:txBody>
          <a:bodyPr wrap="none" lIns="0" tIns="0" rIns="0" bIns="0" rtlCol="0" anchor="t"/>
          <a:lstStyle/>
          <a:p>
            <a:pPr algn="ctr" indent="0" marL="0">
              <a:lnSpc>
                <a:spcPts val="5150"/>
              </a:lnSpc>
              <a:buNone/>
            </a:pPr>
            <a:r>
              <a:rPr lang="en-US" sz="5150" dirty="0">
                <a:solidFill>
                  <a:srgbClr val="464646"/>
                </a:solidFill>
                <a:latin typeface="DM Sans Semi Bold" pitchFamily="34" charset="0"/>
                <a:ea typeface="DM Sans Semi Bold" pitchFamily="34" charset="-122"/>
                <a:cs typeface="DM Sans Semi Bold" pitchFamily="34" charset="-120"/>
              </a:rPr>
              <a:t>78%</a:t>
            </a:r>
            <a:endParaRPr lang="en-US" sz="5150" dirty="0"/>
          </a:p>
        </p:txBody>
      </p:sp>
      <p:sp>
        <p:nvSpPr>
          <p:cNvPr id="4" name="Text 2"/>
          <p:cNvSpPr/>
          <p:nvPr/>
        </p:nvSpPr>
        <p:spPr>
          <a:xfrm>
            <a:off x="1644372" y="4592122"/>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MIT研究結果</a:t>
            </a:r>
            <a:endParaRPr lang="en-US" sz="1950" dirty="0"/>
          </a:p>
        </p:txBody>
      </p:sp>
      <p:sp>
        <p:nvSpPr>
          <p:cNvPr id="5" name="Text 3"/>
          <p:cNvSpPr/>
          <p:nvPr/>
        </p:nvSpPr>
        <p:spPr>
          <a:xfrm>
            <a:off x="793790" y="5021342"/>
            <a:ext cx="4182189" cy="635079"/>
          </a:xfrm>
          <a:prstGeom prst="rect">
            <a:avLst/>
          </a:prstGeom>
          <a:noFill/>
          <a:ln/>
        </p:spPr>
        <p:txBody>
          <a:bodyPr wrap="square" lIns="0" tIns="0" rIns="0" bIns="0" rtlCol="0" anchor="t"/>
          <a:lstStyle/>
          <a:p>
            <a:pPr algn="ctr"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AI支援を受けた学習者が、支援なしでは同じ問題を解けなくなる割合</a:t>
            </a:r>
            <a:endParaRPr lang="en-US" sz="1550" dirty="0"/>
          </a:p>
        </p:txBody>
      </p:sp>
      <p:sp>
        <p:nvSpPr>
          <p:cNvPr id="6" name="Text 4"/>
          <p:cNvSpPr/>
          <p:nvPr/>
        </p:nvSpPr>
        <p:spPr>
          <a:xfrm>
            <a:off x="5223986" y="3689152"/>
            <a:ext cx="4182308" cy="654963"/>
          </a:xfrm>
          <a:prstGeom prst="rect">
            <a:avLst/>
          </a:prstGeom>
          <a:noFill/>
          <a:ln/>
        </p:spPr>
        <p:txBody>
          <a:bodyPr wrap="none" lIns="0" tIns="0" rIns="0" bIns="0" rtlCol="0" anchor="t"/>
          <a:lstStyle/>
          <a:p>
            <a:pPr algn="ctr" indent="0" marL="0">
              <a:lnSpc>
                <a:spcPts val="5150"/>
              </a:lnSpc>
              <a:buNone/>
            </a:pPr>
            <a:r>
              <a:rPr lang="en-US" sz="5150" dirty="0">
                <a:solidFill>
                  <a:srgbClr val="464646"/>
                </a:solidFill>
                <a:latin typeface="DM Sans Semi Bold" pitchFamily="34" charset="0"/>
                <a:ea typeface="DM Sans Semi Bold" pitchFamily="34" charset="-122"/>
                <a:cs typeface="DM Sans Semi Bold" pitchFamily="34" charset="-120"/>
              </a:rPr>
              <a:t>-0.68</a:t>
            </a:r>
            <a:endParaRPr lang="en-US" sz="5150" dirty="0"/>
          </a:p>
        </p:txBody>
      </p:sp>
      <p:sp>
        <p:nvSpPr>
          <p:cNvPr id="7" name="Text 5"/>
          <p:cNvSpPr/>
          <p:nvPr/>
        </p:nvSpPr>
        <p:spPr>
          <a:xfrm>
            <a:off x="6074688" y="4592122"/>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スイス研究</a:t>
            </a:r>
            <a:endParaRPr lang="en-US" sz="1950" dirty="0"/>
          </a:p>
        </p:txBody>
      </p:sp>
      <p:sp>
        <p:nvSpPr>
          <p:cNvPr id="8" name="Text 6"/>
          <p:cNvSpPr/>
          <p:nvPr/>
        </p:nvSpPr>
        <p:spPr>
          <a:xfrm>
            <a:off x="5223986" y="5021342"/>
            <a:ext cx="4182308" cy="317540"/>
          </a:xfrm>
          <a:prstGeom prst="rect">
            <a:avLst/>
          </a:prstGeom>
          <a:noFill/>
          <a:ln/>
        </p:spPr>
        <p:txBody>
          <a:bodyPr wrap="none" lIns="0" tIns="0" rIns="0" bIns="0" rtlCol="0" anchor="t"/>
          <a:lstStyle/>
          <a:p>
            <a:pPr algn="ctr"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AI使用と批判的思考力の間の強い負の相関係数</a:t>
            </a:r>
            <a:endParaRPr lang="en-US" sz="1550" dirty="0"/>
          </a:p>
        </p:txBody>
      </p:sp>
      <p:sp>
        <p:nvSpPr>
          <p:cNvPr id="9" name="Text 7"/>
          <p:cNvSpPr/>
          <p:nvPr/>
        </p:nvSpPr>
        <p:spPr>
          <a:xfrm>
            <a:off x="9654302" y="3689152"/>
            <a:ext cx="4182308" cy="654963"/>
          </a:xfrm>
          <a:prstGeom prst="rect">
            <a:avLst/>
          </a:prstGeom>
          <a:noFill/>
          <a:ln/>
        </p:spPr>
        <p:txBody>
          <a:bodyPr wrap="none" lIns="0" tIns="0" rIns="0" bIns="0" rtlCol="0" anchor="t"/>
          <a:lstStyle/>
          <a:p>
            <a:pPr algn="ctr" indent="0" marL="0">
              <a:lnSpc>
                <a:spcPts val="5150"/>
              </a:lnSpc>
              <a:buNone/>
            </a:pPr>
            <a:r>
              <a:rPr lang="en-US" sz="5150" dirty="0">
                <a:solidFill>
                  <a:srgbClr val="464646"/>
                </a:solidFill>
                <a:latin typeface="DM Sans Semi Bold" pitchFamily="34" charset="0"/>
                <a:ea typeface="DM Sans Semi Bold" pitchFamily="34" charset="-122"/>
                <a:cs typeface="DM Sans Semi Bold" pitchFamily="34" charset="-120"/>
              </a:rPr>
              <a:t>47.1%</a:t>
            </a:r>
            <a:endParaRPr lang="en-US" sz="5150" dirty="0"/>
          </a:p>
        </p:txBody>
      </p:sp>
      <p:sp>
        <p:nvSpPr>
          <p:cNvPr id="10" name="Text 8"/>
          <p:cNvSpPr/>
          <p:nvPr/>
        </p:nvSpPr>
        <p:spPr>
          <a:xfrm>
            <a:off x="10505003" y="4592122"/>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中国大学調査</a:t>
            </a:r>
            <a:endParaRPr lang="en-US" sz="1950" dirty="0"/>
          </a:p>
        </p:txBody>
      </p:sp>
      <p:sp>
        <p:nvSpPr>
          <p:cNvPr id="11" name="Text 9"/>
          <p:cNvSpPr/>
          <p:nvPr/>
        </p:nvSpPr>
        <p:spPr>
          <a:xfrm>
            <a:off x="9654302" y="5021342"/>
            <a:ext cx="4182308" cy="635079"/>
          </a:xfrm>
          <a:prstGeom prst="rect">
            <a:avLst/>
          </a:prstGeom>
          <a:noFill/>
          <a:ln/>
        </p:spPr>
        <p:txBody>
          <a:bodyPr wrap="square" lIns="0" tIns="0" rIns="0" bIns="0" rtlCol="0" anchor="t"/>
          <a:lstStyle/>
          <a:p>
            <a:pPr algn="ctr"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3,129人の学生のうちAI依存状態にある学生の割合</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3020854"/>
            <a:ext cx="6449854"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日本の教育現場の深刻な実態</a:t>
            </a:r>
            <a:endParaRPr lang="en-US" sz="3900" dirty="0"/>
          </a:p>
        </p:txBody>
      </p:sp>
      <p:sp>
        <p:nvSpPr>
          <p:cNvPr id="4" name="Text 1"/>
          <p:cNvSpPr/>
          <p:nvPr/>
        </p:nvSpPr>
        <p:spPr>
          <a:xfrm>
            <a:off x="6280190" y="3938588"/>
            <a:ext cx="7556421" cy="127015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文部科学省が「成功事例」として公開しているリーディングDXスクールの実践事例を詳細に分析したところ、表面的には効率化や業務改善の成果を上げている一方で、教育学的・認知科学的観点から見ると、意図せずして学習者と教師双方の認知能力劣化を促進する危険な実践が含まれていることが明らかになりました。</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717006"/>
            <a:ext cx="6945987"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教師の専門性が脅かされる実態</a:t>
            </a:r>
            <a:endParaRPr lang="en-US" sz="3900" dirty="0"/>
          </a:p>
        </p:txBody>
      </p:sp>
      <p:sp>
        <p:nvSpPr>
          <p:cNvPr id="3" name="Shape 1"/>
          <p:cNvSpPr/>
          <p:nvPr/>
        </p:nvSpPr>
        <p:spPr>
          <a:xfrm>
            <a:off x="793790" y="3733919"/>
            <a:ext cx="4215289" cy="1778556"/>
          </a:xfrm>
          <a:prstGeom prst="roundRect">
            <a:avLst>
              <a:gd name="adj" fmla="val 1674"/>
            </a:avLst>
          </a:prstGeom>
          <a:solidFill>
            <a:srgbClr val="F2EEEE"/>
          </a:solidFill>
          <a:ln/>
        </p:spPr>
      </p:sp>
      <p:sp>
        <p:nvSpPr>
          <p:cNvPr id="4" name="Text 2"/>
          <p:cNvSpPr/>
          <p:nvPr/>
        </p:nvSpPr>
        <p:spPr>
          <a:xfrm>
            <a:off x="992148" y="393227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教材開発のAI全面依存</a:t>
            </a:r>
            <a:endParaRPr lang="en-US" sz="1950" dirty="0"/>
          </a:p>
        </p:txBody>
      </p:sp>
      <p:sp>
        <p:nvSpPr>
          <p:cNvPr id="5" name="Text 3"/>
          <p:cNvSpPr/>
          <p:nvPr/>
        </p:nvSpPr>
        <p:spPr>
          <a:xfrm>
            <a:off x="992148" y="4361498"/>
            <a:ext cx="3818573" cy="95261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「一から作成すると時間も必要だが、AIにプロンプト入力で短時間作成」という状況が広がっています。</a:t>
            </a:r>
            <a:endParaRPr lang="en-US" sz="1550" dirty="0"/>
          </a:p>
        </p:txBody>
      </p:sp>
      <p:sp>
        <p:nvSpPr>
          <p:cNvPr id="6" name="Shape 4"/>
          <p:cNvSpPr/>
          <p:nvPr/>
        </p:nvSpPr>
        <p:spPr>
          <a:xfrm>
            <a:off x="5207437" y="3733919"/>
            <a:ext cx="4215408" cy="1778556"/>
          </a:xfrm>
          <a:prstGeom prst="roundRect">
            <a:avLst>
              <a:gd name="adj" fmla="val 1674"/>
            </a:avLst>
          </a:prstGeom>
          <a:solidFill>
            <a:srgbClr val="F2EEEE"/>
          </a:solidFill>
          <a:ln/>
        </p:spPr>
      </p:sp>
      <p:sp>
        <p:nvSpPr>
          <p:cNvPr id="7" name="Text 5"/>
          <p:cNvSpPr/>
          <p:nvPr/>
        </p:nvSpPr>
        <p:spPr>
          <a:xfrm>
            <a:off x="5405795" y="393227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教育的判断のAI委託</a:t>
            </a:r>
            <a:endParaRPr lang="en-US" sz="1950" dirty="0"/>
          </a:p>
        </p:txBody>
      </p:sp>
      <p:sp>
        <p:nvSpPr>
          <p:cNvPr id="8" name="Text 6"/>
          <p:cNvSpPr/>
          <p:nvPr/>
        </p:nvSpPr>
        <p:spPr>
          <a:xfrm>
            <a:off x="5405795" y="4361498"/>
            <a:ext cx="3818692"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指導案の妥当性評価をすべてAIが行う状況が常態化しています。</a:t>
            </a:r>
            <a:endParaRPr lang="en-US" sz="1550" dirty="0"/>
          </a:p>
        </p:txBody>
      </p:sp>
      <p:sp>
        <p:nvSpPr>
          <p:cNvPr id="9" name="Shape 7"/>
          <p:cNvSpPr/>
          <p:nvPr/>
        </p:nvSpPr>
        <p:spPr>
          <a:xfrm>
            <a:off x="9621203" y="3733919"/>
            <a:ext cx="4215289" cy="1778556"/>
          </a:xfrm>
          <a:prstGeom prst="roundRect">
            <a:avLst>
              <a:gd name="adj" fmla="val 1674"/>
            </a:avLst>
          </a:prstGeom>
          <a:solidFill>
            <a:srgbClr val="F2EEEE"/>
          </a:solidFill>
          <a:ln/>
        </p:spPr>
      </p:sp>
      <p:sp>
        <p:nvSpPr>
          <p:cNvPr id="10" name="Text 8"/>
          <p:cNvSpPr/>
          <p:nvPr/>
        </p:nvSpPr>
        <p:spPr>
          <a:xfrm>
            <a:off x="9819561" y="3932277"/>
            <a:ext cx="2728079"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文書作成能力の外部依存</a:t>
            </a:r>
            <a:endParaRPr lang="en-US" sz="1950" dirty="0"/>
          </a:p>
        </p:txBody>
      </p:sp>
      <p:sp>
        <p:nvSpPr>
          <p:cNvPr id="11" name="Text 9"/>
          <p:cNvSpPr/>
          <p:nvPr/>
        </p:nvSpPr>
        <p:spPr>
          <a:xfrm>
            <a:off x="9819561" y="4361498"/>
            <a:ext cx="3818573" cy="95261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管理職が保護者向け通知文の作成・校正を完全にAIに任せるケースが増加しています。</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423041"/>
            <a:ext cx="7417237"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学習の本質的価値が失われる実態</a:t>
            </a:r>
            <a:endParaRPr lang="en-US" sz="3900" dirty="0"/>
          </a:p>
        </p:txBody>
      </p:sp>
      <p:sp>
        <p:nvSpPr>
          <p:cNvPr id="4" name="Text 1"/>
          <p:cNvSpPr/>
          <p:nvPr/>
        </p:nvSpPr>
        <p:spPr>
          <a:xfrm>
            <a:off x="6280190" y="3539133"/>
            <a:ext cx="2195751" cy="620316"/>
          </a:xfrm>
          <a:prstGeom prst="rect">
            <a:avLst/>
          </a:prstGeom>
          <a:noFill/>
          <a:ln/>
        </p:spPr>
        <p:txBody>
          <a:bodyPr wrap="square" lIns="0" tIns="0" rIns="0" bIns="0" rtlCol="0" anchor="t"/>
          <a:lstStyle/>
          <a:p>
            <a:pPr algn="l" indent="0" marL="0">
              <a:lnSpc>
                <a:spcPts val="2400"/>
              </a:lnSpc>
              <a:buNone/>
            </a:pPr>
            <a:r>
              <a:rPr lang="en-US" sz="1950" dirty="0">
                <a:solidFill>
                  <a:srgbClr val="030303"/>
                </a:solidFill>
                <a:latin typeface="DM Sans Semi Bold" pitchFamily="34" charset="0"/>
                <a:ea typeface="DM Sans Semi Bold" pitchFamily="34" charset="-122"/>
                <a:cs typeface="DM Sans Semi Bold" pitchFamily="34" charset="-120"/>
              </a:rPr>
              <a:t>架空データでの学習</a:t>
            </a:r>
            <a:endParaRPr lang="en-US" sz="1950" dirty="0"/>
          </a:p>
        </p:txBody>
      </p:sp>
      <p:sp>
        <p:nvSpPr>
          <p:cNvPr id="5" name="Text 2"/>
          <p:cNvSpPr/>
          <p:nvPr/>
        </p:nvSpPr>
        <p:spPr>
          <a:xfrm>
            <a:off x="6280190" y="4357807"/>
            <a:ext cx="2195751" cy="127015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数学教育で実社会との接続を断った人工的データのみを使用する授業が増えています。</a:t>
            </a:r>
            <a:endParaRPr lang="en-US" sz="1550" dirty="0"/>
          </a:p>
        </p:txBody>
      </p:sp>
      <p:sp>
        <p:nvSpPr>
          <p:cNvPr id="6" name="Text 3"/>
          <p:cNvSpPr/>
          <p:nvPr/>
        </p:nvSpPr>
        <p:spPr>
          <a:xfrm>
            <a:off x="8967668" y="3539133"/>
            <a:ext cx="2195751" cy="620316"/>
          </a:xfrm>
          <a:prstGeom prst="rect">
            <a:avLst/>
          </a:prstGeom>
          <a:noFill/>
          <a:ln/>
        </p:spPr>
        <p:txBody>
          <a:bodyPr wrap="square" lIns="0" tIns="0" rIns="0" bIns="0" rtlCol="0" anchor="t"/>
          <a:lstStyle/>
          <a:p>
            <a:pPr algn="l" indent="0" marL="0">
              <a:lnSpc>
                <a:spcPts val="2400"/>
              </a:lnSpc>
              <a:buNone/>
            </a:pPr>
            <a:r>
              <a:rPr lang="en-US" sz="1950" dirty="0">
                <a:solidFill>
                  <a:srgbClr val="030303"/>
                </a:solidFill>
                <a:latin typeface="DM Sans Semi Bold" pitchFamily="34" charset="0"/>
                <a:ea typeface="DM Sans Semi Bold" pitchFamily="34" charset="-122"/>
                <a:cs typeface="DM Sans Semi Bold" pitchFamily="34" charset="-120"/>
              </a:rPr>
              <a:t>思考プロセスの省略</a:t>
            </a:r>
            <a:endParaRPr lang="en-US" sz="1950" dirty="0"/>
          </a:p>
        </p:txBody>
      </p:sp>
      <p:sp>
        <p:nvSpPr>
          <p:cNvPr id="7" name="Text 4"/>
          <p:cNvSpPr/>
          <p:nvPr/>
        </p:nvSpPr>
        <p:spPr>
          <a:xfrm>
            <a:off x="8967668" y="4357807"/>
            <a:ext cx="2195751" cy="95261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学習者が「考える」機会を体系的に削減する授業設計が広がっています。</a:t>
            </a:r>
            <a:endParaRPr lang="en-US" sz="1550" dirty="0"/>
          </a:p>
        </p:txBody>
      </p:sp>
      <p:sp>
        <p:nvSpPr>
          <p:cNvPr id="8" name="Text 5"/>
          <p:cNvSpPr/>
          <p:nvPr/>
        </p:nvSpPr>
        <p:spPr>
          <a:xfrm>
            <a:off x="11655147" y="3539133"/>
            <a:ext cx="2195751" cy="310158"/>
          </a:xfrm>
          <a:prstGeom prst="rect">
            <a:avLst/>
          </a:prstGeom>
          <a:noFill/>
          <a:ln/>
        </p:spPr>
        <p:txBody>
          <a:bodyPr wrap="none" lIns="0" tIns="0" rIns="0" bIns="0" rtlCol="0" anchor="t"/>
          <a:lstStyle/>
          <a:p>
            <a:pPr algn="l" indent="0" marL="0">
              <a:lnSpc>
                <a:spcPts val="2400"/>
              </a:lnSpc>
              <a:buNone/>
            </a:pPr>
            <a:r>
              <a:rPr lang="en-US" sz="1950" dirty="0">
                <a:solidFill>
                  <a:srgbClr val="030303"/>
                </a:solidFill>
                <a:latin typeface="DM Sans Semi Bold" pitchFamily="34" charset="0"/>
                <a:ea typeface="DM Sans Semi Bold" pitchFamily="34" charset="-122"/>
                <a:cs typeface="DM Sans Semi Bold" pitchFamily="34" charset="-120"/>
              </a:rPr>
              <a:t>現場感覚の喪失</a:t>
            </a:r>
            <a:endParaRPr lang="en-US" sz="1950" dirty="0"/>
          </a:p>
        </p:txBody>
      </p:sp>
      <p:sp>
        <p:nvSpPr>
          <p:cNvPr id="9" name="Text 6"/>
          <p:cNvSpPr/>
          <p:nvPr/>
        </p:nvSpPr>
        <p:spPr>
          <a:xfrm>
            <a:off x="11655147" y="4047649"/>
            <a:ext cx="2195751" cy="127015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アンケート分析をAIに丸投げし、保護者の生の声から得られる重要な洞察を放棄しています。</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2596753"/>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最も深刻な発見</a:t>
            </a:r>
            <a:endParaRPr lang="en-US" sz="3900" dirty="0"/>
          </a:p>
        </p:txBody>
      </p:sp>
      <p:sp>
        <p:nvSpPr>
          <p:cNvPr id="3" name="Shape 1"/>
          <p:cNvSpPr/>
          <p:nvPr/>
        </p:nvSpPr>
        <p:spPr>
          <a:xfrm>
            <a:off x="793790" y="3613666"/>
            <a:ext cx="13042821" cy="1160740"/>
          </a:xfrm>
          <a:prstGeom prst="roundRect">
            <a:avLst>
              <a:gd name="adj" fmla="val 2565"/>
            </a:avLst>
          </a:prstGeom>
          <a:solidFill>
            <a:srgbClr val="BEF3E2"/>
          </a:solidFill>
          <a:ln/>
        </p:spPr>
      </p:sp>
      <p:pic>
        <p:nvPicPr>
          <p:cNvPr id="4" name="Image 0" descr="preencoded.png">    </p:cNvPr>
          <p:cNvPicPr>
            <a:picLocks noChangeAspect="1"/>
          </p:cNvPicPr>
          <p:nvPr/>
        </p:nvPicPr>
        <p:blipFill>
          <a:blip r:embed="rId1"/>
          <a:stretch>
            <a:fillRect/>
          </a:stretch>
        </p:blipFill>
        <p:spPr>
          <a:xfrm>
            <a:off x="992148" y="3916561"/>
            <a:ext cx="248007" cy="198358"/>
          </a:xfrm>
          <a:prstGeom prst="rect">
            <a:avLst/>
          </a:prstGeom>
        </p:spPr>
      </p:pic>
      <p:sp>
        <p:nvSpPr>
          <p:cNvPr id="5" name="Text 2"/>
          <p:cNvSpPr/>
          <p:nvPr/>
        </p:nvSpPr>
        <p:spPr>
          <a:xfrm>
            <a:off x="1438513" y="3861554"/>
            <a:ext cx="12199739"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Inter Medium" pitchFamily="34" charset="0"/>
                <a:ea typeface="Inter Medium" pitchFamily="34" charset="-122"/>
                <a:cs typeface="Inter Medium" pitchFamily="34" charset="-120"/>
              </a:rPr>
              <a:t>これらの実践が全国の先進的な学校の「模範事例」として拡散されていることです。善意で取り組まれている実践が、科学的検証なしに「効率化＝教育的価値」という誤った等式のもとに展開されている現実があります。</a:t>
            </a:r>
            <a:endParaRPr lang="en-US" sz="1550" dirty="0"/>
          </a:p>
        </p:txBody>
      </p:sp>
      <p:sp>
        <p:nvSpPr>
          <p:cNvPr id="6" name="Text 3"/>
          <p:cNvSpPr/>
          <p:nvPr/>
        </p:nvSpPr>
        <p:spPr>
          <a:xfrm>
            <a:off x="793790" y="4997648"/>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これらのデータと実態分析が示しているのは、私たちが懸念していた以上に深刻な現実でした。「考えない子ども」「判断できない教師」が確実に増えているのです。</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869758"/>
            <a:ext cx="7427238"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本書は「警鐘本」ではありません</a:t>
            </a:r>
            <a:endParaRPr lang="en-US" sz="3900" dirty="0"/>
          </a:p>
        </p:txBody>
      </p:sp>
      <p:pic>
        <p:nvPicPr>
          <p:cNvPr id="4" name="Image 1" descr="preencoded.png">    </p:cNvPr>
          <p:cNvPicPr>
            <a:picLocks noChangeAspect="1"/>
          </p:cNvPicPr>
          <p:nvPr/>
        </p:nvPicPr>
        <p:blipFill>
          <a:blip r:embed="rId2"/>
          <a:stretch>
            <a:fillRect/>
          </a:stretch>
        </p:blipFill>
        <p:spPr>
          <a:xfrm>
            <a:off x="6280190" y="2787491"/>
            <a:ext cx="992267" cy="1190744"/>
          </a:xfrm>
          <a:prstGeom prst="rect">
            <a:avLst/>
          </a:prstGeom>
        </p:spPr>
      </p:pic>
      <p:sp>
        <p:nvSpPr>
          <p:cNvPr id="5" name="Text 1"/>
          <p:cNvSpPr/>
          <p:nvPr/>
        </p:nvSpPr>
        <p:spPr>
          <a:xfrm>
            <a:off x="7470815" y="298584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問題の認識</a:t>
            </a:r>
            <a:endParaRPr lang="en-US" sz="1950" dirty="0"/>
          </a:p>
        </p:txBody>
      </p:sp>
      <p:sp>
        <p:nvSpPr>
          <p:cNvPr id="6" name="Text 2"/>
          <p:cNvSpPr/>
          <p:nvPr/>
        </p:nvSpPr>
        <p:spPr>
          <a:xfrm>
            <a:off x="7470815" y="3415070"/>
            <a:ext cx="6365796"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AIの危険性を警告するだけでは何も変わりません</a:t>
            </a:r>
            <a:endParaRPr lang="en-US" sz="1550" dirty="0"/>
          </a:p>
        </p:txBody>
      </p:sp>
      <p:pic>
        <p:nvPicPr>
          <p:cNvPr id="7" name="Image 2" descr="preencoded.png">    </p:cNvPr>
          <p:cNvPicPr>
            <a:picLocks noChangeAspect="1"/>
          </p:cNvPicPr>
          <p:nvPr/>
        </p:nvPicPr>
        <p:blipFill>
          <a:blip r:embed="rId3"/>
          <a:stretch>
            <a:fillRect/>
          </a:stretch>
        </p:blipFill>
        <p:spPr>
          <a:xfrm>
            <a:off x="6280190" y="3978235"/>
            <a:ext cx="992267" cy="1190744"/>
          </a:xfrm>
          <a:prstGeom prst="rect">
            <a:avLst/>
          </a:prstGeom>
        </p:spPr>
      </p:pic>
      <p:sp>
        <p:nvSpPr>
          <p:cNvPr id="8" name="Text 3"/>
          <p:cNvSpPr/>
          <p:nvPr/>
        </p:nvSpPr>
        <p:spPr>
          <a:xfrm>
            <a:off x="7470815" y="417659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具体的解決策</a:t>
            </a:r>
            <a:endParaRPr lang="en-US" sz="1950" dirty="0"/>
          </a:p>
        </p:txBody>
      </p:sp>
      <p:sp>
        <p:nvSpPr>
          <p:cNvPr id="9" name="Text 4"/>
          <p:cNvSpPr/>
          <p:nvPr/>
        </p:nvSpPr>
        <p:spPr>
          <a:xfrm>
            <a:off x="7470815" y="4605814"/>
            <a:ext cx="6365796"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教育現場には今すぐ実践できる対策が必要です</a:t>
            </a:r>
            <a:endParaRPr lang="en-US" sz="1550" dirty="0"/>
          </a:p>
        </p:txBody>
      </p:sp>
      <p:pic>
        <p:nvPicPr>
          <p:cNvPr id="10" name="Image 3" descr="preencoded.png">    </p:cNvPr>
          <p:cNvPicPr>
            <a:picLocks noChangeAspect="1"/>
          </p:cNvPicPr>
          <p:nvPr/>
        </p:nvPicPr>
        <p:blipFill>
          <a:blip r:embed="rId4"/>
          <a:stretch>
            <a:fillRect/>
          </a:stretch>
        </p:blipFill>
        <p:spPr>
          <a:xfrm>
            <a:off x="6280190" y="5168979"/>
            <a:ext cx="992267" cy="1190744"/>
          </a:xfrm>
          <a:prstGeom prst="rect">
            <a:avLst/>
          </a:prstGeom>
        </p:spPr>
      </p:pic>
      <p:sp>
        <p:nvSpPr>
          <p:cNvPr id="11" name="Text 5"/>
          <p:cNvSpPr/>
          <p:nvPr/>
        </p:nvSpPr>
        <p:spPr>
          <a:xfrm>
            <a:off x="7470815" y="536733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実践可能な手法</a:t>
            </a:r>
            <a:endParaRPr lang="en-US" sz="1950" dirty="0"/>
          </a:p>
        </p:txBody>
      </p:sp>
      <p:sp>
        <p:nvSpPr>
          <p:cNvPr id="12" name="Text 6"/>
          <p:cNvSpPr/>
          <p:nvPr/>
        </p:nvSpPr>
        <p:spPr>
          <a:xfrm>
            <a:off x="7470815" y="5796558"/>
            <a:ext cx="6365796"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本書では具体的で実践可能な解決策を提示します</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2298978"/>
            <a:ext cx="6767870"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革新的解決策「CPPD」の提案</a:t>
            </a:r>
            <a:endParaRPr lang="en-US" sz="3900" dirty="0"/>
          </a:p>
        </p:txBody>
      </p:sp>
      <p:sp>
        <p:nvSpPr>
          <p:cNvPr id="3" name="Text 1"/>
          <p:cNvSpPr/>
          <p:nvPr/>
        </p:nvSpPr>
        <p:spPr>
          <a:xfrm>
            <a:off x="793790" y="3216712"/>
            <a:ext cx="9923621" cy="1240393"/>
          </a:xfrm>
          <a:prstGeom prst="rect">
            <a:avLst/>
          </a:prstGeom>
          <a:noFill/>
          <a:ln/>
        </p:spPr>
        <p:txBody>
          <a:bodyPr wrap="none" lIns="0" tIns="0" rIns="0" bIns="0" rtlCol="0" anchor="t"/>
          <a:lstStyle/>
          <a:p>
            <a:pPr algn="l" indent="0" marL="0">
              <a:lnSpc>
                <a:spcPts val="9750"/>
              </a:lnSpc>
              <a:buNone/>
            </a:pPr>
            <a:r>
              <a:rPr lang="en-US" sz="7800" dirty="0">
                <a:solidFill>
                  <a:srgbClr val="030303"/>
                </a:solidFill>
                <a:latin typeface="DM Sans Semi Bold" pitchFamily="34" charset="0"/>
                <a:ea typeface="DM Sans Semi Bold" pitchFamily="34" charset="-122"/>
                <a:cs typeface="DM Sans Semi Bold" pitchFamily="34" charset="-120"/>
              </a:rPr>
              <a:t>CPPD</a:t>
            </a:r>
            <a:endParaRPr lang="en-US" sz="7800" dirty="0"/>
          </a:p>
        </p:txBody>
      </p:sp>
      <p:sp>
        <p:nvSpPr>
          <p:cNvPr id="4" name="Text 2"/>
          <p:cNvSpPr/>
          <p:nvPr/>
        </p:nvSpPr>
        <p:spPr>
          <a:xfrm>
            <a:off x="793790" y="4754761"/>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本書の中核となるのは、「認知保護型プロンプト設計法（Cognitive Protection Prompt Design: CPPD）」という新しい教育手法です。</a:t>
            </a:r>
            <a:endParaRPr lang="en-US" sz="1550" dirty="0"/>
          </a:p>
        </p:txBody>
      </p:sp>
      <p:sp>
        <p:nvSpPr>
          <p:cNvPr id="5" name="Text 3"/>
          <p:cNvSpPr/>
          <p:nvPr/>
        </p:nvSpPr>
        <p:spPr>
          <a:xfrm>
            <a:off x="793790" y="529554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この手法の画期的な点は、従来の「教師が学習者を指導する」という一方向モデルを超えて、教師と学習者の双方の認知能力を同時に保護する統合的アプローチにあります。</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894636"/>
            <a:ext cx="5457587"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なぜ「双方向」なのか？</a:t>
            </a:r>
            <a:endParaRPr lang="en-US" sz="3900" dirty="0"/>
          </a:p>
        </p:txBody>
      </p:sp>
      <p:sp>
        <p:nvSpPr>
          <p:cNvPr id="3" name="Text 1"/>
          <p:cNvSpPr/>
          <p:nvPr/>
        </p:nvSpPr>
        <p:spPr>
          <a:xfrm>
            <a:off x="953572" y="4038957"/>
            <a:ext cx="3682246" cy="310158"/>
          </a:xfrm>
          <a:prstGeom prst="rect">
            <a:avLst/>
          </a:prstGeom>
          <a:noFill/>
          <a:ln/>
        </p:spPr>
        <p:txBody>
          <a:bodyPr wrap="none" lIns="0" tIns="0" rIns="0" bIns="0" rtlCol="0" anchor="t"/>
          <a:lstStyle/>
          <a:p>
            <a:pPr algn="r"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授業準備をすべてAIに任せる教師</a:t>
            </a:r>
            <a:endParaRPr lang="en-US" sz="1950" dirty="0"/>
          </a:p>
        </p:txBody>
      </p:sp>
      <p:pic>
        <p:nvPicPr>
          <p:cNvPr id="4" name="Image 0" descr="preencoded.png">    </p:cNvPr>
          <p:cNvPicPr>
            <a:picLocks noChangeAspect="1"/>
          </p:cNvPicPr>
          <p:nvPr/>
        </p:nvPicPr>
        <p:blipFill>
          <a:blip r:embed="rId1"/>
          <a:stretch>
            <a:fillRect/>
          </a:stretch>
        </p:blipFill>
        <p:spPr>
          <a:xfrm>
            <a:off x="5032653" y="1911548"/>
            <a:ext cx="4564975" cy="4564975"/>
          </a:xfrm>
          <a:prstGeom prst="rect">
            <a:avLst/>
          </a:prstGeom>
        </p:spPr>
      </p:pic>
      <p:pic>
        <p:nvPicPr>
          <p:cNvPr id="5" name="Image 1" descr="preencoded.png">    </p:cNvPr>
          <p:cNvPicPr>
            <a:picLocks noChangeAspect="1"/>
          </p:cNvPicPr>
          <p:nvPr/>
        </p:nvPicPr>
        <p:blipFill>
          <a:blip r:embed="rId2"/>
          <a:stretch>
            <a:fillRect/>
          </a:stretch>
        </p:blipFill>
        <p:spPr>
          <a:xfrm>
            <a:off x="5592544" y="3733740"/>
            <a:ext cx="296942" cy="371118"/>
          </a:xfrm>
          <a:prstGeom prst="rect">
            <a:avLst/>
          </a:prstGeom>
        </p:spPr>
      </p:pic>
      <p:sp>
        <p:nvSpPr>
          <p:cNvPr id="6" name="Text 2"/>
          <p:cNvSpPr/>
          <p:nvPr/>
        </p:nvSpPr>
        <p:spPr>
          <a:xfrm>
            <a:off x="9895284" y="2668191"/>
            <a:ext cx="3941326" cy="620316"/>
          </a:xfrm>
          <a:prstGeom prst="rect">
            <a:avLst/>
          </a:prstGeom>
          <a:noFill/>
          <a:ln/>
        </p:spPr>
        <p:txBody>
          <a:bodyPr wrap="squar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学習者の理解度判定をAIに依存する教師</a:t>
            </a:r>
            <a:endParaRPr lang="en-US" sz="1950" dirty="0"/>
          </a:p>
        </p:txBody>
      </p:sp>
      <p:pic>
        <p:nvPicPr>
          <p:cNvPr id="7" name="Image 2" descr="preencoded.png">    </p:cNvPr>
          <p:cNvPicPr>
            <a:picLocks noChangeAspect="1"/>
          </p:cNvPicPr>
          <p:nvPr/>
        </p:nvPicPr>
        <p:blipFill>
          <a:blip r:embed="rId3"/>
          <a:stretch>
            <a:fillRect/>
          </a:stretch>
        </p:blipFill>
        <p:spPr>
          <a:xfrm>
            <a:off x="5032653" y="1911548"/>
            <a:ext cx="4564975" cy="4564975"/>
          </a:xfrm>
          <a:prstGeom prst="rect">
            <a:avLst/>
          </a:prstGeom>
        </p:spPr>
      </p:pic>
      <p:pic>
        <p:nvPicPr>
          <p:cNvPr id="8" name="Image 3" descr="preencoded.png">    </p:cNvPr>
          <p:cNvPicPr>
            <a:picLocks noChangeAspect="1"/>
          </p:cNvPicPr>
          <p:nvPr/>
        </p:nvPicPr>
        <p:blipFill>
          <a:blip r:embed="rId4"/>
          <a:stretch>
            <a:fillRect/>
          </a:stretch>
        </p:blipFill>
        <p:spPr>
          <a:xfrm>
            <a:off x="8191440" y="2782669"/>
            <a:ext cx="296942" cy="371118"/>
          </a:xfrm>
          <a:prstGeom prst="rect">
            <a:avLst/>
          </a:prstGeom>
        </p:spPr>
      </p:pic>
      <p:sp>
        <p:nvSpPr>
          <p:cNvPr id="9" name="Text 3"/>
          <p:cNvSpPr/>
          <p:nvPr/>
        </p:nvSpPr>
        <p:spPr>
          <a:xfrm>
            <a:off x="9895284" y="5099447"/>
            <a:ext cx="3941326" cy="620316"/>
          </a:xfrm>
          <a:prstGeom prst="rect">
            <a:avLst/>
          </a:prstGeom>
          <a:noFill/>
          <a:ln/>
        </p:spPr>
        <p:txBody>
          <a:bodyPr wrap="squar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「なぜその指導が有効なのか」を説明できない教師</a:t>
            </a:r>
            <a:endParaRPr lang="en-US" sz="1950" dirty="0"/>
          </a:p>
        </p:txBody>
      </p:sp>
      <p:pic>
        <p:nvPicPr>
          <p:cNvPr id="10" name="Image 4" descr="preencoded.png">    </p:cNvPr>
          <p:cNvPicPr>
            <a:picLocks noChangeAspect="1"/>
          </p:cNvPicPr>
          <p:nvPr/>
        </p:nvPicPr>
        <p:blipFill>
          <a:blip r:embed="rId5"/>
          <a:stretch>
            <a:fillRect/>
          </a:stretch>
        </p:blipFill>
        <p:spPr>
          <a:xfrm>
            <a:off x="5032653" y="1911548"/>
            <a:ext cx="4564975" cy="4564975"/>
          </a:xfrm>
          <a:prstGeom prst="rect">
            <a:avLst/>
          </a:prstGeom>
        </p:spPr>
      </p:pic>
      <p:pic>
        <p:nvPicPr>
          <p:cNvPr id="11" name="Image 5" descr="preencoded.png">    </p:cNvPr>
          <p:cNvPicPr>
            <a:picLocks noChangeAspect="1"/>
          </p:cNvPicPr>
          <p:nvPr/>
        </p:nvPicPr>
        <p:blipFill>
          <a:blip r:embed="rId6"/>
          <a:stretch>
            <a:fillRect/>
          </a:stretch>
        </p:blipFill>
        <p:spPr>
          <a:xfrm>
            <a:off x="7715667" y="5508843"/>
            <a:ext cx="296942" cy="371118"/>
          </a:xfrm>
          <a:prstGeom prst="rect">
            <a:avLst/>
          </a:prstGeom>
        </p:spPr>
      </p:pic>
      <p:sp>
        <p:nvSpPr>
          <p:cNvPr id="12" name="Text 4"/>
          <p:cNvSpPr/>
          <p:nvPr/>
        </p:nvSpPr>
        <p:spPr>
          <a:xfrm>
            <a:off x="793790" y="6699766"/>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教師自身もAI依存のリスクにさらされているという衝撃的な事実が明らかになったからです。教師の専門性が揺らげば、教育の質そのものが崩壊します。</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669852"/>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本書の構成</a:t>
            </a:r>
            <a:endParaRPr lang="en-US" sz="3900" dirty="0"/>
          </a:p>
        </p:txBody>
      </p:sp>
      <p:sp>
        <p:nvSpPr>
          <p:cNvPr id="3" name="Shape 1"/>
          <p:cNvSpPr/>
          <p:nvPr/>
        </p:nvSpPr>
        <p:spPr>
          <a:xfrm>
            <a:off x="7303770" y="2686764"/>
            <a:ext cx="22860" cy="3872984"/>
          </a:xfrm>
          <a:prstGeom prst="roundRect">
            <a:avLst>
              <a:gd name="adj" fmla="val 130232"/>
            </a:avLst>
          </a:prstGeom>
          <a:solidFill>
            <a:srgbClr val="D8D4D4"/>
          </a:solidFill>
          <a:ln/>
        </p:spPr>
      </p:sp>
      <p:sp>
        <p:nvSpPr>
          <p:cNvPr id="4" name="Shape 2"/>
          <p:cNvSpPr/>
          <p:nvPr/>
        </p:nvSpPr>
        <p:spPr>
          <a:xfrm>
            <a:off x="6519505" y="2898577"/>
            <a:ext cx="595313" cy="22860"/>
          </a:xfrm>
          <a:prstGeom prst="roundRect">
            <a:avLst>
              <a:gd name="adj" fmla="val 130232"/>
            </a:avLst>
          </a:prstGeom>
          <a:solidFill>
            <a:srgbClr val="D8D4D4"/>
          </a:solidFill>
          <a:ln/>
        </p:spPr>
      </p:sp>
      <p:sp>
        <p:nvSpPr>
          <p:cNvPr id="5" name="Shape 3"/>
          <p:cNvSpPr/>
          <p:nvPr/>
        </p:nvSpPr>
        <p:spPr>
          <a:xfrm>
            <a:off x="7091958" y="2686764"/>
            <a:ext cx="446484" cy="446484"/>
          </a:xfrm>
          <a:prstGeom prst="roundRect">
            <a:avLst>
              <a:gd name="adj" fmla="val 6668"/>
            </a:avLst>
          </a:prstGeom>
          <a:solidFill>
            <a:srgbClr val="F2EEEE"/>
          </a:solidFill>
          <a:ln/>
        </p:spPr>
      </p:sp>
      <p:sp>
        <p:nvSpPr>
          <p:cNvPr id="6" name="Text 4"/>
          <p:cNvSpPr/>
          <p:nvPr/>
        </p:nvSpPr>
        <p:spPr>
          <a:xfrm>
            <a:off x="7166372" y="2723971"/>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464646"/>
                </a:solidFill>
                <a:latin typeface="DM Sans Semi Bold" pitchFamily="34" charset="0"/>
                <a:ea typeface="DM Sans Semi Bold" pitchFamily="34" charset="-122"/>
                <a:cs typeface="DM Sans Semi Bold" pitchFamily="34" charset="-120"/>
              </a:rPr>
              <a:t>1</a:t>
            </a:r>
            <a:endParaRPr lang="en-US" sz="2300" dirty="0"/>
          </a:p>
        </p:txBody>
      </p:sp>
      <p:sp>
        <p:nvSpPr>
          <p:cNvPr id="7" name="Text 5"/>
          <p:cNvSpPr/>
          <p:nvPr/>
        </p:nvSpPr>
        <p:spPr>
          <a:xfrm>
            <a:off x="3012519" y="2754987"/>
            <a:ext cx="3310414" cy="310158"/>
          </a:xfrm>
          <a:prstGeom prst="rect">
            <a:avLst/>
          </a:prstGeom>
          <a:noFill/>
          <a:ln/>
        </p:spPr>
        <p:txBody>
          <a:bodyPr wrap="none" lIns="0" tIns="0" rIns="0" bIns="0" rtlCol="0" anchor="t"/>
          <a:lstStyle/>
          <a:p>
            <a:pPr algn="r"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第1章：日本の教育現場の現状</a:t>
            </a:r>
            <a:endParaRPr lang="en-US" sz="1950" dirty="0"/>
          </a:p>
        </p:txBody>
      </p:sp>
      <p:sp>
        <p:nvSpPr>
          <p:cNvPr id="8" name="Text 6"/>
          <p:cNvSpPr/>
          <p:nvPr/>
        </p:nvSpPr>
        <p:spPr>
          <a:xfrm>
            <a:off x="793790" y="3184207"/>
            <a:ext cx="5529143" cy="635079"/>
          </a:xfrm>
          <a:prstGeom prst="rect">
            <a:avLst/>
          </a:prstGeom>
          <a:noFill/>
          <a:ln/>
        </p:spPr>
        <p:txBody>
          <a:bodyPr wrap="square" lIns="0" tIns="0" rIns="0" bIns="0" rtlCol="0" anchor="t"/>
          <a:lstStyle/>
          <a:p>
            <a:pPr algn="r"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GIGAスクール構想の実態と、表面的な「AI活用」の限界を明らかにします</a:t>
            </a:r>
            <a:endParaRPr lang="en-US" sz="1550" dirty="0"/>
          </a:p>
        </p:txBody>
      </p:sp>
      <p:sp>
        <p:nvSpPr>
          <p:cNvPr id="9" name="Shape 7"/>
          <p:cNvSpPr/>
          <p:nvPr/>
        </p:nvSpPr>
        <p:spPr>
          <a:xfrm>
            <a:off x="7515582" y="4089202"/>
            <a:ext cx="595313" cy="22860"/>
          </a:xfrm>
          <a:prstGeom prst="roundRect">
            <a:avLst>
              <a:gd name="adj" fmla="val 130232"/>
            </a:avLst>
          </a:prstGeom>
          <a:solidFill>
            <a:srgbClr val="D8D4D4"/>
          </a:solidFill>
          <a:ln/>
        </p:spPr>
      </p:sp>
      <p:sp>
        <p:nvSpPr>
          <p:cNvPr id="10" name="Shape 8"/>
          <p:cNvSpPr/>
          <p:nvPr/>
        </p:nvSpPr>
        <p:spPr>
          <a:xfrm>
            <a:off x="7091958" y="3877389"/>
            <a:ext cx="446484" cy="446484"/>
          </a:xfrm>
          <a:prstGeom prst="roundRect">
            <a:avLst>
              <a:gd name="adj" fmla="val 6668"/>
            </a:avLst>
          </a:prstGeom>
          <a:solidFill>
            <a:srgbClr val="F2EEEE"/>
          </a:solidFill>
          <a:ln/>
        </p:spPr>
      </p:sp>
      <p:sp>
        <p:nvSpPr>
          <p:cNvPr id="11" name="Text 9"/>
          <p:cNvSpPr/>
          <p:nvPr/>
        </p:nvSpPr>
        <p:spPr>
          <a:xfrm>
            <a:off x="7166372" y="3914596"/>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464646"/>
                </a:solidFill>
                <a:latin typeface="DM Sans Semi Bold" pitchFamily="34" charset="0"/>
                <a:ea typeface="DM Sans Semi Bold" pitchFamily="34" charset="-122"/>
                <a:cs typeface="DM Sans Semi Bold" pitchFamily="34" charset="-120"/>
              </a:rPr>
              <a:t>2</a:t>
            </a:r>
            <a:endParaRPr lang="en-US" sz="2300" dirty="0"/>
          </a:p>
        </p:txBody>
      </p:sp>
      <p:sp>
        <p:nvSpPr>
          <p:cNvPr id="12" name="Text 10"/>
          <p:cNvSpPr/>
          <p:nvPr/>
        </p:nvSpPr>
        <p:spPr>
          <a:xfrm>
            <a:off x="8307467" y="3945612"/>
            <a:ext cx="4348639"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第2章：世界で進行するAI依存の深刻化</a:t>
            </a:r>
            <a:endParaRPr lang="en-US" sz="1950" dirty="0"/>
          </a:p>
        </p:txBody>
      </p:sp>
      <p:sp>
        <p:nvSpPr>
          <p:cNvPr id="13" name="Text 11"/>
          <p:cNvSpPr/>
          <p:nvPr/>
        </p:nvSpPr>
        <p:spPr>
          <a:xfrm>
            <a:off x="8307467" y="4374832"/>
            <a:ext cx="5529143"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MIT、スタンフォード大学、スイス、中国などの最新研究データを徹底分析</a:t>
            </a:r>
            <a:endParaRPr lang="en-US" sz="1550" dirty="0"/>
          </a:p>
        </p:txBody>
      </p:sp>
      <p:sp>
        <p:nvSpPr>
          <p:cNvPr id="14" name="Shape 12"/>
          <p:cNvSpPr/>
          <p:nvPr/>
        </p:nvSpPr>
        <p:spPr>
          <a:xfrm>
            <a:off x="6519505" y="5115520"/>
            <a:ext cx="595313" cy="22860"/>
          </a:xfrm>
          <a:prstGeom prst="roundRect">
            <a:avLst>
              <a:gd name="adj" fmla="val 130232"/>
            </a:avLst>
          </a:prstGeom>
          <a:solidFill>
            <a:srgbClr val="D8D4D4"/>
          </a:solidFill>
          <a:ln/>
        </p:spPr>
      </p:sp>
      <p:sp>
        <p:nvSpPr>
          <p:cNvPr id="15" name="Shape 13"/>
          <p:cNvSpPr/>
          <p:nvPr/>
        </p:nvSpPr>
        <p:spPr>
          <a:xfrm>
            <a:off x="7091958" y="4903708"/>
            <a:ext cx="446484" cy="446484"/>
          </a:xfrm>
          <a:prstGeom prst="roundRect">
            <a:avLst>
              <a:gd name="adj" fmla="val 6668"/>
            </a:avLst>
          </a:prstGeom>
          <a:solidFill>
            <a:srgbClr val="F2EEEE"/>
          </a:solidFill>
          <a:ln/>
        </p:spPr>
      </p:sp>
      <p:sp>
        <p:nvSpPr>
          <p:cNvPr id="16" name="Text 14"/>
          <p:cNvSpPr/>
          <p:nvPr/>
        </p:nvSpPr>
        <p:spPr>
          <a:xfrm>
            <a:off x="7166372" y="4940915"/>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464646"/>
                </a:solidFill>
                <a:latin typeface="DM Sans Semi Bold" pitchFamily="34" charset="0"/>
                <a:ea typeface="DM Sans Semi Bold" pitchFamily="34" charset="-122"/>
                <a:cs typeface="DM Sans Semi Bold" pitchFamily="34" charset="-120"/>
              </a:rPr>
              <a:t>3</a:t>
            </a:r>
            <a:endParaRPr lang="en-US" sz="2300" dirty="0"/>
          </a:p>
        </p:txBody>
      </p:sp>
      <p:sp>
        <p:nvSpPr>
          <p:cNvPr id="17" name="Text 15"/>
          <p:cNvSpPr/>
          <p:nvPr/>
        </p:nvSpPr>
        <p:spPr>
          <a:xfrm>
            <a:off x="1462207" y="4971931"/>
            <a:ext cx="4860727" cy="310158"/>
          </a:xfrm>
          <a:prstGeom prst="rect">
            <a:avLst/>
          </a:prstGeom>
          <a:noFill/>
          <a:ln/>
        </p:spPr>
        <p:txBody>
          <a:bodyPr wrap="none" lIns="0" tIns="0" rIns="0" bIns="0" rtlCol="0" anchor="t"/>
          <a:lstStyle/>
          <a:p>
            <a:pPr algn="r"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第3章：なぜ教師は効果を説明できないのか</a:t>
            </a:r>
            <a:endParaRPr lang="en-US" sz="1950" dirty="0"/>
          </a:p>
        </p:txBody>
      </p:sp>
      <p:sp>
        <p:nvSpPr>
          <p:cNvPr id="18" name="Text 16"/>
          <p:cNvSpPr/>
          <p:nvPr/>
        </p:nvSpPr>
        <p:spPr>
          <a:xfrm>
            <a:off x="793790" y="5401151"/>
            <a:ext cx="5529143" cy="317540"/>
          </a:xfrm>
          <a:prstGeom prst="rect">
            <a:avLst/>
          </a:prstGeom>
          <a:noFill/>
          <a:ln/>
        </p:spPr>
        <p:txBody>
          <a:bodyPr wrap="none" lIns="0" tIns="0" rIns="0" bIns="0" rtlCol="0" anchor="t"/>
          <a:lstStyle/>
          <a:p>
            <a:pPr algn="r"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現状の根本原因を構造的に解明します</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2323862"/>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実践編の構成</a:t>
            </a:r>
            <a:endParaRPr lang="en-US" sz="3900" dirty="0"/>
          </a:p>
        </p:txBody>
      </p:sp>
      <p:sp>
        <p:nvSpPr>
          <p:cNvPr id="3" name="Shape 1"/>
          <p:cNvSpPr/>
          <p:nvPr/>
        </p:nvSpPr>
        <p:spPr>
          <a:xfrm>
            <a:off x="793790" y="3340775"/>
            <a:ext cx="4215289" cy="2564844"/>
          </a:xfrm>
          <a:prstGeom prst="roundRect">
            <a:avLst>
              <a:gd name="adj" fmla="val 1161"/>
            </a:avLst>
          </a:prstGeom>
          <a:solidFill>
            <a:srgbClr val="F2EEEE"/>
          </a:solidFill>
          <a:ln/>
        </p:spPr>
      </p:sp>
      <p:sp>
        <p:nvSpPr>
          <p:cNvPr id="4" name="Shape 2"/>
          <p:cNvSpPr/>
          <p:nvPr/>
        </p:nvSpPr>
        <p:spPr>
          <a:xfrm>
            <a:off x="992148" y="3539133"/>
            <a:ext cx="595313" cy="595313"/>
          </a:xfrm>
          <a:prstGeom prst="roundRect">
            <a:avLst>
              <a:gd name="adj" fmla="val 15358451"/>
            </a:avLst>
          </a:prstGeom>
          <a:solidFill>
            <a:srgbClr val="1C9770"/>
          </a:solidFill>
          <a:ln/>
        </p:spPr>
      </p:sp>
      <p:pic>
        <p:nvPicPr>
          <p:cNvPr id="5" name="Image 0" descr="preencoded.png">    </p:cNvPr>
          <p:cNvPicPr>
            <a:picLocks noChangeAspect="1"/>
          </p:cNvPicPr>
          <p:nvPr/>
        </p:nvPicPr>
        <p:blipFill>
          <a:blip r:embed="rId1"/>
          <a:stretch>
            <a:fillRect/>
          </a:stretch>
        </p:blipFill>
        <p:spPr>
          <a:xfrm>
            <a:off x="1155859" y="3669268"/>
            <a:ext cx="267891" cy="334923"/>
          </a:xfrm>
          <a:prstGeom prst="rect">
            <a:avLst/>
          </a:prstGeom>
        </p:spPr>
      </p:pic>
      <p:sp>
        <p:nvSpPr>
          <p:cNvPr id="6" name="Text 3"/>
          <p:cNvSpPr/>
          <p:nvPr/>
        </p:nvSpPr>
        <p:spPr>
          <a:xfrm>
            <a:off x="992148" y="4332803"/>
            <a:ext cx="3818573" cy="620316"/>
          </a:xfrm>
          <a:prstGeom prst="rect">
            <a:avLst/>
          </a:prstGeom>
          <a:noFill/>
          <a:ln/>
        </p:spPr>
        <p:txBody>
          <a:bodyPr wrap="squar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第4章：生成AI活用の本質的教育価値</a:t>
            </a:r>
            <a:endParaRPr lang="en-US" sz="1950" dirty="0"/>
          </a:p>
        </p:txBody>
      </p:sp>
      <p:sp>
        <p:nvSpPr>
          <p:cNvPr id="7" name="Text 4"/>
          <p:cNvSpPr/>
          <p:nvPr/>
        </p:nvSpPr>
        <p:spPr>
          <a:xfrm>
            <a:off x="992148" y="5072182"/>
            <a:ext cx="3818573"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理論的基盤を構築し、なぜ認知保護が必要なのかを科学的に説明</a:t>
            </a:r>
            <a:endParaRPr lang="en-US" sz="1550" dirty="0"/>
          </a:p>
        </p:txBody>
      </p:sp>
      <p:sp>
        <p:nvSpPr>
          <p:cNvPr id="8" name="Shape 5"/>
          <p:cNvSpPr/>
          <p:nvPr/>
        </p:nvSpPr>
        <p:spPr>
          <a:xfrm>
            <a:off x="5207437" y="3340775"/>
            <a:ext cx="4215408" cy="2564844"/>
          </a:xfrm>
          <a:prstGeom prst="roundRect">
            <a:avLst>
              <a:gd name="adj" fmla="val 1161"/>
            </a:avLst>
          </a:prstGeom>
          <a:solidFill>
            <a:srgbClr val="F2EEEE"/>
          </a:solidFill>
          <a:ln/>
        </p:spPr>
      </p:sp>
      <p:sp>
        <p:nvSpPr>
          <p:cNvPr id="9" name="Shape 6"/>
          <p:cNvSpPr/>
          <p:nvPr/>
        </p:nvSpPr>
        <p:spPr>
          <a:xfrm>
            <a:off x="5405795" y="3539133"/>
            <a:ext cx="595313" cy="595313"/>
          </a:xfrm>
          <a:prstGeom prst="roundRect">
            <a:avLst>
              <a:gd name="adj" fmla="val 15358451"/>
            </a:avLst>
          </a:prstGeom>
          <a:solidFill>
            <a:srgbClr val="1C9770"/>
          </a:solidFill>
          <a:ln/>
        </p:spPr>
      </p:sp>
      <p:pic>
        <p:nvPicPr>
          <p:cNvPr id="10" name="Image 1" descr="preencoded.png">    </p:cNvPr>
          <p:cNvPicPr>
            <a:picLocks noChangeAspect="1"/>
          </p:cNvPicPr>
          <p:nvPr/>
        </p:nvPicPr>
        <p:blipFill>
          <a:blip r:embed="rId2"/>
          <a:stretch>
            <a:fillRect/>
          </a:stretch>
        </p:blipFill>
        <p:spPr>
          <a:xfrm>
            <a:off x="5569506" y="3669268"/>
            <a:ext cx="267891" cy="334923"/>
          </a:xfrm>
          <a:prstGeom prst="rect">
            <a:avLst/>
          </a:prstGeom>
        </p:spPr>
      </p:pic>
      <p:sp>
        <p:nvSpPr>
          <p:cNvPr id="11" name="Text 7"/>
          <p:cNvSpPr/>
          <p:nvPr/>
        </p:nvSpPr>
        <p:spPr>
          <a:xfrm>
            <a:off x="5405795" y="4332803"/>
            <a:ext cx="3341489"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第5章：CPPD による授業設計</a:t>
            </a:r>
            <a:endParaRPr lang="en-US" sz="1950" dirty="0"/>
          </a:p>
        </p:txBody>
      </p:sp>
      <p:sp>
        <p:nvSpPr>
          <p:cNvPr id="12" name="Text 8"/>
          <p:cNvSpPr/>
          <p:nvPr/>
        </p:nvSpPr>
        <p:spPr>
          <a:xfrm>
            <a:off x="5405795" y="4762024"/>
            <a:ext cx="3818692"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具体的な実践手法を詳述。教科別の事例も豊富に紹介</a:t>
            </a:r>
            <a:endParaRPr lang="en-US" sz="1550" dirty="0"/>
          </a:p>
        </p:txBody>
      </p:sp>
      <p:sp>
        <p:nvSpPr>
          <p:cNvPr id="13" name="Shape 9"/>
          <p:cNvSpPr/>
          <p:nvPr/>
        </p:nvSpPr>
        <p:spPr>
          <a:xfrm>
            <a:off x="9621203" y="3340775"/>
            <a:ext cx="4215289" cy="2564844"/>
          </a:xfrm>
          <a:prstGeom prst="roundRect">
            <a:avLst>
              <a:gd name="adj" fmla="val 1161"/>
            </a:avLst>
          </a:prstGeom>
          <a:solidFill>
            <a:srgbClr val="F2EEEE"/>
          </a:solidFill>
          <a:ln/>
        </p:spPr>
      </p:sp>
      <p:sp>
        <p:nvSpPr>
          <p:cNvPr id="14" name="Shape 10"/>
          <p:cNvSpPr/>
          <p:nvPr/>
        </p:nvSpPr>
        <p:spPr>
          <a:xfrm>
            <a:off x="9819561" y="3539133"/>
            <a:ext cx="595313" cy="595313"/>
          </a:xfrm>
          <a:prstGeom prst="roundRect">
            <a:avLst>
              <a:gd name="adj" fmla="val 15358451"/>
            </a:avLst>
          </a:prstGeom>
          <a:solidFill>
            <a:srgbClr val="1C9770"/>
          </a:solidFill>
          <a:ln/>
        </p:spPr>
      </p:sp>
      <p:pic>
        <p:nvPicPr>
          <p:cNvPr id="15" name="Image 2" descr="preencoded.png">    </p:cNvPr>
          <p:cNvPicPr>
            <a:picLocks noChangeAspect="1"/>
          </p:cNvPicPr>
          <p:nvPr/>
        </p:nvPicPr>
        <p:blipFill>
          <a:blip r:embed="rId3"/>
          <a:stretch>
            <a:fillRect/>
          </a:stretch>
        </p:blipFill>
        <p:spPr>
          <a:xfrm>
            <a:off x="9983272" y="3669268"/>
            <a:ext cx="267891" cy="334923"/>
          </a:xfrm>
          <a:prstGeom prst="rect">
            <a:avLst/>
          </a:prstGeom>
        </p:spPr>
      </p:pic>
      <p:sp>
        <p:nvSpPr>
          <p:cNvPr id="16" name="Text 11"/>
          <p:cNvSpPr/>
          <p:nvPr/>
        </p:nvSpPr>
        <p:spPr>
          <a:xfrm>
            <a:off x="9819561" y="4332803"/>
            <a:ext cx="3381137"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第6章以降：組織的な教育改革</a:t>
            </a:r>
            <a:endParaRPr lang="en-US" sz="1950" dirty="0"/>
          </a:p>
        </p:txBody>
      </p:sp>
      <p:sp>
        <p:nvSpPr>
          <p:cNvPr id="17" name="Text 12"/>
          <p:cNvSpPr/>
          <p:nvPr/>
        </p:nvSpPr>
        <p:spPr>
          <a:xfrm>
            <a:off x="9819561" y="4762024"/>
            <a:ext cx="3818573"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学校種別の実践設計、教育制度改革への道筋について論述</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80905"/>
          </a:xfrm>
          <a:prstGeom prst="rect">
            <a:avLst/>
          </a:prstGeom>
        </p:spPr>
      </p:pic>
      <p:sp>
        <p:nvSpPr>
          <p:cNvPr id="3" name="Text 0"/>
          <p:cNvSpPr/>
          <p:nvPr/>
        </p:nvSpPr>
        <p:spPr>
          <a:xfrm>
            <a:off x="793790" y="4136112"/>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緊急性と希望の両立</a:t>
            </a:r>
            <a:endParaRPr lang="en-US" sz="3900" dirty="0"/>
          </a:p>
        </p:txBody>
      </p:sp>
      <p:sp>
        <p:nvSpPr>
          <p:cNvPr id="4" name="Text 1"/>
          <p:cNvSpPr/>
          <p:nvPr/>
        </p:nvSpPr>
        <p:spPr>
          <a:xfrm>
            <a:off x="793790" y="525220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30303"/>
                </a:solidFill>
                <a:latin typeface="DM Sans Semi Bold" pitchFamily="34" charset="0"/>
                <a:ea typeface="DM Sans Semi Bold" pitchFamily="34" charset="-122"/>
                <a:cs typeface="DM Sans Semi Bold" pitchFamily="34" charset="-120"/>
              </a:rPr>
              <a:t>緊急性</a:t>
            </a:r>
            <a:endParaRPr lang="en-US" sz="1950" dirty="0"/>
          </a:p>
        </p:txBody>
      </p:sp>
      <p:sp>
        <p:nvSpPr>
          <p:cNvPr id="5" name="Text 2"/>
          <p:cNvSpPr/>
          <p:nvPr/>
        </p:nvSpPr>
        <p:spPr>
          <a:xfrm>
            <a:off x="793790" y="5760720"/>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本書は確かに警鐘を鳴らします。重要なのは、今すぐ行動を起こすことです。問題が深刻化してからでは手遅れになりかねません。</a:t>
            </a:r>
            <a:endParaRPr lang="en-US" sz="1550" dirty="0"/>
          </a:p>
        </p:txBody>
      </p:sp>
      <p:sp>
        <p:nvSpPr>
          <p:cNvPr id="6" name="Text 3"/>
          <p:cNvSpPr/>
          <p:nvPr/>
        </p:nvSpPr>
        <p:spPr>
          <a:xfrm>
            <a:off x="7564874" y="525220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30303"/>
                </a:solidFill>
                <a:latin typeface="DM Sans Semi Bold" pitchFamily="34" charset="0"/>
                <a:ea typeface="DM Sans Semi Bold" pitchFamily="34" charset="-122"/>
                <a:cs typeface="DM Sans Semi Bold" pitchFamily="34" charset="-120"/>
              </a:rPr>
              <a:t>希望</a:t>
            </a:r>
            <a:endParaRPr lang="en-US" sz="1950" dirty="0"/>
          </a:p>
        </p:txBody>
      </p:sp>
      <p:sp>
        <p:nvSpPr>
          <p:cNvPr id="7" name="Text 4"/>
          <p:cNvSpPr/>
          <p:nvPr/>
        </p:nvSpPr>
        <p:spPr>
          <a:xfrm>
            <a:off x="7564874" y="5760720"/>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適切な対策を講じれば、AI時代の教育は人類にとって大きな恩恵をもたらすことができるからです。</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3015258"/>
            <a:ext cx="6449854"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この本を手に取ったあなたへ</a:t>
            </a:r>
            <a:endParaRPr lang="en-US" sz="3900" dirty="0"/>
          </a:p>
        </p:txBody>
      </p:sp>
      <p:pic>
        <p:nvPicPr>
          <p:cNvPr id="3" name="Image 0" descr="preencoded.png">    </p:cNvPr>
          <p:cNvPicPr>
            <a:picLocks noChangeAspect="1"/>
          </p:cNvPicPr>
          <p:nvPr/>
        </p:nvPicPr>
        <p:blipFill>
          <a:blip r:embed="rId1"/>
          <a:stretch>
            <a:fillRect/>
          </a:stretch>
        </p:blipFill>
        <p:spPr>
          <a:xfrm>
            <a:off x="793790" y="4032171"/>
            <a:ext cx="496133" cy="496133"/>
          </a:xfrm>
          <a:prstGeom prst="rect">
            <a:avLst/>
          </a:prstGeom>
        </p:spPr>
      </p:pic>
      <p:sp>
        <p:nvSpPr>
          <p:cNvPr id="4" name="Text 1"/>
          <p:cNvSpPr/>
          <p:nvPr/>
        </p:nvSpPr>
        <p:spPr>
          <a:xfrm>
            <a:off x="1537930" y="414992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教師の方へ</a:t>
            </a:r>
            <a:endParaRPr lang="en-US" sz="1950" dirty="0"/>
          </a:p>
        </p:txBody>
      </p:sp>
      <p:sp>
        <p:nvSpPr>
          <p:cNvPr id="5" name="Text 2"/>
          <p:cNvSpPr/>
          <p:nvPr/>
        </p:nvSpPr>
        <p:spPr>
          <a:xfrm>
            <a:off x="1537930" y="4579144"/>
            <a:ext cx="3438049"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明日の授業から使える具体的な手法を得ることができます。</a:t>
            </a:r>
            <a:endParaRPr lang="en-US" sz="1550" dirty="0"/>
          </a:p>
        </p:txBody>
      </p:sp>
      <p:pic>
        <p:nvPicPr>
          <p:cNvPr id="6" name="Image 1" descr="preencoded.png">    </p:cNvPr>
          <p:cNvPicPr>
            <a:picLocks noChangeAspect="1"/>
          </p:cNvPicPr>
          <p:nvPr/>
        </p:nvPicPr>
        <p:blipFill>
          <a:blip r:embed="rId2"/>
          <a:stretch>
            <a:fillRect/>
          </a:stretch>
        </p:blipFill>
        <p:spPr>
          <a:xfrm>
            <a:off x="5223986" y="4032171"/>
            <a:ext cx="496133" cy="496133"/>
          </a:xfrm>
          <a:prstGeom prst="rect">
            <a:avLst/>
          </a:prstGeom>
        </p:spPr>
      </p:pic>
      <p:sp>
        <p:nvSpPr>
          <p:cNvPr id="7" name="Text 3"/>
          <p:cNvSpPr/>
          <p:nvPr/>
        </p:nvSpPr>
        <p:spPr>
          <a:xfrm>
            <a:off x="5968127" y="414992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保護者の方へ</a:t>
            </a:r>
            <a:endParaRPr lang="en-US" sz="1950" dirty="0"/>
          </a:p>
        </p:txBody>
      </p:sp>
      <p:sp>
        <p:nvSpPr>
          <p:cNvPr id="8" name="Text 4"/>
          <p:cNvSpPr/>
          <p:nvPr/>
        </p:nvSpPr>
        <p:spPr>
          <a:xfrm>
            <a:off x="5968127" y="4579144"/>
            <a:ext cx="3438168"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わが子の認知能力を守るために何をすべきかが明確になります。</a:t>
            </a:r>
            <a:endParaRPr lang="en-US" sz="1550" dirty="0"/>
          </a:p>
        </p:txBody>
      </p:sp>
      <p:sp>
        <p:nvSpPr>
          <p:cNvPr id="9" name="Shape 5"/>
          <p:cNvSpPr/>
          <p:nvPr/>
        </p:nvSpPr>
        <p:spPr>
          <a:xfrm>
            <a:off x="9679067" y="4022288"/>
            <a:ext cx="446365" cy="515898"/>
          </a:xfrm>
          <a:prstGeom prst="roundRect">
            <a:avLst>
              <a:gd name="adj" fmla="val 12291"/>
            </a:avLst>
          </a:prstGeom>
          <a:solidFill>
            <a:srgbClr val="DFDFE0"/>
          </a:solidFill>
          <a:ln/>
        </p:spPr>
      </p:sp>
      <p:pic>
        <p:nvPicPr>
          <p:cNvPr id="10" name="Image 2" descr="preencoded.png">    </p:cNvPr>
          <p:cNvPicPr>
            <a:picLocks noChangeAspect="1"/>
          </p:cNvPicPr>
          <p:nvPr/>
        </p:nvPicPr>
        <p:blipFill>
          <a:blip r:embed="rId3"/>
          <a:stretch>
            <a:fillRect/>
          </a:stretch>
        </p:blipFill>
        <p:spPr>
          <a:xfrm>
            <a:off x="9654302" y="4032171"/>
            <a:ext cx="496133" cy="496133"/>
          </a:xfrm>
          <a:prstGeom prst="rect">
            <a:avLst/>
          </a:prstGeom>
        </p:spPr>
      </p:pic>
      <p:sp>
        <p:nvSpPr>
          <p:cNvPr id="11" name="Text 6"/>
          <p:cNvSpPr/>
          <p:nvPr/>
        </p:nvSpPr>
        <p:spPr>
          <a:xfrm>
            <a:off x="10398443" y="414992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教育政策関係者へ</a:t>
            </a:r>
            <a:endParaRPr lang="en-US" sz="1950" dirty="0"/>
          </a:p>
        </p:txBody>
      </p:sp>
      <p:sp>
        <p:nvSpPr>
          <p:cNvPr id="12" name="Text 7"/>
          <p:cNvSpPr/>
          <p:nvPr/>
        </p:nvSpPr>
        <p:spPr>
          <a:xfrm>
            <a:off x="10398443" y="4579144"/>
            <a:ext cx="3438168"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制度改革に向けた科学的根拠と具体的方向性を見つけることができます。</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80905"/>
          </a:xfrm>
          <a:prstGeom prst="rect">
            <a:avLst/>
          </a:prstGeom>
        </p:spPr>
      </p:pic>
      <p:sp>
        <p:nvSpPr>
          <p:cNvPr id="3" name="Text 0"/>
          <p:cNvSpPr/>
          <p:nvPr/>
        </p:nvSpPr>
        <p:spPr>
          <a:xfrm>
            <a:off x="793790" y="3703201"/>
            <a:ext cx="7420689"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AI時代の新しい教育を創造しよう</a:t>
            </a:r>
            <a:endParaRPr lang="en-US" sz="3900" dirty="0"/>
          </a:p>
        </p:txBody>
      </p:sp>
      <p:sp>
        <p:nvSpPr>
          <p:cNvPr id="4" name="Text 1"/>
          <p:cNvSpPr/>
          <p:nvPr/>
        </p:nvSpPr>
        <p:spPr>
          <a:xfrm>
            <a:off x="793790" y="4620935"/>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本書は、教育現場の最前線からの報告書であり、実践者のための行動指針であり、未来の教育への希望の書でもあります。</a:t>
            </a:r>
            <a:endParaRPr lang="en-US" sz="1550" dirty="0"/>
          </a:p>
        </p:txBody>
      </p:sp>
      <p:sp>
        <p:nvSpPr>
          <p:cNvPr id="5" name="Text 2"/>
          <p:cNvSpPr/>
          <p:nvPr/>
        </p:nvSpPr>
        <p:spPr>
          <a:xfrm>
            <a:off x="793790" y="5161717"/>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子どもたちの「考える力」を守るために、そして教師の専門性を維持するために、今こそ私たちは行動を起こすべき時です。</a:t>
            </a:r>
            <a:endParaRPr lang="en-US" sz="1550" dirty="0"/>
          </a:p>
        </p:txBody>
      </p:sp>
      <p:sp>
        <p:nvSpPr>
          <p:cNvPr id="6" name="Text 3"/>
          <p:cNvSpPr/>
          <p:nvPr/>
        </p:nvSpPr>
        <p:spPr>
          <a:xfrm>
            <a:off x="1091446" y="5925741"/>
            <a:ext cx="12745164"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一緒に、AI時代の新しい教育を創造していきましょう。</a:t>
            </a:r>
            <a:endParaRPr lang="en-US" sz="1550" dirty="0"/>
          </a:p>
        </p:txBody>
      </p:sp>
      <p:sp>
        <p:nvSpPr>
          <p:cNvPr id="7" name="Shape 4"/>
          <p:cNvSpPr/>
          <p:nvPr/>
        </p:nvSpPr>
        <p:spPr>
          <a:xfrm>
            <a:off x="793790" y="5702498"/>
            <a:ext cx="22860" cy="764024"/>
          </a:xfrm>
          <a:prstGeom prst="rect">
            <a:avLst/>
          </a:prstGeom>
          <a:solidFill>
            <a:srgbClr val="1C9770"/>
          </a:solidFill>
          <a:ln/>
        </p:spPr>
      </p:sp>
      <p:sp>
        <p:nvSpPr>
          <p:cNvPr id="8" name="Text 5"/>
          <p:cNvSpPr/>
          <p:nvPr/>
        </p:nvSpPr>
        <p:spPr>
          <a:xfrm>
            <a:off x="793790" y="6689765"/>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2025年9月　中田 寿穂</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2025-09-26T09:30:00Z</dcterms:created>
  <dcterms:modified xsi:type="dcterms:W3CDTF">2025-09-26T09:30:00Z</dcterms:modified>
</cp:coreProperties>
</file>